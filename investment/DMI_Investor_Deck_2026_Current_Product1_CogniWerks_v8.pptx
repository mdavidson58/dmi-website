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78" r:id="rId6"/>
    <p:sldId id="260" r:id="rId7"/>
    <p:sldId id="261" r:id="rId8"/>
    <p:sldId id="262" r:id="rId9"/>
    <p:sldId id="263" r:id="rId10"/>
    <p:sldId id="264" r:id="rId11"/>
    <p:sldId id="265" r:id="rId12"/>
    <p:sldId id="281" r:id="rId13"/>
    <p:sldId id="266" r:id="rId14"/>
    <p:sldId id="276" r:id="rId15"/>
    <p:sldId id="277" r:id="rId16"/>
    <p:sldId id="287" r:id="rId17"/>
    <p:sldId id="289" r:id="rId40"/>
    <p:sldId id="279" r:id="rId18"/>
    <p:sldId id="267" r:id="rId19"/>
    <p:sldId id="282" r:id="rId20"/>
    <p:sldId id="283" r:id="rId21"/>
    <p:sldId id="284" r:id="rId22"/>
    <p:sldId id="288" r:id="rId39"/>
    <p:sldId id="268" r:id="rId23"/>
    <p:sldId id="285" r:id="rId24"/>
    <p:sldId id="269" r:id="rId25"/>
    <p:sldId id="270" r:id="rId26"/>
    <p:sldId id="280" r:id="rId27"/>
    <p:sldId id="271" r:id="rId28"/>
    <p:sldId id="286" r:id="rId29"/>
    <p:sldId id="272" r:id="rId30"/>
    <p:sldId id="273" r:id="rId31"/>
    <p:sldId id="274" r:id="rId32"/>
    <p:sldId id="275"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3.xml"/><Relationship Id="rId40"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stacked"/>
        <c:varyColors val="0"/>
        <c:ser>
          <c:idx val="0"/>
          <c:order val="0"/>
          <c:tx>
            <c:strRef>
              <c:f>Sheet1!$B$1</c:f>
              <c:strCache>
                <c:ptCount val="1"/>
                <c:pt idx="0">
                  <c:v>Customer keeps</c:v>
                </c:pt>
              </c:strCache>
            </c:strRef>
          </c:tx>
          <c:spPr>
            <a:solidFill>
              <a:srgbClr val="4EA3D8"/>
            </a:solidFill>
            <a:ln w="9525">
              <a:solidFill>
                <a:srgbClr val="0E1D2C"/>
              </a:solidFill>
            </a:ln>
          </c:spPr>
          <c:invertIfNegative val="0"/>
          <c:dLbls>
            <c:numFmt formatCode="&quot;$&quot;#,##0&quot;K&quot;;;" sourceLinked="0"/>
            <c:spPr>
              <a:noFill/>
              <a:ln>
                <a:noFill/>
              </a:ln>
            </c:spPr>
            <c:txPr>
              <a:bodyPr/>
              <a:lstStyle/>
              <a:p>
                <a:pPr>
                  <a:defRPr sz="1100" b="1">
                    <a:solidFill>
                      <a:srgbClr val="F4F7FA"/>
                    </a:solidFill>
                    <a:latin typeface="Aptos"/>
                    <a:cs typeface="Apto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Year 1</c:v>
                </c:pt>
                <c:pt idx="1">
                  <c:v>Year 2</c:v>
                </c:pt>
                <c:pt idx="2">
                  <c:v>Year 3</c:v>
                </c:pt>
                <c:pt idx="3">
                  <c:v>Year 4</c:v>
                </c:pt>
                <c:pt idx="4">
                  <c:v>Year 5</c:v>
                </c:pt>
              </c:strCache>
            </c:strRef>
          </c:cat>
          <c:val>
            <c:numRef>
              <c:f>Sheet1!$B$2:$B$6</c:f>
              <c:numCache>
                <c:formatCode>General</c:formatCode>
                <c:ptCount val="5"/>
                <c:pt idx="0">
                  <c:v>100</c:v>
                </c:pt>
                <c:pt idx="1">
                  <c:v>105</c:v>
                </c:pt>
                <c:pt idx="2">
                  <c:v>129</c:v>
                </c:pt>
                <c:pt idx="3">
                  <c:v>153</c:v>
                </c:pt>
                <c:pt idx="4">
                  <c:v>177</c:v>
                </c:pt>
              </c:numCache>
            </c:numRef>
          </c:val>
          <c:extLst>
            <c:ext xmlns:c16="http://schemas.microsoft.com/office/drawing/2014/chart" uri="{C3380CC4-5D6E-409C-BE32-E72D297353CC}">
              <c16:uniqueId val="{00000000-019F-6D47-A15A-11FC1565097E}"/>
            </c:ext>
          </c:extLst>
        </c:ser>
        <c:ser>
          <c:idx val="1"/>
          <c:order val="1"/>
          <c:tx>
            <c:strRef>
              <c:f>Sheet1!$C$1</c:f>
              <c:strCache>
                <c:ptCount val="1"/>
                <c:pt idx="0">
                  <c:v>DMI success fee</c:v>
                </c:pt>
              </c:strCache>
            </c:strRef>
          </c:tx>
          <c:spPr>
            <a:solidFill>
              <a:srgbClr val="C85D37"/>
            </a:solidFill>
            <a:ln w="9525">
              <a:solidFill>
                <a:srgbClr val="0E1D2C"/>
              </a:solidFill>
            </a:ln>
          </c:spPr>
          <c:invertIfNegative val="0"/>
          <c:dLbls>
            <c:numFmt formatCode="&quot;$&quot;#,##0&quot;K&quot;;;" sourceLinked="0"/>
            <c:spPr>
              <a:noFill/>
              <a:ln>
                <a:noFill/>
              </a:ln>
            </c:spPr>
            <c:txPr>
              <a:bodyPr/>
              <a:lstStyle/>
              <a:p>
                <a:pPr>
                  <a:defRPr sz="1100" b="1">
                    <a:solidFill>
                      <a:srgbClr val="F4F7FA"/>
                    </a:solidFill>
                    <a:latin typeface="Aptos"/>
                    <a:cs typeface="Apto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Year 1</c:v>
                </c:pt>
                <c:pt idx="1">
                  <c:v>Year 2</c:v>
                </c:pt>
                <c:pt idx="2">
                  <c:v>Year 3</c:v>
                </c:pt>
                <c:pt idx="3">
                  <c:v>Year 4</c:v>
                </c:pt>
                <c:pt idx="4">
                  <c:v>Year 5</c:v>
                </c:pt>
              </c:strCache>
            </c:strRef>
          </c:cat>
          <c:val>
            <c:numRef>
              <c:f>Sheet1!$C$2:$C$6</c:f>
              <c:numCache>
                <c:formatCode>General</c:formatCode>
                <c:ptCount val="5"/>
                <c:pt idx="0">
                  <c:v>0</c:v>
                </c:pt>
                <c:pt idx="1">
                  <c:v>30</c:v>
                </c:pt>
                <c:pt idx="2">
                  <c:v>36</c:v>
                </c:pt>
                <c:pt idx="3">
                  <c:v>42</c:v>
                </c:pt>
                <c:pt idx="4">
                  <c:v>48</c:v>
                </c:pt>
              </c:numCache>
            </c:numRef>
          </c:val>
          <c:extLst>
            <c:ext xmlns:c16="http://schemas.microsoft.com/office/drawing/2014/chart" uri="{C3380CC4-5D6E-409C-BE32-E72D297353CC}">
              <c16:uniqueId val="{00000001-019F-6D47-A15A-11FC1565097E}"/>
            </c:ext>
          </c:extLst>
        </c:ser>
        <c:ser>
          <c:idx val="2"/>
          <c:order val="2"/>
          <c:tx>
            <c:strRef>
              <c:f>Sheet1!$D$1</c:f>
              <c:strCache>
                <c:ptCount val="1"/>
                <c:pt idx="0">
                  <c:v>9×5 support</c:v>
                </c:pt>
              </c:strCache>
            </c:strRef>
          </c:tx>
          <c:spPr>
            <a:solidFill>
              <a:srgbClr val="6E8194"/>
            </a:solidFill>
            <a:ln w="9525">
              <a:solidFill>
                <a:srgbClr val="0E1D2C"/>
              </a:solidFill>
            </a:ln>
          </c:spPr>
          <c:invertIfNegative val="0"/>
          <c:cat>
            <c:strRef>
              <c:f>Sheet1!$A$2:$A$6</c:f>
              <c:strCache>
                <c:ptCount val="5"/>
                <c:pt idx="0">
                  <c:v>Year 1</c:v>
                </c:pt>
                <c:pt idx="1">
                  <c:v>Year 2</c:v>
                </c:pt>
                <c:pt idx="2">
                  <c:v>Year 3</c:v>
                </c:pt>
                <c:pt idx="3">
                  <c:v>Year 4</c:v>
                </c:pt>
                <c:pt idx="4">
                  <c:v>Year 5</c:v>
                </c:pt>
              </c:strCache>
            </c:strRef>
          </c:cat>
          <c:val>
            <c:numRef>
              <c:f>Sheet1!$D$2:$D$6</c:f>
              <c:numCache>
                <c:formatCode>General</c:formatCode>
                <c:ptCount val="5"/>
                <c:pt idx="0">
                  <c:v>0</c:v>
                </c:pt>
                <c:pt idx="1">
                  <c:v>15</c:v>
                </c:pt>
                <c:pt idx="2">
                  <c:v>15</c:v>
                </c:pt>
                <c:pt idx="3">
                  <c:v>15</c:v>
                </c:pt>
                <c:pt idx="4">
                  <c:v>15</c:v>
                </c:pt>
              </c:numCache>
            </c:numRef>
          </c:val>
          <c:extLst>
            <c:ext xmlns:c16="http://schemas.microsoft.com/office/drawing/2014/chart" uri="{C3380CC4-5D6E-409C-BE32-E72D297353CC}">
              <c16:uniqueId val="{00000002-019F-6D47-A15A-11FC1565097E}"/>
            </c:ext>
          </c:extLst>
        </c:ser>
        <c:dLbls>
          <c:showLegendKey val="0"/>
          <c:showVal val="0"/>
          <c:showCatName val="0"/>
          <c:showSerName val="0"/>
          <c:showPercent val="0"/>
          <c:showBubbleSize val="0"/>
        </c:dLbls>
        <c:gapWidth val="70"/>
        <c:overlap val="100"/>
        <c:axId val="60001"/>
        <c:axId val="60002"/>
      </c:barChart>
      <c:catAx>
        <c:axId val="60001"/>
        <c:scaling>
          <c:orientation val="minMax"/>
        </c:scaling>
        <c:delete val="0"/>
        <c:axPos val="b"/>
        <c:numFmt formatCode="General" sourceLinked="0"/>
        <c:majorTickMark val="none"/>
        <c:minorTickMark val="none"/>
        <c:tickLblPos val="nextTo"/>
        <c:spPr>
          <a:ln w="9525">
            <a:solidFill>
              <a:srgbClr val="274052"/>
            </a:solidFill>
          </a:ln>
        </c:spPr>
        <c:txPr>
          <a:bodyPr/>
          <a:lstStyle/>
          <a:p>
            <a:pPr>
              <a:defRPr sz="1050">
                <a:solidFill>
                  <a:srgbClr val="D8E1E8"/>
                </a:solidFill>
                <a:latin typeface="Aptos"/>
                <a:cs typeface="Aptos"/>
              </a:defRPr>
            </a:pPr>
            <a:endParaRPr lang="en-US"/>
          </a:p>
        </c:txPr>
        <c:crossAx val="60002"/>
        <c:crosses val="autoZero"/>
        <c:auto val="1"/>
        <c:lblAlgn val="ctr"/>
        <c:lblOffset val="100"/>
        <c:noMultiLvlLbl val="0"/>
      </c:catAx>
      <c:valAx>
        <c:axId val="60002"/>
        <c:scaling>
          <c:orientation val="minMax"/>
          <c:min val="0"/>
        </c:scaling>
        <c:delete val="0"/>
        <c:axPos val="l"/>
        <c:majorGridlines>
          <c:spPr>
            <a:ln w="6350">
              <a:solidFill>
                <a:srgbClr val="274052"/>
              </a:solidFill>
            </a:ln>
          </c:spPr>
        </c:majorGridlines>
        <c:numFmt formatCode="&quot;$&quot;#,##0&quot;K&quot;;;" sourceLinked="0"/>
        <c:majorTickMark val="none"/>
        <c:minorTickMark val="none"/>
        <c:tickLblPos val="nextTo"/>
        <c:spPr>
          <a:ln>
            <a:noFill/>
          </a:ln>
        </c:spPr>
        <c:txPr>
          <a:bodyPr/>
          <a:lstStyle/>
          <a:p>
            <a:pPr>
              <a:defRPr sz="900">
                <a:solidFill>
                  <a:srgbClr val="8FA2B3"/>
                </a:solidFill>
                <a:latin typeface="Aptos"/>
                <a:cs typeface="Aptos"/>
              </a:defRPr>
            </a:pPr>
            <a:endParaRPr lang="en-US"/>
          </a:p>
        </c:txPr>
        <c:crossAx val="60001"/>
        <c:crosses val="autoZero"/>
        <c:crossBetween val="between"/>
      </c:valAx>
      <c:spPr>
        <a:noFill/>
        <a:ln>
          <a:noFill/>
        </a:ln>
      </c:spPr>
    </c:plotArea>
    <c:legend>
      <c:legendPos val="t"/>
      <c:overlay val="0"/>
      <c:txPr>
        <a:bodyPr/>
        <a:lstStyle/>
        <a:p>
          <a:pPr>
            <a:defRPr sz="1050">
              <a:solidFill>
                <a:srgbClr val="D8E1E8"/>
              </a:solidFill>
              <a:latin typeface="Aptos"/>
              <a:cs typeface="Aptos"/>
            </a:defRPr>
          </a:pPr>
          <a:endParaRPr lang="en-US"/>
        </a:p>
      </c:txPr>
    </c:legend>
    <c:plotVisOnly val="1"/>
    <c:dispBlanksAs val="gap"/>
    <c:showDLblsOverMax val="1"/>
  </c:chart>
  <c:spPr>
    <a:noFill/>
    <a:ln>
      <a:noFill/>
    </a:ln>
  </c:spPr>
  <c:txPr>
    <a:bodyPr/>
    <a:lstStyle/>
    <a:p>
      <a:pPr>
        <a:defRPr sz="1050">
          <a:solidFill>
            <a:srgbClr val="D8E1E8"/>
          </a:solidFill>
          <a:latin typeface="Aptos"/>
          <a:cs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Revenue from 10 SME sites signed in Year 1 ($K)</c:v>
                </c:pt>
              </c:strCache>
            </c:strRef>
          </c:tx>
          <c:spPr>
            <a:solidFill>
              <a:srgbClr val="C85D37"/>
            </a:solidFill>
            <a:ln w="9525">
              <a:solidFill>
                <a:srgbClr val="0E1D2C"/>
              </a:solidFill>
            </a:ln>
          </c:spPr>
          <c:invertIfNegative val="0"/>
          <c:dLbls>
            <c:numFmt formatCode="&quot;$&quot;#,##0&quot;K&quot;" sourceLinked="0"/>
            <c:spPr>
              <a:noFill/>
              <a:ln>
                <a:noFill/>
              </a:ln>
            </c:spPr>
            <c:txPr>
              <a:bodyPr/>
              <a:lstStyle/>
              <a:p>
                <a:pPr>
                  <a:defRPr sz="1100" b="1">
                    <a:solidFill>
                      <a:srgbClr val="F4F7FA"/>
                    </a:solidFill>
                    <a:latin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Year 1</c:v>
                </c:pt>
                <c:pt idx="1">
                  <c:v>Year 2</c:v>
                </c:pt>
                <c:pt idx="2">
                  <c:v>Year 3</c:v>
                </c:pt>
                <c:pt idx="3">
                  <c:v>Year 4</c:v>
                </c:pt>
                <c:pt idx="4">
                  <c:v>Year 5</c:v>
                </c:pt>
              </c:strCache>
            </c:strRef>
          </c:cat>
          <c:val>
            <c:numRef>
              <c:f>Sheet1!$B$2:$B$6</c:f>
              <c:numCache>
                <c:formatCode>General</c:formatCode>
                <c:ptCount val="5"/>
                <c:pt idx="0">
                  <c:v>0</c:v>
                </c:pt>
                <c:pt idx="1">
                  <c:v>450</c:v>
                </c:pt>
                <c:pt idx="2">
                  <c:v>510</c:v>
                </c:pt>
                <c:pt idx="3">
                  <c:v>570</c:v>
                </c:pt>
                <c:pt idx="4">
                  <c:v>630</c:v>
                </c:pt>
              </c:numCache>
            </c:numRef>
          </c:val>
          <c:extLst>
            <c:ext xmlns:c16="http://schemas.microsoft.com/office/drawing/2014/chart" uri="{C3380CC4-5D6E-409C-BE32-E72D297353CC}">
              <c16:uniqueId val="{00000000-7B0A-054B-A020-FC996EB07115}"/>
            </c:ext>
          </c:extLst>
        </c:ser>
        <c:dLbls>
          <c:showLegendKey val="0"/>
          <c:showVal val="0"/>
          <c:showCatName val="0"/>
          <c:showSerName val="0"/>
          <c:showPercent val="0"/>
          <c:showBubbleSize val="0"/>
        </c:dLbls>
        <c:gapWidth val="70"/>
        <c:axId val="60001"/>
        <c:axId val="60002"/>
      </c:barChart>
      <c:catAx>
        <c:axId val="60001"/>
        <c:scaling>
          <c:orientation val="minMax"/>
        </c:scaling>
        <c:delete val="0"/>
        <c:axPos val="b"/>
        <c:numFmt formatCode="General" sourceLinked="0"/>
        <c:majorTickMark val="none"/>
        <c:minorTickMark val="none"/>
        <c:tickLblPos val="nextTo"/>
        <c:spPr>
          <a:ln w="9525">
            <a:solidFill>
              <a:srgbClr val="274052"/>
            </a:solidFill>
          </a:ln>
        </c:spPr>
        <c:txPr>
          <a:bodyPr/>
          <a:lstStyle/>
          <a:p>
            <a:pPr>
              <a:defRPr sz="1050">
                <a:solidFill>
                  <a:srgbClr val="D8E1E8"/>
                </a:solidFill>
                <a:latin typeface="Aptos"/>
                <a:cs typeface="Aptos"/>
              </a:defRPr>
            </a:pPr>
            <a:endParaRPr lang="en-US"/>
          </a:p>
        </c:txPr>
        <c:crossAx val="60002"/>
        <c:crosses val="autoZero"/>
        <c:auto val="1"/>
        <c:lblAlgn val="ctr"/>
        <c:lblOffset val="100"/>
        <c:noMultiLvlLbl val="0"/>
      </c:catAx>
      <c:valAx>
        <c:axId val="60002"/>
        <c:scaling>
          <c:orientation val="minMax"/>
          <c:min val="0"/>
        </c:scaling>
        <c:delete val="0"/>
        <c:axPos val="l"/>
        <c:majorGridlines>
          <c:spPr>
            <a:ln w="6350">
              <a:solidFill>
                <a:srgbClr val="274052"/>
              </a:solidFill>
            </a:ln>
          </c:spPr>
        </c:majorGridlines>
        <c:numFmt formatCode="&quot;$&quot;#,##0&quot;K&quot;" sourceLinked="0"/>
        <c:majorTickMark val="none"/>
        <c:minorTickMark val="none"/>
        <c:tickLblPos val="nextTo"/>
        <c:spPr>
          <a:ln>
            <a:noFill/>
          </a:ln>
        </c:spPr>
        <c:txPr>
          <a:bodyPr/>
          <a:lstStyle/>
          <a:p>
            <a:pPr>
              <a:defRPr sz="900">
                <a:solidFill>
                  <a:srgbClr val="8FA2B3"/>
                </a:solidFill>
                <a:latin typeface="Aptos"/>
                <a:cs typeface="Aptos"/>
              </a:defRPr>
            </a:pPr>
            <a:endParaRPr lang="en-US"/>
          </a:p>
        </c:txPr>
        <c:crossAx val="60001"/>
        <c:crosses val="autoZero"/>
        <c:crossBetween val="between"/>
      </c:valAx>
      <c:spPr>
        <a:noFill/>
        <a:ln>
          <a:noFill/>
        </a:ln>
      </c:spPr>
    </c:plotArea>
    <c:plotVisOnly val="1"/>
    <c:dispBlanksAs val="gap"/>
    <c:showDLblsOverMax val="1"/>
  </c:chart>
  <c:spPr>
    <a:noFill/>
    <a:ln>
      <a:noFill/>
    </a:ln>
  </c:spPr>
  <c:txPr>
    <a:bodyPr/>
    <a:lstStyle/>
    <a:p>
      <a:pPr>
        <a:defRPr sz="1050">
          <a:solidFill>
            <a:srgbClr val="D8E1E8"/>
          </a:solidFill>
          <a:latin typeface="Aptos"/>
          <a:cs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226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
        <p:nvSpPr>
          <p:cNvPr id="90" name="Notes Placeholder"/>
          <p:cNvSpPr>
            <a:spLocks noGrp="1"/>
          </p:cNvSpPr>
          <p:nvPr>
            <p:ph type="body" idx="1"/>
          </p:nvPr>
        </p:nvSpPr>
        <p:spPr/>
        <p:txBody>
          <a:bodyPr/>
          <a:lstStyle/>
          <a:p>
            <a:r>
              <a:rPr lang="en-US" dirty="0"/>
              <a:t>Speaking points:</a:t>
            </a:r>
          </a:p>
          <a:p>
            <a:r>
              <a:rPr lang="en-US" dirty="0"/>
              <a:t>1. Read the axes first. Left to right is where the product runs: mostly in the cloud, or in the plant next to the equipment. Bottom to top is how it reasons: starting from AI or analytics on tag data, or from the process map - what feeds what, upstream and downstream.</a:t>
            </a:r>
          </a:p>
          <a:p>
            <a:r>
              <a:rPr lang="en-US" dirty="0"/>
              <a:t>2. DMI is the only product in the top-right box. It runs on edge nodes where the data already lives, and it reasons from the plant's process graph. That is the architecture behind the measured results later in the deck: 225x fewer tokens and 606x less data per question.</a:t>
            </a:r>
          </a:p>
          <a:p>
            <a:r>
              <a:rPr lang="en-US" dirty="0"/>
              <a:t>3. Top-left: Braincube and Sight Machine understand the process, but they are cloud-centric. Plant data has to move to their platform, so cost and data movement grow with use.</a:t>
            </a:r>
          </a:p>
          <a:p>
            <a:r>
              <a:rPr lang="en-US" dirty="0"/>
              <a:t>4. Bottom-right: Siemens Industrial Copilot and Rockwell FactoryTalk run close to the plant, but they lead with AI assistants and analytics inside their own automation stacks rather than a vendor-neutral process map.</a:t>
            </a:r>
          </a:p>
          <a:p>
            <a:r>
              <a:rPr lang="en-US" dirty="0"/>
              <a:t>5. Bottom-left: Cognite and TwinThread are cloud data and analytics platforms first. Seeq sits on the line: strong process analytics, deployable on-premises or in the cloud.</a:t>
            </a:r>
          </a:p>
          <a:p>
            <a:r>
              <a:rPr lang="en-US" dirty="0"/>
              <a:t>6. Main threats. Siemens brings edge AI and a huge installed base; our answer is vendor-neutral, brownfield coverage across mixed equipment, with data that never leaves the plant. Braincube shares our optimization goal; our answer is that DMI does not require moving data to a cloud and its cost does not rise with every question.</a:t>
            </a:r>
          </a:p>
          <a:p>
            <a:r>
              <a:rPr lang="en-US" dirty="0"/>
              <a:t>7. Partners that also compete. AVEVA PI, Litmus Edge and HighByte supply the data and the naming (the unified namespace) that DMI reads, so they can be sales and integration channels. Their own analytics and AI features also overlap with parts of DMI, which is why they appear as competitors on the previous slide. Our position: DMI reads from them rather than replacing them, and works across all of them in a mixed-vendor plant. Expect to cooperate on data and compete on analytics.</a:t>
            </a:r>
          </a:p>
          <a:p>
            <a:r>
              <a:rPr lang="en-US" dirty="0"/>
              <a:t>8. Caveat if asked: this map is qualitative, built from public product descriptions. The positions are our judgment, not measurements, and should be revalidated before the deck circulates externally.</a:t>
            </a: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
        <p:nvSpPr>
          <p:cNvPr id="90" name="Notes Placeholder"/>
          <p:cNvSpPr>
            <a:spLocks noGrp="1"/>
          </p:cNvSpPr>
          <p:nvPr>
            <p:ph type="body" idx="1"/>
          </p:nvPr>
        </p:nvSpPr>
        <p:spPr/>
        <p:txBody>
          <a:bodyPr/>
          <a:lstStyle/>
          <a:p>
            <a:r>
              <a:rPr lang="en-US" dirty="0"/>
              <a:t>Speaking points:</a:t>
            </a:r>
          </a:p>
          <a:p>
            <a:r>
              <a:rPr lang="en-US" dirty="0"/>
              <a:t>1. This is our second commercial path, built for small and mid-sized manufacturers that have no budget line for new software. Year 1 is free, scoped to one line or cell with a fixed data-readiness checklist and schedule. The customer supplies hardware, integration and connectivity.</a:t>
            </a:r>
          </a:p>
          <a:p>
            <a:r>
              <a:rPr lang="en-US" dirty="0"/>
              <a:t>2. From Year 2 we take 20% of the first $500K of verified annual savings, 15% of the next $1.5M and 10% above $2M, plus annual support: $15K for 9×5 or $36K for 7×24 per site. No verified savings means no success fee; contracted support is still payable.</a:t>
            </a:r>
          </a:p>
          <a:p>
            <a:r>
              <a:rPr lang="en-US" dirty="0"/>
              <a:t>3. Walk the chart: in this case study, verified savings grow from $100K to $240K a year. The customer keeps $664K of the $880K over five years before hardware; DMI earns $156K in success fees and $60K in support.</a:t>
            </a:r>
          </a:p>
          <a:p>
            <a:r>
              <a:rPr lang="en-US" dirty="0"/>
              <a:t>4. We only start a free year with plants that clear the gate: at least $150K a year of measurable, recoverable loss, a signed baseline, data access, hardware ownership, a champion and a 5-year agreement. The $150K threshold is a hypothesis we will validate.</a:t>
            </a:r>
          </a:p>
          <a:p>
            <a:r>
              <a:rPr lang="en-US" dirty="0"/>
              <a:t>5. Be candid on price: against a $29K-a-year subscription benchmark ($145K over five years), DMI fees and support total $216K in this example. We are not always cheaper. We sell shared risk and net value: the customer pays more only when it saves more.</a:t>
            </a:r>
          </a:p>
          <a:p>
            <a:r>
              <a:rPr lang="en-US" dirty="0"/>
              <a:t>6. Savings are verified with the customer's Finance team: net of costs to achieve them, normalized against a signed baseline, not double counted, and revalidated each year.</a:t>
            </a:r>
          </a:p>
          <a:p>
            <a:r>
              <a:t>7. BPA does not change these rates. A closed-loop BPA saving earns 15 more points of attribution instead (next section, closed-loop BPA slide).</a:t>
            </a: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
        <p:nvSpPr>
          <p:cNvPr id="90" name="Notes Placeholder"/>
          <p:cNvSpPr>
            <a:spLocks noGrp="1"/>
          </p:cNvSpPr>
          <p:nvPr>
            <p:ph type="body" idx="1"/>
          </p:nvPr>
        </p:nvSpPr>
        <p:spPr/>
        <p:txBody>
          <a:bodyPr/>
          <a:lstStyle/>
          <a:p>
            <a:r>
              <a:rPr lang="en-US" dirty="0"/>
              <a:t>Speaking points:</a:t>
            </a:r>
          </a:p>
          <a:p>
            <a:r>
              <a:rPr lang="en-US" dirty="0"/>
              <a:t>1. Investors often ask whether manufacturers will accept paying from savings. This slide shows that industrial buyers already buy this way, from companies they know.</a:t>
            </a:r>
          </a:p>
          <a:p>
            <a:r>
              <a:rPr lang="en-US" dirty="0"/>
              <a:t>2. Siemens sells performance contracts where payments are based on achieved savings and backed by a savings guarantee. This is the energy services model, and it is why a signed baseline and measured savings are bankable.</a:t>
            </a:r>
          </a:p>
          <a:p>
            <a:r>
              <a:rPr lang="en-US" dirty="0"/>
              <a:t>3. Rolls-Royce TotalCare charges airlines a fixed rate per engine flying hour, so, in its own words, it is only rewarded for engines that perform. The customer buys an outcome, not a product.</a:t>
            </a:r>
          </a:p>
          <a:p>
            <a:r>
              <a:rPr lang="en-US" dirty="0"/>
              <a:t>4. Michelin's EFFITIRES offer priced tyres per kilometre and reimbursed fuel savings that were not achieved. Note the gate: hauliers had to put 70% of the fleet on telematics first. That is the same idea as our data-readiness gate before the free year.</a:t>
            </a:r>
          </a:p>
          <a:p>
            <a:r>
              <a:rPr lang="en-US" dirty="0"/>
              <a:t>5. Signify's Light as a Service at Schiphol: the airport pays for the light it uses, and Signify owns the fixtures and carries performance risk. Removing the upfront purchase is what our free first year does.</a:t>
            </a:r>
          </a:p>
          <a:p>
            <a:r>
              <a:rPr lang="en-US" dirty="0"/>
              <a:t>6. Kaeser's Sigma Air Utility sells compressed air as a utility: a fixed price for an agreed volume with a surplus charge above it. That is close to our structure of a support fee plus a success fee.</a:t>
            </a:r>
          </a:p>
          <a:p>
            <a:r>
              <a:rPr lang="en-US" dirty="0"/>
              <a:t>7. Augury, the closest example to us, pairs machine-health AI with an insurance-backed guarantee from HSB that compensates production loss from missed failures. It shows that outcome risk on industrial AI can even be insured.</a:t>
            </a:r>
          </a:p>
          <a:p>
            <a:r>
              <a:rPr lang="en-US" dirty="0"/>
              <a:t>8. Where DMI differs: these companies price energy, uptime or consumables. We bring the same logic to process-intelligence software, with savings verified by the customer's own Finance team.</a:t>
            </a:r>
          </a:p>
          <a:p>
            <a:r>
              <a:rPr lang="en-US" dirty="0"/>
              <a:t>9. If asked: these are vendor-published descriptions, mostly guaranteed-savings or pay-per-use rather than a pure share of savings, and their contract results are not public.</a:t>
            </a: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
        <p:nvSpPr>
          <p:cNvPr id="90" name="Notes Placeholder"/>
          <p:cNvSpPr>
            <a:spLocks noGrp="1"/>
          </p:cNvSpPr>
          <p:nvPr>
            <p:ph type="body" idx="1"/>
          </p:nvPr>
        </p:nvSpPr>
        <p:spPr/>
        <p:txBody>
          <a:bodyPr/>
          <a:lstStyle/>
          <a:p>
            <a:r>
              <a:rPr lang="en-US" dirty="0"/>
              <a:t>Speaking points:</a:t>
            </a:r>
          </a:p>
          <a:p>
            <a:r>
              <a:rPr lang="en-US" dirty="0"/>
              <a:t>1. Advantages. The free year removes the budget barrier that stalls most small-plant software sales. Pricing on verified savings lines us up with the plant manager and the CFO, and it differentiates us from competitors who charge a fixed subscription whether or not anything improves.</a:t>
            </a:r>
          </a:p>
          <a:p>
            <a:r>
              <a:rPr lang="en-US" dirty="0"/>
              <a:t>2. Because every fee is backed by a Finance-approved savings record, each customer becomes a quantified reference. That evidence also supports the investor case.</a:t>
            </a:r>
          </a:p>
          <a:p>
            <a:r>
              <a:rPr lang="en-US" dirty="0"/>
              <a:t>3. Risks. The obvious one is timing: a new site earns nothing in Year 1 while we still carry onboarding support. That raises early cash needs and is part of what this round funds.</a:t>
            </a:r>
          </a:p>
          <a:p>
            <a:r>
              <a:rPr lang="en-US" dirty="0"/>
              <a:t>4. Second, revenue depends on agreement with the customer about baselines and attribution. We reduce that with a signed baseline, Finance certification, an annual review and a dispute mechanism, and counsel and accountants will review the contract before customer use.</a:t>
            </a:r>
          </a:p>
          <a:p>
            <a:r>
              <a:rPr lang="en-US" dirty="0"/>
              <a:t>5. Third, DMI already has SPC, OEE, diagnostics and the process graph, but it does not yet capture a finance-grade cost ledger, authoritative production orders or maintenance invoices. Building the savings-measurement module and read-only ERP, CMMS and QMS feeds is on the roadmap and is a precondition for billing at scale.</a:t>
            </a:r>
          </a:p>
          <a:p>
            <a:r>
              <a:rPr lang="en-US" dirty="0"/>
              <a:t>6. Finally, a pay-for-results price is not always cheaper. When savings are large, customers pay more than a subscription would cost, so the message is shared risk and net value.</a:t>
            </a:r>
          </a:p>
          <a:p>
            <a:r>
              <a:rPr lang="en-US" dirty="0"/>
              <a:t>7. Close on the mitigations line: scope, qualification gate, signed baseline and contract before the free year, and support priced from real unit economics.</a:t>
            </a:r>
          </a:p>
          <a:p>
            <a:r>
              <a:t>8. Closed-loop BPA reduces the attribution and evidence risks on the right: an approved workflow with a measured result is the finding-to-result chain Finance needs. See the next slide.</a:t>
            </a: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
        <p:nvSpPr>
          <p:cNvPr id="90" name="Notes Placeholder"/>
          <p:cNvSpPr>
            <a:spLocks noGrp="1"/>
          </p:cNvSpPr>
          <p:nvPr>
            <p:ph type="body" idx="1"/>
          </p:nvPr>
        </p:nvSpPr>
        <p:spPr/>
        <p:txBody>
          <a:bodyPr/>
          <a:lstStyle/>
          <a:p>
            <a:r>
              <a:rPr lang="en-US" dirty="0"/>
              <a:t>Speaking points:</a:t>
            </a:r>
          </a:p>
          <a:p>
            <a:r>
              <a:rPr lang="en-US" dirty="0"/>
              <a:t>1. This slide shows how we forecast the SME track. It works differently from the enterprise scenario on the previous slide, so we model it separately.</a:t>
            </a:r>
          </a:p>
          <a:p>
            <a:r>
              <a:rPr lang="en-US" dirty="0"/>
              <a:t>2. Per site, revenue is zero in the first contract year, then $45K, $51K, $57K and $63K as verified savings grow from $150K to $240K. Over five years that is $216K per site: $156K in success fees and $60K in support.</a:t>
            </a:r>
          </a:p>
          <a:p>
            <a:r>
              <a:rPr lang="en-US" dirty="0"/>
              <a:t>3. The chart takes 10 sites signed in Year 1 as an illustration: nothing in Year 1, $450K in Year 2, rising to $630K in Year 5, $2.16M in total. It shows the mechanics; it is not a sales target.</a:t>
            </a:r>
          </a:p>
          <a:p>
            <a:r>
              <a:rPr lang="en-US" dirty="0"/>
              <a:t>4. Forecasting rules: every new cohort books zero in its first year, so fast growth delays revenue; we count only savings the customer's Finance team has verified; and we forecast savings per site, not a list price.</a:t>
            </a:r>
          </a:p>
          <a:p>
            <a:r>
              <a:rPr lang="en-US" dirty="0"/>
              <a:t>5. Sensitivity: a plant with only $50K of savings pays us $25K a year, mostly support, and keeps $25K itself before hardware. That is why we qualify for at least $150K of measurable loss.</a:t>
            </a:r>
          </a:p>
          <a:p>
            <a:r>
              <a:rPr lang="en-US" dirty="0"/>
              <a:t>6. Upside and downside: strong results raise fees with no renegotiation; weak or disputed savings reduce them. Investors should read this track as higher-variance revenue with lower customer acquisition friction.</a:t>
            </a: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
        <p:nvSpPr>
          <p:cNvPr id="90" name="Notes Placeholder"/>
          <p:cNvSpPr>
            <a:spLocks noGrp="1"/>
          </p:cNvSpPr>
          <p:nvPr>
            <p:ph type="body" idx="1"/>
          </p:nvPr>
        </p:nvSpPr>
        <p:spPr/>
        <p:txBody>
          <a:bodyPr/>
          <a:lstStyle/>
          <a:p>
            <a:r>
              <a:rPr lang="en-US" dirty="0"/>
              <a:t>Compared with a centralized model reading raw data, DMI used about 225 times fewer tokens and moved about 606 times less data. Compared with a centralized text-to-SQL model, it used about 24 times fewer tokens and moved about 554 times less data. Both centralized approaches first replicate one day of every tag to a central store (27.9 MB); replicating the node's full history would move 150.4 MB. The raw-data prompt exceeds a 200,000-token context window, so it needs at least four model calls or truncated data. Relationship resolution from the vector store took 38 ms and used 24 of the 7,725 stored records, replacing relationship inference from prompt tokens. DMI moved only edge query results (37.5 KB) and a 13.4 KB prompt.</a:t>
            </a: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
        <p:nvSpPr>
          <p:cNvPr id="90" name="Notes Placeholder"/>
          <p:cNvSpPr>
            <a:spLocks noGrp="1"/>
          </p:cNvSpPr>
          <p:nvPr>
            <p:ph type="body" idx="1"/>
          </p:nvPr>
        </p:nvSpPr>
        <p:spPr/>
        <p:txBody>
          <a:bodyPr/>
          <a:lstStyle/>
          <a:p>
            <a:r>
              <a:rPr lang="en-US" dirty="0"/>
              <a:t>How the figures were calculated (per question, from the measured test):</a:t>
            </a:r>
          </a:p>
          <a:p>
            <a:r>
              <a:rPr lang="en-US" dirty="0"/>
              <a:t>- Token cost = measured input tokens × $10 per million input tokens (Claude Fable 5.1 list price, Anthropic's highest-priced generally available model; https://platform.claude.com/docs/en/about-claude/pricing, checked Oct 13, 2026). Raw: 753,968 → $7.540. Text-to-SQL: 82,179 → $0.822. DMI: 3,358 → $0.0336.</a:t>
            </a:r>
          </a:p>
          <a:p>
            <a:r>
              <a:rPr lang="en-US" dirty="0"/>
              <a:t>- Network cost = measured bytes × $0.09/GB (AWS standard data-transfer-out rate, https://aws.amazon.com/vpc/pricing/). Raw: 30.9 MB → $0.0028. Text-to-SQL: 28.2 MB → $0.0025. DMI: 50.9 KB → $0.0000046.</a:t>
            </a:r>
          </a:p>
          <a:p>
            <a:r>
              <a:rPr lang="en-US" dirty="0"/>
              <a:t>- Annual = per-question total × 365,000 (1,000 questions per day). Raw $2,752,998; text-to-SQL $300,880; DMI $12,258. Savings: $2,740,740 vs raw; $288,621 vs text-to-SQL.</a:t>
            </a:r>
          </a:p>
          <a:p>
            <a:r>
              <a:rPr lang="en-US" dirty="0"/>
              <a:t>- Transfer time = bytes × 8 ÷ 10 Mbps. Raw 24.7 s; text-to-SQL 22.6 s; DMI 0.04 s. Annual link time: about 2,506 h, 2,288 h, and 4.1 h.</a:t>
            </a:r>
          </a:p>
          <a:p>
            <a:r>
              <a:rPr lang="en-US" dirty="0"/>
              <a:t>- Model calls: the raw-data prompt exceeds a 200,000-token context window, so it needs at least four calls (or truncated data). Relationship resolution from the vector store took 38 ms using 24 of 7,725 records.</a:t>
            </a:r>
          </a:p>
          <a:p>
            <a:r>
              <a:rPr lang="en-US" dirty="0"/>
              <a:t>- Output tokens ($50 per million on Claude Fable 5.1), caching and batch discounts are excluded; including output would raise every approach, and the centralized ones most, since they need more calls.</a:t>
            </a:r>
          </a:p>
          <a:p>
            <a:r>
              <a:rPr lang="en-US" dirty="0"/>
              <a:t>- Network cost is small at cloud rates; on metered cellular or satellite edge links, the 554–606× data reduction becomes a much larger saving.</a:t>
            </a:r>
          </a:p>
          <a:p>
            <a:r>
              <a:rPr lang="en-US" dirty="0"/>
              <a:t>- Replicating the node's full history to a central store would move 150.4 MB.</a:t>
            </a: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
        <p:nvSpPr>
          <p:cNvPr id="90" name="Notes Placeholder"/>
          <p:cNvSpPr>
            <a:spLocks noGrp="1"/>
          </p:cNvSpPr>
          <p:nvPr>
            <p:ph type="body" idx="1"/>
          </p:nvPr>
        </p:nvSpPr>
        <p:spPr/>
        <p:txBody>
          <a:bodyPr/>
          <a:lstStyle/>
          <a:p>
            <a:r>
              <a:rPr lang="en-US" dirty="0"/>
              <a:t>Speaking points (placeholder until filing):</a:t>
            </a:r>
          </a:p>
          <a:p>
            <a:r>
              <a:rPr lang="en-US" dirty="0"/>
              <a:t>1. CogniWerks, Inc. is filing a U.S. provisional patent application on the core method behind DMI. Inventor: Mark Davidson. Replace the bracketed fields with the application number and filing date once the USPTO acknowledges the filing, and say "patent pending" only after that.</a:t>
            </a:r>
          </a:p>
          <a:p>
            <a:r>
              <a:rPr lang="en-US" dirty="0"/>
              <a:t>2. What it covers, in plain terms: DMI works out how plant assets relate to each other once, stores those relationships as versioned records in a vector store, and reuses them instead of making an AI model re-derive them from raw data on every question. When a relationship is missing, the model fills only that gap, and the answer is saved for next time.</a:t>
            </a:r>
          </a:p>
          <a:p>
            <a:r>
              <a:rPr lang="en-US" dirty="0"/>
              <a:t>3. The industrial edge version: questions travel to the edge nodes that hold the plant data, and only results come back. There is no central AI engine, and the plant namespace shared across nodes seeds the relationship store.</a:t>
            </a:r>
          </a:p>
          <a:p>
            <a:r>
              <a:rPr lang="en-US" dirty="0"/>
              <a:t>4. Why it matters: this is the method that produced the measured results, 225 times fewer tokens and 606 times less data per question. The application ties that advantage to IP CogniWerks owns.</a:t>
            </a:r>
          </a:p>
          <a:p>
            <a:r>
              <a:rPr lang="en-US" dirty="0"/>
              <a:t>5. If asked about timing: a provisional sets the priority date; the non-provisional and any international (PCT) filing must follow within 12 months. Counsel is reviewing prior art, including AnyLog's metadata patent, which the application cites as background.</a:t>
            </a:r>
          </a:p>
          <a:p>
            <a:r>
              <a:rPr lang="en-US" dirty="0"/>
              <a:t>6. Until the application is filed, share technical detail only under NDA.</a:t>
            </a: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MI">
    <p:bg>
      <p:bgPr>
        <a:solidFill>
          <a:srgbClr val="07111D"/>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5D37"/>
          </a:solidFill>
          <a:ln w="12700">
            <a:solidFill>
              <a:srgbClr val="C85D37"/>
            </a:solidFill>
            <a:prstDash val="solid"/>
          </a:ln>
        </p:spPr>
        <p:txBody>
          <a:bodyPr/>
          <a:lstStyle/>
          <a:p>
            <a:endParaRPr lang="en-US"/>
          </a:p>
        </p:txBody>
      </p:sp>
      <p:sp>
        <p:nvSpPr>
          <p:cNvPr id="3" name="Text 1"/>
          <p:cNvSpPr/>
          <p:nvPr/>
        </p:nvSpPr>
        <p:spPr>
          <a:xfrm>
            <a:off x="411480" y="6510528"/>
            <a:ext cx="5303520" cy="146304"/>
          </a:xfrm>
          <a:prstGeom prst="rect">
            <a:avLst/>
          </a:prstGeom>
          <a:noFill/>
          <a:ln/>
        </p:spPr>
        <p:txBody>
          <a:bodyPr wrap="square" lIns="0" tIns="0" rIns="0" bIns="0" rtlCol="0" anchor="ctr"/>
          <a:lstStyle/>
          <a:p>
            <a:pPr marL="0" indent="0">
              <a:buNone/>
            </a:pPr>
            <a:r>
              <a:rPr lang="en-US" sz="650" dirty="0">
                <a:solidFill>
                  <a:srgbClr val="6E8194"/>
                </a:solidFill>
                <a:latin typeface="Aptos" pitchFamily="34" charset="0"/>
                <a:ea typeface="Aptos" pitchFamily="34" charset="-122"/>
                <a:cs typeface="Aptos" pitchFamily="34" charset="-120"/>
              </a:rPr>
              <a:t>DMI  |  CONFIDENTIAL - INVESTOR DISCUSSION</a:t>
            </a:r>
            <a:endParaRPr lang="en-US" sz="650" dirty="0"/>
          </a:p>
        </p:txBody>
      </p:sp>
      <p:sp>
        <p:nvSpPr>
          <p:cNvPr id="4" name="Text 2"/>
          <p:cNvSpPr/>
          <p:nvPr/>
        </p:nvSpPr>
        <p:spPr>
          <a:xfrm>
            <a:off x="10424160" y="6510528"/>
            <a:ext cx="1325880" cy="146304"/>
          </a:xfrm>
          <a:prstGeom prst="rect">
            <a:avLst/>
          </a:prstGeom>
          <a:noFill/>
          <a:ln/>
        </p:spPr>
        <p:txBody>
          <a:bodyPr wrap="square" lIns="0" tIns="0" rIns="0" bIns="0" rtlCol="0" anchor="ctr"/>
          <a:lstStyle/>
          <a:p>
            <a:pPr marL="0" indent="0" algn="r">
              <a:buNone/>
            </a:pPr>
            <a:r>
              <a:rPr lang="en-US" sz="650" dirty="0">
                <a:solidFill>
                  <a:srgbClr val="6E8194"/>
                </a:solidFill>
                <a:latin typeface="Aptos" pitchFamily="34" charset="0"/>
                <a:ea typeface="Aptos" pitchFamily="34" charset="-122"/>
                <a:cs typeface="Aptos" pitchFamily="34" charset="-120"/>
              </a:rPr>
              <a:t>SEPTEMBER 2026</a:t>
            </a:r>
            <a:endParaRPr lang="en-US" sz="650" dirty="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s://www.siemens.com/en-us/content/sustainability-energy-efficiency/flexible-financing/" TargetMode="External"/><Relationship Id="rId5" Type="http://schemas.openxmlformats.org/officeDocument/2006/relationships/hyperlink" Target="https://www.rolls-royce.com/media/our-stories/discover/2017/totalcare.aspx" TargetMode="External"/><Relationship Id="rId6" Type="http://schemas.openxmlformats.org/officeDocument/2006/relationships/hyperlink" Target="https://erticonetwork.com/michelin-solutions-unveils-effitirestm-with-fuel-commitment-a-new-solution-for-hauliers/" TargetMode="External"/><Relationship Id="rId7" Type="http://schemas.openxmlformats.org/officeDocument/2006/relationships/hyperlink" Target="https://www.signify.com/en-in/our-company/news/press-release-archive/2015/20150416-Philips-provides-Light-as-a-Service-to-Schiphol-Airport" TargetMode="External"/><Relationship Id="rId8" Type="http://schemas.openxmlformats.org/officeDocument/2006/relationships/hyperlink" Target="https://www.processonline.com.au/content/pneumatics-hydraulics/news/buying-compressed-air-like-all-other-utilities-72358256" TargetMode="External"/><Relationship Id="rId9" Type="http://schemas.openxmlformats.org/officeDocument/2006/relationships/hyperlink" Target="https://qumracapital.com/news/augury-and-hsb-introduce-innovative-production-loss-guarantee-for-critical-rotating-asset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hyperlink" Target="https://platform.claude.com/docs/en/about-claude/pricing" TargetMode="External"/><Relationship Id="rId5" Type="http://schemas.openxmlformats.org/officeDocument/2006/relationships/hyperlink" Target="https://aws.amazon.com/vpc/pricin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11D"/>
        </a:solidFill>
        <a:effectLst/>
      </p:bgPr>
    </p:bg>
    <p:spTree>
      <p:nvGrpSpPr>
        <p:cNvPr id="1" name=""/>
        <p:cNvGrpSpPr/>
        <p:nvPr/>
      </p:nvGrpSpPr>
      <p:grpSpPr>
        <a:xfrm>
          <a:off x="0" y="0"/>
          <a:ext cx="0" cy="0"/>
          <a:chOff x="0" y="0"/>
          <a:chExt cx="0" cy="0"/>
        </a:xfrm>
      </p:grpSpPr>
      <p:pic>
        <p:nvPicPr>
          <p:cNvPr id="2" name="Image 0" descr="/mnt/data/light_logo.png"/>
          <p:cNvPicPr>
            <a:picLocks noChangeAspect="1"/>
          </p:cNvPicPr>
          <p:nvPr/>
        </p:nvPicPr>
        <p:blipFill>
          <a:blip r:embed="rId3"/>
          <a:stretch>
            <a:fillRect/>
          </a:stretch>
        </p:blipFill>
        <p:spPr>
          <a:xfrm>
            <a:off x="640080" y="594360"/>
            <a:ext cx="4114800" cy="2395728"/>
          </a:xfrm>
          <a:prstGeom prst="rect">
            <a:avLst/>
          </a:prstGeom>
        </p:spPr>
      </p:pic>
      <p:sp>
        <p:nvSpPr>
          <p:cNvPr id="3" name="Text 0"/>
          <p:cNvSpPr/>
          <p:nvPr/>
        </p:nvSpPr>
        <p:spPr>
          <a:xfrm>
            <a:off x="685800" y="3246120"/>
            <a:ext cx="2011680" cy="320040"/>
          </a:xfrm>
          <a:prstGeom prst="rect">
            <a:avLst/>
          </a:prstGeom>
          <a:noFill/>
          <a:ln/>
        </p:spPr>
        <p:txBody>
          <a:bodyPr wrap="square" lIns="0" tIns="0" rIns="0" bIns="0" rtlCol="0" anchor="ctr">
            <a:normAutofit/>
          </a:bodyPr>
          <a:lstStyle/>
          <a:p>
            <a:pPr marL="0" indent="0" algn="l">
              <a:buNone/>
            </a:pPr>
            <a:r>
              <a:rPr lang="en-US" sz="1200" b="1" dirty="0">
                <a:solidFill>
                  <a:srgbClr val="C85D37"/>
                </a:solidFill>
                <a:latin typeface="Aptos" pitchFamily="34" charset="0"/>
                <a:ea typeface="Aptos" pitchFamily="34" charset="-122"/>
                <a:cs typeface="Aptos" pitchFamily="34" charset="-120"/>
              </a:rPr>
              <a:t>INVESTOR DECK</a:t>
            </a:r>
            <a:endParaRPr lang="en-US" sz="1200" dirty="0"/>
          </a:p>
        </p:txBody>
      </p:sp>
      <p:sp>
        <p:nvSpPr>
          <p:cNvPr id="4" name="Text 1"/>
          <p:cNvSpPr/>
          <p:nvPr/>
        </p:nvSpPr>
        <p:spPr>
          <a:xfrm>
            <a:off x="685800" y="3639312"/>
            <a:ext cx="9875520" cy="658368"/>
          </a:xfrm>
          <a:prstGeom prst="rect">
            <a:avLst/>
          </a:prstGeom>
          <a:noFill/>
          <a:ln/>
        </p:spPr>
        <p:txBody>
          <a:bodyPr wrap="square" lIns="0" tIns="0" rIns="0" bIns="0" rtlCol="0" anchor="ctr">
            <a:normAutofit/>
          </a:bodyPr>
          <a:lstStyle/>
          <a:p>
            <a:pPr marL="0" indent="0" algn="l">
              <a:buNone/>
            </a:pPr>
            <a:r>
              <a:rPr lang="en-US" sz="3000" b="1" dirty="0">
                <a:solidFill>
                  <a:srgbClr val="F4F7FA"/>
                </a:solidFill>
                <a:latin typeface="Aptos" pitchFamily="34" charset="0"/>
                <a:ea typeface="Aptos" pitchFamily="34" charset="-122"/>
                <a:cs typeface="Aptos" pitchFamily="34" charset="-120"/>
              </a:rPr>
              <a:t>Distributed Manufacturing Intelligence</a:t>
            </a:r>
            <a:endParaRPr lang="en-US" sz="3000" dirty="0"/>
          </a:p>
        </p:txBody>
      </p:sp>
      <p:sp>
        <p:nvSpPr>
          <p:cNvPr id="5" name="Text 2"/>
          <p:cNvSpPr/>
          <p:nvPr/>
        </p:nvSpPr>
        <p:spPr>
          <a:xfrm>
            <a:off x="685800" y="4443984"/>
            <a:ext cx="8961120" cy="438912"/>
          </a:xfrm>
          <a:prstGeom prst="rect">
            <a:avLst/>
          </a:prstGeom>
          <a:noFill/>
          <a:ln/>
        </p:spPr>
        <p:txBody>
          <a:bodyPr wrap="square" lIns="0" tIns="0" rIns="0" bIns="0" rtlCol="0" anchor="ctr">
            <a:normAutofit/>
          </a:bodyPr>
          <a:lstStyle/>
          <a:p>
            <a:pPr marL="0" indent="0" algn="l">
              <a:buNone/>
            </a:pPr>
            <a:r>
              <a:rPr lang="en-US" sz="1900" dirty="0">
                <a:solidFill>
                  <a:srgbClr val="D8E1E8"/>
                </a:solidFill>
                <a:latin typeface="Aptos" pitchFamily="34" charset="0"/>
                <a:ea typeface="Aptos" pitchFamily="34" charset="-122"/>
                <a:cs typeface="Aptos" pitchFamily="34" charset="-120"/>
              </a:rPr>
              <a:t>Turn the plant into its own AI computer.</a:t>
            </a:r>
            <a:endParaRPr lang="en-US" sz="1900" dirty="0"/>
          </a:p>
        </p:txBody>
      </p:sp>
      <p:sp>
        <p:nvSpPr>
          <p:cNvPr id="6" name="Text 3"/>
          <p:cNvSpPr/>
          <p:nvPr/>
        </p:nvSpPr>
        <p:spPr>
          <a:xfrm>
            <a:off x="685800" y="5010912"/>
            <a:ext cx="9509760" cy="365760"/>
          </a:xfrm>
          <a:prstGeom prst="rect">
            <a:avLst/>
          </a:prstGeom>
          <a:noFill/>
          <a:ln/>
        </p:spPr>
        <p:txBody>
          <a:bodyPr wrap="square" lIns="0" tIns="0" rIns="0" bIns="0" rtlCol="0" anchor="ctr">
            <a:normAutofit/>
          </a:bodyPr>
          <a:lstStyle/>
          <a:p>
            <a:pPr marL="0" indent="0" algn="l">
              <a:buNone/>
            </a:pPr>
            <a:r>
              <a:rPr lang="en-US" sz="1200" dirty="0">
                <a:solidFill>
                  <a:srgbClr val="8FA2B3"/>
                </a:solidFill>
                <a:latin typeface="Aptos" pitchFamily="34" charset="0"/>
                <a:ea typeface="Aptos" pitchFamily="34" charset="-122"/>
                <a:cs typeface="Aptos" pitchFamily="34" charset="-120"/>
              </a:rPr>
              <a:t>Plant-sovereign distributed AI for evidence-backed manufacturing investigation.</a:t>
            </a:r>
            <a:endParaRPr lang="en-US" sz="1200" dirty="0"/>
          </a:p>
        </p:txBody>
      </p:sp>
      <p:sp>
        <p:nvSpPr>
          <p:cNvPr id="7" name="Shape 4"/>
          <p:cNvSpPr/>
          <p:nvPr/>
        </p:nvSpPr>
        <p:spPr>
          <a:xfrm>
            <a:off x="685800" y="5650992"/>
            <a:ext cx="1463040" cy="292608"/>
          </a:xfrm>
          <a:prstGeom prst="roundRect">
            <a:avLst>
              <a:gd name="adj" fmla="val 50000"/>
            </a:avLst>
          </a:prstGeom>
          <a:solidFill>
            <a:srgbClr val="C85D37"/>
          </a:solidFill>
          <a:ln w="12700">
            <a:solidFill>
              <a:srgbClr val="C85D37"/>
            </a:solidFill>
            <a:prstDash val="solid"/>
          </a:ln>
        </p:spPr>
        <p:txBody>
          <a:bodyPr/>
          <a:lstStyle/>
          <a:p>
            <a:endParaRPr/>
          </a:p>
        </p:txBody>
      </p:sp>
      <p:sp>
        <p:nvSpPr>
          <p:cNvPr id="8" name="Text 5"/>
          <p:cNvSpPr/>
          <p:nvPr/>
        </p:nvSpPr>
        <p:spPr>
          <a:xfrm>
            <a:off x="685800" y="5650992"/>
            <a:ext cx="1463040" cy="292608"/>
          </a:xfrm>
          <a:prstGeom prst="rect">
            <a:avLst/>
          </a:prstGeom>
          <a:noFill/>
          <a:ln/>
        </p:spPr>
        <p:txBody>
          <a:bodyPr wrap="square" lIns="0" tIns="0" rIns="0" bIns="0" rtlCol="0" anchor="ctr">
            <a:normAutofit/>
          </a:bodyPr>
          <a:lstStyle/>
          <a:p>
            <a:pPr marL="0" indent="0" algn="ctr">
              <a:buNone/>
            </a:pPr>
            <a:r>
              <a:rPr lang="en-US" sz="800" b="1" dirty="0">
                <a:solidFill>
                  <a:srgbClr val="F4F7FA"/>
                </a:solidFill>
                <a:latin typeface="Aptos" pitchFamily="34" charset="0"/>
                <a:ea typeface="Aptos" pitchFamily="34" charset="-122"/>
                <a:cs typeface="Aptos" pitchFamily="34" charset="-120"/>
              </a:rPr>
              <a:t>SEED: $2.0M</a:t>
            </a:r>
            <a:endParaRPr lang="en-US" sz="800" dirty="0"/>
          </a:p>
        </p:txBody>
      </p:sp>
      <p:sp>
        <p:nvSpPr>
          <p:cNvPr id="9" name="Shape 6"/>
          <p:cNvSpPr/>
          <p:nvPr/>
        </p:nvSpPr>
        <p:spPr>
          <a:xfrm>
            <a:off x="2331720" y="5650992"/>
            <a:ext cx="1600200" cy="292608"/>
          </a:xfrm>
          <a:prstGeom prst="roundRect">
            <a:avLst>
              <a:gd name="adj" fmla="val 50000"/>
            </a:avLst>
          </a:prstGeom>
          <a:solidFill>
            <a:srgbClr val="122638"/>
          </a:solidFill>
          <a:ln w="12700">
            <a:solidFill>
              <a:srgbClr val="122638"/>
            </a:solidFill>
            <a:prstDash val="solid"/>
          </a:ln>
        </p:spPr>
        <p:txBody>
          <a:bodyPr/>
          <a:lstStyle/>
          <a:p>
            <a:endParaRPr/>
          </a:p>
        </p:txBody>
      </p:sp>
      <p:sp>
        <p:nvSpPr>
          <p:cNvPr id="10" name="Text 7"/>
          <p:cNvSpPr/>
          <p:nvPr/>
        </p:nvSpPr>
        <p:spPr>
          <a:xfrm>
            <a:off x="2331720" y="5650992"/>
            <a:ext cx="1600200" cy="292608"/>
          </a:xfrm>
          <a:prstGeom prst="rect">
            <a:avLst/>
          </a:prstGeom>
          <a:noFill/>
          <a:ln/>
        </p:spPr>
        <p:txBody>
          <a:bodyPr wrap="square" lIns="0" tIns="0" rIns="0" bIns="0" rtlCol="0" anchor="ctr">
            <a:normAutofit/>
          </a:bodyPr>
          <a:lstStyle/>
          <a:p>
            <a:pPr marL="0" indent="0" algn="ctr">
              <a:buNone/>
            </a:pPr>
            <a:r>
              <a:rPr lang="en-US" sz="800" b="1" dirty="0">
                <a:solidFill>
                  <a:srgbClr val="F4F7FA"/>
                </a:solidFill>
                <a:latin typeface="Aptos" pitchFamily="34" charset="0"/>
                <a:ea typeface="Aptos" pitchFamily="34" charset="-122"/>
                <a:cs typeface="Aptos" pitchFamily="34" charset="-120"/>
              </a:rPr>
              <a:t>BROWNFIELD FIRST</a:t>
            </a:r>
            <a:endParaRPr lang="en-US" sz="800" dirty="0"/>
          </a:p>
        </p:txBody>
      </p:sp>
      <p:sp>
        <p:nvSpPr>
          <p:cNvPr id="11" name="Shape 8"/>
          <p:cNvSpPr/>
          <p:nvPr/>
        </p:nvSpPr>
        <p:spPr>
          <a:xfrm>
            <a:off x="4114800" y="5650992"/>
            <a:ext cx="1600200" cy="292608"/>
          </a:xfrm>
          <a:prstGeom prst="roundRect">
            <a:avLst>
              <a:gd name="adj" fmla="val 50000"/>
            </a:avLst>
          </a:prstGeom>
          <a:solidFill>
            <a:srgbClr val="122638"/>
          </a:solidFill>
          <a:ln w="12700">
            <a:solidFill>
              <a:srgbClr val="122638"/>
            </a:solidFill>
            <a:prstDash val="solid"/>
          </a:ln>
        </p:spPr>
        <p:txBody>
          <a:bodyPr/>
          <a:lstStyle/>
          <a:p>
            <a:endParaRPr/>
          </a:p>
        </p:txBody>
      </p:sp>
      <p:sp>
        <p:nvSpPr>
          <p:cNvPr id="12" name="Text 9"/>
          <p:cNvSpPr/>
          <p:nvPr/>
        </p:nvSpPr>
        <p:spPr>
          <a:xfrm>
            <a:off x="4114800" y="5650992"/>
            <a:ext cx="1600200" cy="292608"/>
          </a:xfrm>
          <a:prstGeom prst="rect">
            <a:avLst/>
          </a:prstGeom>
          <a:noFill/>
          <a:ln/>
        </p:spPr>
        <p:txBody>
          <a:bodyPr wrap="square" lIns="0" tIns="0" rIns="0" bIns="0" rtlCol="0" anchor="ctr">
            <a:normAutofit/>
          </a:bodyPr>
          <a:lstStyle/>
          <a:p>
            <a:pPr marL="0" indent="0" algn="ctr">
              <a:buNone/>
            </a:pPr>
            <a:r>
              <a:rPr lang="en-US" sz="800" b="1" dirty="0">
                <a:solidFill>
                  <a:srgbClr val="F4F7FA"/>
                </a:solidFill>
                <a:latin typeface="Aptos" pitchFamily="34" charset="0"/>
                <a:ea typeface="Aptos" pitchFamily="34" charset="-122"/>
                <a:cs typeface="Aptos" pitchFamily="34" charset="-120"/>
              </a:rPr>
              <a:t>ENTERPRISE SCALE</a:t>
            </a:r>
            <a:endParaRPr lang="en-US" sz="800" dirty="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1</a:t>
            </a:fld>
            <a:endParaRPr lang="en-US"/>
          </a:p>
        </p:txBody>
      </p:sp>
      <p:pic>
        <p:nvPicPr>
          <p:cNvPr id="26" name="Picture 25" descr="cogniwerks.png"/>
          <p:cNvPicPr>
            <a:picLocks noChangeAspect="1"/>
          </p:cNvPicPr>
          <p:nvPr/>
        </p:nvPicPr>
        <p:blipFill>
          <a:blip r:embed="rId4"/>
          <a:stretch>
            <a:fillRect/>
          </a:stretch>
        </p:blipFill>
        <p:spPr>
          <a:xfrm>
            <a:off x="9951720" y="164592"/>
            <a:ext cx="192024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The thesis</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Industrial AI should scale with the factory - not force the factory to scale a central AI bottleneck.</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Text 2"/>
          <p:cNvSpPr/>
          <p:nvPr/>
        </p:nvSpPr>
        <p:spPr>
          <a:xfrm>
            <a:off x="640080" y="1325880"/>
            <a:ext cx="5212080" cy="457200"/>
          </a:xfrm>
          <a:prstGeom prst="rect">
            <a:avLst/>
          </a:prstGeom>
          <a:noFill/>
          <a:ln/>
        </p:spPr>
        <p:txBody>
          <a:bodyPr wrap="square" lIns="0" tIns="0" rIns="0" bIns="0" rtlCol="0" anchor="ctr">
            <a:normAutofit/>
          </a:bodyPr>
          <a:lstStyle/>
          <a:p>
            <a:pPr marL="0" indent="0" algn="l">
              <a:buNone/>
            </a:pPr>
            <a:r>
              <a:rPr lang="en-US" sz="2300" b="1" dirty="0">
                <a:solidFill>
                  <a:srgbClr val="F4F7FA"/>
                </a:solidFill>
                <a:latin typeface="Aptos" pitchFamily="34" charset="0"/>
                <a:ea typeface="Aptos" pitchFamily="34" charset="-122"/>
                <a:cs typeface="Aptos" pitchFamily="34" charset="-120"/>
              </a:rPr>
              <a:t>DATA STAYS WHERE IT IS.</a:t>
            </a:r>
            <a:endParaRPr lang="en-US" sz="2300" dirty="0"/>
          </a:p>
        </p:txBody>
      </p:sp>
      <p:sp>
        <p:nvSpPr>
          <p:cNvPr id="6" name="Text 3"/>
          <p:cNvSpPr/>
          <p:nvPr/>
        </p:nvSpPr>
        <p:spPr>
          <a:xfrm>
            <a:off x="640080" y="1828800"/>
            <a:ext cx="5212080" cy="457200"/>
          </a:xfrm>
          <a:prstGeom prst="rect">
            <a:avLst/>
          </a:prstGeom>
          <a:noFill/>
          <a:ln/>
        </p:spPr>
        <p:txBody>
          <a:bodyPr wrap="square" lIns="0" tIns="0" rIns="0" bIns="0" rtlCol="0" anchor="ctr">
            <a:normAutofit/>
          </a:bodyPr>
          <a:lstStyle/>
          <a:p>
            <a:pPr marL="0" indent="0" algn="l">
              <a:buNone/>
            </a:pPr>
            <a:r>
              <a:rPr lang="en-US" sz="2300" b="1" dirty="0">
                <a:solidFill>
                  <a:srgbClr val="E47A4F"/>
                </a:solidFill>
                <a:latin typeface="Aptos" pitchFamily="34" charset="0"/>
                <a:ea typeface="Aptos" pitchFamily="34" charset="-122"/>
                <a:cs typeface="Aptos" pitchFamily="34" charset="-120"/>
              </a:rPr>
              <a:t>INTELLIGENCE MOVES.</a:t>
            </a:r>
            <a:endParaRPr lang="en-US" sz="2300" dirty="0"/>
          </a:p>
        </p:txBody>
      </p:sp>
      <p:sp>
        <p:nvSpPr>
          <p:cNvPr id="7" name="Shape 4"/>
          <p:cNvSpPr/>
          <p:nvPr/>
        </p:nvSpPr>
        <p:spPr>
          <a:xfrm>
            <a:off x="640080" y="2606040"/>
            <a:ext cx="3337560" cy="2377440"/>
          </a:xfrm>
          <a:prstGeom prst="roundRect">
            <a:avLst>
              <a:gd name="adj" fmla="val 1923"/>
            </a:avLst>
          </a:prstGeom>
          <a:solidFill>
            <a:srgbClr val="0E1D2C"/>
          </a:solidFill>
          <a:ln w="12700">
            <a:solidFill>
              <a:srgbClr val="274052"/>
            </a:solidFill>
            <a:prstDash val="solid"/>
          </a:ln>
        </p:spPr>
        <p:txBody>
          <a:bodyPr/>
          <a:lstStyle/>
          <a:p>
            <a:endParaRPr/>
          </a:p>
        </p:txBody>
      </p:sp>
      <p:sp>
        <p:nvSpPr>
          <p:cNvPr id="8" name="Shape 5"/>
          <p:cNvSpPr/>
          <p:nvPr/>
        </p:nvSpPr>
        <p:spPr>
          <a:xfrm>
            <a:off x="640080" y="2606040"/>
            <a:ext cx="45720" cy="2377440"/>
          </a:xfrm>
          <a:prstGeom prst="rect">
            <a:avLst/>
          </a:prstGeom>
          <a:solidFill>
            <a:srgbClr val="E66B6B"/>
          </a:solidFill>
          <a:ln w="12700">
            <a:solidFill>
              <a:srgbClr val="E66B6B"/>
            </a:solidFill>
            <a:prstDash val="solid"/>
          </a:ln>
        </p:spPr>
        <p:txBody>
          <a:bodyPr/>
          <a:lstStyle/>
          <a:p>
            <a:endParaRPr/>
          </a:p>
        </p:txBody>
      </p:sp>
      <p:sp>
        <p:nvSpPr>
          <p:cNvPr id="9" name="Text 6"/>
          <p:cNvSpPr/>
          <p:nvPr/>
        </p:nvSpPr>
        <p:spPr>
          <a:xfrm>
            <a:off x="804672" y="2724912"/>
            <a:ext cx="306324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Centralized tendency</a:t>
            </a:r>
            <a:endParaRPr lang="en-US" sz="1100" dirty="0"/>
          </a:p>
        </p:txBody>
      </p:sp>
      <p:sp>
        <p:nvSpPr>
          <p:cNvPr id="10" name="Text 7"/>
          <p:cNvSpPr/>
          <p:nvPr/>
        </p:nvSpPr>
        <p:spPr>
          <a:xfrm>
            <a:off x="804672" y="3044952"/>
            <a:ext cx="3063240" cy="18470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More assets → more data movement → larger centralized retrieval/inference workloads → more WAN/cloud dependency.</a:t>
            </a:r>
            <a:endParaRPr lang="en-US" sz="950" dirty="0"/>
          </a:p>
        </p:txBody>
      </p:sp>
      <p:sp>
        <p:nvSpPr>
          <p:cNvPr id="11" name="Shape 8"/>
          <p:cNvSpPr/>
          <p:nvPr/>
        </p:nvSpPr>
        <p:spPr>
          <a:xfrm>
            <a:off x="4251960" y="2606040"/>
            <a:ext cx="3337560" cy="2377440"/>
          </a:xfrm>
          <a:prstGeom prst="roundRect">
            <a:avLst>
              <a:gd name="adj" fmla="val 1923"/>
            </a:avLst>
          </a:prstGeom>
          <a:solidFill>
            <a:srgbClr val="0E1D2C"/>
          </a:solidFill>
          <a:ln w="12700">
            <a:solidFill>
              <a:srgbClr val="274052"/>
            </a:solidFill>
            <a:prstDash val="solid"/>
          </a:ln>
        </p:spPr>
        <p:txBody>
          <a:bodyPr/>
          <a:lstStyle/>
          <a:p>
            <a:endParaRPr/>
          </a:p>
        </p:txBody>
      </p:sp>
      <p:sp>
        <p:nvSpPr>
          <p:cNvPr id="12" name="Shape 9"/>
          <p:cNvSpPr/>
          <p:nvPr/>
        </p:nvSpPr>
        <p:spPr>
          <a:xfrm>
            <a:off x="4251960" y="2606040"/>
            <a:ext cx="45720" cy="2377440"/>
          </a:xfrm>
          <a:prstGeom prst="rect">
            <a:avLst/>
          </a:prstGeom>
          <a:solidFill>
            <a:srgbClr val="50B89B"/>
          </a:solidFill>
          <a:ln w="12700">
            <a:solidFill>
              <a:srgbClr val="50B89B"/>
            </a:solidFill>
            <a:prstDash val="solid"/>
          </a:ln>
        </p:spPr>
        <p:txBody>
          <a:bodyPr/>
          <a:lstStyle/>
          <a:p>
            <a:endParaRPr/>
          </a:p>
        </p:txBody>
      </p:sp>
      <p:sp>
        <p:nvSpPr>
          <p:cNvPr id="13" name="Text 10"/>
          <p:cNvSpPr/>
          <p:nvPr/>
        </p:nvSpPr>
        <p:spPr>
          <a:xfrm>
            <a:off x="4416552" y="2724912"/>
            <a:ext cx="306324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DMI tendency</a:t>
            </a:r>
            <a:endParaRPr lang="en-US" sz="1100" dirty="0"/>
          </a:p>
        </p:txBody>
      </p:sp>
      <p:sp>
        <p:nvSpPr>
          <p:cNvPr id="14" name="Text 11"/>
          <p:cNvSpPr/>
          <p:nvPr/>
        </p:nvSpPr>
        <p:spPr>
          <a:xfrm>
            <a:off x="4416552" y="3044952"/>
            <a:ext cx="3063240" cy="18470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More assets → more local compute → more parallel analysis → compact evidence exchange → increasing aggregate AI capacity.</a:t>
            </a:r>
            <a:endParaRPr lang="en-US" sz="950" dirty="0"/>
          </a:p>
        </p:txBody>
      </p:sp>
      <p:sp>
        <p:nvSpPr>
          <p:cNvPr id="15" name="Shape 12"/>
          <p:cNvSpPr/>
          <p:nvPr/>
        </p:nvSpPr>
        <p:spPr>
          <a:xfrm>
            <a:off x="7863840" y="2606040"/>
            <a:ext cx="3337560" cy="2377440"/>
          </a:xfrm>
          <a:prstGeom prst="roundRect">
            <a:avLst>
              <a:gd name="adj" fmla="val 1923"/>
            </a:avLst>
          </a:prstGeom>
          <a:solidFill>
            <a:srgbClr val="0E1D2C"/>
          </a:solidFill>
          <a:ln w="12700">
            <a:solidFill>
              <a:srgbClr val="274052"/>
            </a:solidFill>
            <a:prstDash val="solid"/>
          </a:ln>
        </p:spPr>
        <p:txBody>
          <a:bodyPr/>
          <a:lstStyle/>
          <a:p>
            <a:endParaRPr/>
          </a:p>
        </p:txBody>
      </p:sp>
      <p:sp>
        <p:nvSpPr>
          <p:cNvPr id="16" name="Shape 13"/>
          <p:cNvSpPr/>
          <p:nvPr/>
        </p:nvSpPr>
        <p:spPr>
          <a:xfrm>
            <a:off x="7863840" y="2606040"/>
            <a:ext cx="45720" cy="2377440"/>
          </a:xfrm>
          <a:prstGeom prst="rect">
            <a:avLst/>
          </a:prstGeom>
          <a:solidFill>
            <a:srgbClr val="C85D37"/>
          </a:solidFill>
          <a:ln w="12700">
            <a:solidFill>
              <a:srgbClr val="C85D37"/>
            </a:solidFill>
            <a:prstDash val="solid"/>
          </a:ln>
        </p:spPr>
        <p:txBody>
          <a:bodyPr/>
          <a:lstStyle/>
          <a:p>
            <a:endParaRPr/>
          </a:p>
        </p:txBody>
      </p:sp>
      <p:sp>
        <p:nvSpPr>
          <p:cNvPr id="17" name="Text 14"/>
          <p:cNvSpPr/>
          <p:nvPr/>
        </p:nvSpPr>
        <p:spPr>
          <a:xfrm>
            <a:off x="8028432" y="2724912"/>
            <a:ext cx="306324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Commercial outcome</a:t>
            </a:r>
            <a:endParaRPr lang="en-US" sz="1100" dirty="0"/>
          </a:p>
        </p:txBody>
      </p:sp>
      <p:sp>
        <p:nvSpPr>
          <p:cNvPr id="18" name="Text 15"/>
          <p:cNvSpPr/>
          <p:nvPr/>
        </p:nvSpPr>
        <p:spPr>
          <a:xfrm>
            <a:off x="8028432" y="3044952"/>
            <a:ext cx="3063240" cy="18470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Faster investigations, less raw-data movement, plant continuity, traceable evidence and no recurring external API/token charge for local inference.</a:t>
            </a:r>
            <a:endParaRPr lang="en-US" sz="950" dirty="0"/>
          </a:p>
        </p:txBody>
      </p:sp>
      <p:sp>
        <p:nvSpPr>
          <p:cNvPr id="19" name="Text 16"/>
          <p:cNvSpPr/>
          <p:nvPr/>
        </p:nvSpPr>
        <p:spPr>
          <a:xfrm>
            <a:off x="530352" y="6153912"/>
            <a:ext cx="11064240" cy="228600"/>
          </a:xfrm>
          <a:prstGeom prst="rect">
            <a:avLst/>
          </a:prstGeom>
          <a:noFill/>
          <a:ln/>
        </p:spPr>
        <p:txBody>
          <a:bodyPr wrap="square" lIns="0" tIns="0" rIns="0" bIns="0" rtlCol="0" anchor="t">
            <a:normAutofit/>
          </a:bodyPr>
          <a:lstStyle/>
          <a:p>
            <a:pPr marL="0" indent="0" algn="l">
              <a:buNone/>
            </a:pPr>
            <a:r>
              <a:rPr lang="en-US" sz="730" dirty="0">
                <a:solidFill>
                  <a:srgbClr val="8FA2B3"/>
                </a:solidFill>
                <a:latin typeface="Aptos" pitchFamily="34" charset="0"/>
                <a:ea typeface="Aptos" pitchFamily="34" charset="-122"/>
                <a:cs typeface="Aptos" pitchFamily="34" charset="-120"/>
              </a:rPr>
              <a:t>Hypothesis, not yet a proven performance claim. DMI must benchmark centralized vs distributed workloads at 10/25/50/100 nodes.</a:t>
            </a:r>
            <a:endParaRPr lang="en-US" sz="730" dirty="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The manufacturing intelligence gap</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Factories already have data. The hard problem is investigating across silos, processes and time.</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640080" y="1325880"/>
            <a:ext cx="5212080" cy="1828800"/>
          </a:xfrm>
          <a:prstGeom prst="roundRect">
            <a:avLst>
              <a:gd name="adj" fmla="val 2500"/>
            </a:avLst>
          </a:prstGeom>
          <a:solidFill>
            <a:srgbClr val="0E1D2C"/>
          </a:solidFill>
          <a:ln w="12700">
            <a:solidFill>
              <a:srgbClr val="274052"/>
            </a:solidFill>
            <a:prstDash val="solid"/>
          </a:ln>
        </p:spPr>
        <p:txBody>
          <a:bodyPr/>
          <a:lstStyle/>
          <a:p>
            <a:endParaRPr/>
          </a:p>
        </p:txBody>
      </p:sp>
      <p:sp>
        <p:nvSpPr>
          <p:cNvPr id="6" name="Shape 3"/>
          <p:cNvSpPr/>
          <p:nvPr/>
        </p:nvSpPr>
        <p:spPr>
          <a:xfrm>
            <a:off x="640080" y="1325880"/>
            <a:ext cx="45720" cy="1828800"/>
          </a:xfrm>
          <a:prstGeom prst="rect">
            <a:avLst/>
          </a:prstGeom>
          <a:solidFill>
            <a:srgbClr val="4EA3D8"/>
          </a:solidFill>
          <a:ln w="12700">
            <a:solidFill>
              <a:srgbClr val="4EA3D8"/>
            </a:solidFill>
            <a:prstDash val="solid"/>
          </a:ln>
        </p:spPr>
        <p:txBody>
          <a:bodyPr/>
          <a:lstStyle/>
          <a:p>
            <a:endParaRPr/>
          </a:p>
        </p:txBody>
      </p:sp>
      <p:sp>
        <p:nvSpPr>
          <p:cNvPr id="7" name="Text 4"/>
          <p:cNvSpPr/>
          <p:nvPr/>
        </p:nvSpPr>
        <p:spPr>
          <a:xfrm>
            <a:off x="804672" y="1444752"/>
            <a:ext cx="493776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Data is distributed</a:t>
            </a:r>
            <a:endParaRPr lang="en-US" sz="1100" dirty="0"/>
          </a:p>
        </p:txBody>
      </p:sp>
      <p:sp>
        <p:nvSpPr>
          <p:cNvPr id="8" name="Text 5"/>
          <p:cNvSpPr/>
          <p:nvPr/>
        </p:nvSpPr>
        <p:spPr>
          <a:xfrm>
            <a:off x="804672" y="1764792"/>
            <a:ext cx="4937760" cy="129844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PLCs, historians, SCADA, MES, QMS, databases and files live in different systems and networks.</a:t>
            </a:r>
            <a:endParaRPr lang="en-US" sz="950" dirty="0"/>
          </a:p>
        </p:txBody>
      </p:sp>
      <p:sp>
        <p:nvSpPr>
          <p:cNvPr id="9" name="Shape 6"/>
          <p:cNvSpPr/>
          <p:nvPr/>
        </p:nvSpPr>
        <p:spPr>
          <a:xfrm>
            <a:off x="6172200" y="1325880"/>
            <a:ext cx="5212080" cy="1828800"/>
          </a:xfrm>
          <a:prstGeom prst="roundRect">
            <a:avLst>
              <a:gd name="adj" fmla="val 2500"/>
            </a:avLst>
          </a:prstGeom>
          <a:solidFill>
            <a:srgbClr val="0E1D2C"/>
          </a:solidFill>
          <a:ln w="12700">
            <a:solidFill>
              <a:srgbClr val="274052"/>
            </a:solidFill>
            <a:prstDash val="solid"/>
          </a:ln>
        </p:spPr>
        <p:txBody>
          <a:bodyPr/>
          <a:lstStyle/>
          <a:p>
            <a:endParaRPr/>
          </a:p>
        </p:txBody>
      </p:sp>
      <p:sp>
        <p:nvSpPr>
          <p:cNvPr id="10" name="Shape 7"/>
          <p:cNvSpPr/>
          <p:nvPr/>
        </p:nvSpPr>
        <p:spPr>
          <a:xfrm>
            <a:off x="6172200" y="1325880"/>
            <a:ext cx="45720" cy="1828800"/>
          </a:xfrm>
          <a:prstGeom prst="rect">
            <a:avLst/>
          </a:prstGeom>
          <a:solidFill>
            <a:srgbClr val="4EA3D8"/>
          </a:solidFill>
          <a:ln w="12700">
            <a:solidFill>
              <a:srgbClr val="4EA3D8"/>
            </a:solidFill>
            <a:prstDash val="solid"/>
          </a:ln>
        </p:spPr>
        <p:txBody>
          <a:bodyPr/>
          <a:lstStyle/>
          <a:p>
            <a:endParaRPr/>
          </a:p>
        </p:txBody>
      </p:sp>
      <p:sp>
        <p:nvSpPr>
          <p:cNvPr id="11" name="Text 8"/>
          <p:cNvSpPr/>
          <p:nvPr/>
        </p:nvSpPr>
        <p:spPr>
          <a:xfrm>
            <a:off x="6336792" y="1444752"/>
            <a:ext cx="493776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Investigations are manual</a:t>
            </a:r>
            <a:endParaRPr lang="en-US" sz="1100" dirty="0"/>
          </a:p>
        </p:txBody>
      </p:sp>
      <p:sp>
        <p:nvSpPr>
          <p:cNvPr id="12" name="Text 9"/>
          <p:cNvSpPr/>
          <p:nvPr/>
        </p:nvSpPr>
        <p:spPr>
          <a:xfrm>
            <a:off x="6336792" y="1764792"/>
            <a:ext cx="4937760" cy="129844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Engineers search multiple systems, align timestamps and reconstruct upstream/downstream relationships.</a:t>
            </a:r>
            <a:endParaRPr lang="en-US" sz="950" dirty="0"/>
          </a:p>
        </p:txBody>
      </p:sp>
      <p:sp>
        <p:nvSpPr>
          <p:cNvPr id="13" name="Shape 10"/>
          <p:cNvSpPr/>
          <p:nvPr/>
        </p:nvSpPr>
        <p:spPr>
          <a:xfrm>
            <a:off x="640080" y="3566160"/>
            <a:ext cx="5212080" cy="1828800"/>
          </a:xfrm>
          <a:prstGeom prst="roundRect">
            <a:avLst>
              <a:gd name="adj" fmla="val 2500"/>
            </a:avLst>
          </a:prstGeom>
          <a:solidFill>
            <a:srgbClr val="0E1D2C"/>
          </a:solidFill>
          <a:ln w="12700">
            <a:solidFill>
              <a:srgbClr val="274052"/>
            </a:solidFill>
            <a:prstDash val="solid"/>
          </a:ln>
        </p:spPr>
        <p:txBody>
          <a:bodyPr/>
          <a:lstStyle/>
          <a:p>
            <a:endParaRPr/>
          </a:p>
        </p:txBody>
      </p:sp>
      <p:sp>
        <p:nvSpPr>
          <p:cNvPr id="14" name="Shape 11"/>
          <p:cNvSpPr/>
          <p:nvPr/>
        </p:nvSpPr>
        <p:spPr>
          <a:xfrm>
            <a:off x="640080" y="3566160"/>
            <a:ext cx="45720" cy="1828800"/>
          </a:xfrm>
          <a:prstGeom prst="rect">
            <a:avLst/>
          </a:prstGeom>
          <a:solidFill>
            <a:srgbClr val="4EA3D8"/>
          </a:solidFill>
          <a:ln w="12700">
            <a:solidFill>
              <a:srgbClr val="4EA3D8"/>
            </a:solidFill>
            <a:prstDash val="solid"/>
          </a:ln>
        </p:spPr>
        <p:txBody>
          <a:bodyPr/>
          <a:lstStyle/>
          <a:p>
            <a:endParaRPr/>
          </a:p>
        </p:txBody>
      </p:sp>
      <p:sp>
        <p:nvSpPr>
          <p:cNvPr id="15" name="Text 12"/>
          <p:cNvSpPr/>
          <p:nvPr/>
        </p:nvSpPr>
        <p:spPr>
          <a:xfrm>
            <a:off x="804672" y="3685032"/>
            <a:ext cx="493776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Cloud is not always acceptable</a:t>
            </a:r>
            <a:endParaRPr lang="en-US" sz="1100" dirty="0"/>
          </a:p>
        </p:txBody>
      </p:sp>
      <p:sp>
        <p:nvSpPr>
          <p:cNvPr id="16" name="Text 13"/>
          <p:cNvSpPr/>
          <p:nvPr/>
        </p:nvSpPr>
        <p:spPr>
          <a:xfrm>
            <a:off x="804672" y="4005072"/>
            <a:ext cx="4937760" cy="129844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Security, air-gap, latency, jurisdiction and continuity requirements can constrain external data movement.</a:t>
            </a:r>
            <a:endParaRPr lang="en-US" sz="950" dirty="0"/>
          </a:p>
        </p:txBody>
      </p:sp>
      <p:sp>
        <p:nvSpPr>
          <p:cNvPr id="17" name="Shape 14"/>
          <p:cNvSpPr/>
          <p:nvPr/>
        </p:nvSpPr>
        <p:spPr>
          <a:xfrm>
            <a:off x="6172200" y="3566160"/>
            <a:ext cx="5212080" cy="1828800"/>
          </a:xfrm>
          <a:prstGeom prst="roundRect">
            <a:avLst>
              <a:gd name="adj" fmla="val 2500"/>
            </a:avLst>
          </a:prstGeom>
          <a:solidFill>
            <a:srgbClr val="0E1D2C"/>
          </a:solidFill>
          <a:ln w="12700">
            <a:solidFill>
              <a:srgbClr val="274052"/>
            </a:solidFill>
            <a:prstDash val="solid"/>
          </a:ln>
        </p:spPr>
        <p:txBody>
          <a:bodyPr/>
          <a:lstStyle/>
          <a:p>
            <a:endParaRPr/>
          </a:p>
        </p:txBody>
      </p:sp>
      <p:sp>
        <p:nvSpPr>
          <p:cNvPr id="18" name="Shape 15"/>
          <p:cNvSpPr/>
          <p:nvPr/>
        </p:nvSpPr>
        <p:spPr>
          <a:xfrm>
            <a:off x="6172200" y="3566160"/>
            <a:ext cx="45720" cy="1828800"/>
          </a:xfrm>
          <a:prstGeom prst="rect">
            <a:avLst/>
          </a:prstGeom>
          <a:solidFill>
            <a:srgbClr val="C85D37"/>
          </a:solidFill>
          <a:ln w="12700">
            <a:solidFill>
              <a:srgbClr val="C85D37"/>
            </a:solidFill>
            <a:prstDash val="solid"/>
          </a:ln>
        </p:spPr>
        <p:txBody>
          <a:bodyPr/>
          <a:lstStyle/>
          <a:p>
            <a:endParaRPr/>
          </a:p>
        </p:txBody>
      </p:sp>
      <p:sp>
        <p:nvSpPr>
          <p:cNvPr id="19" name="Text 16"/>
          <p:cNvSpPr/>
          <p:nvPr/>
        </p:nvSpPr>
        <p:spPr>
          <a:xfrm>
            <a:off x="6336792" y="3685032"/>
            <a:ext cx="493776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AI answers need evidence</a:t>
            </a:r>
            <a:endParaRPr lang="en-US" sz="1100" dirty="0"/>
          </a:p>
        </p:txBody>
      </p:sp>
      <p:sp>
        <p:nvSpPr>
          <p:cNvPr id="20" name="Text 17"/>
          <p:cNvSpPr/>
          <p:nvPr/>
        </p:nvSpPr>
        <p:spPr>
          <a:xfrm>
            <a:off x="6336792" y="4005072"/>
            <a:ext cx="4937760" cy="129844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Regulated and high-value manufacturing cannot rely on “the AI said so.”</a:t>
            </a:r>
            <a:endParaRPr lang="en-US" sz="950" dirty="0"/>
          </a:p>
        </p:txBody>
      </p:sp>
      <p:sp>
        <p:nvSpPr>
          <p:cNvPr id="21" name="Text 18"/>
          <p:cNvSpPr/>
          <p:nvPr/>
        </p:nvSpPr>
        <p:spPr>
          <a:xfrm>
            <a:off x="658368" y="5715000"/>
            <a:ext cx="10789920" cy="347472"/>
          </a:xfrm>
          <a:prstGeom prst="rect">
            <a:avLst/>
          </a:prstGeom>
          <a:noFill/>
          <a:ln/>
        </p:spPr>
        <p:txBody>
          <a:bodyPr wrap="square" lIns="0" tIns="0" rIns="0" bIns="0" rtlCol="0" anchor="ctr">
            <a:normAutofit/>
          </a:bodyPr>
          <a:lstStyle/>
          <a:p>
            <a:pPr marL="0" indent="0" algn="l">
              <a:buNone/>
            </a:pPr>
            <a:r>
              <a:rPr lang="en-US" sz="1600" b="1" dirty="0">
                <a:solidFill>
                  <a:srgbClr val="E47A4F"/>
                </a:solidFill>
                <a:latin typeface="Aptos" pitchFamily="34" charset="0"/>
                <a:ea typeface="Aptos" pitchFamily="34" charset="-122"/>
                <a:cs typeface="Aptos" pitchFamily="34" charset="-120"/>
              </a:rPr>
              <a:t>DMI wedge: shorter investigations with a traceable evidence trail.</a:t>
            </a:r>
            <a:endParaRPr lang="en-US" sz="1600" dirty="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DMI architecture</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DMI is the intelligence product. AnyLog is the underlying distributed data fabric.</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1143000" y="1188720"/>
            <a:ext cx="9875520" cy="530352"/>
          </a:xfrm>
          <a:prstGeom prst="roundRect">
            <a:avLst>
              <a:gd name="adj" fmla="val 6897"/>
            </a:avLst>
          </a:prstGeom>
          <a:solidFill>
            <a:srgbClr val="C85D37"/>
          </a:solidFill>
          <a:ln w="12700">
            <a:solidFill>
              <a:srgbClr val="E47A4F"/>
            </a:solidFill>
            <a:prstDash val="solid"/>
          </a:ln>
        </p:spPr>
        <p:txBody>
          <a:bodyPr/>
          <a:lstStyle/>
          <a:p>
            <a:endParaRPr/>
          </a:p>
        </p:txBody>
      </p:sp>
      <p:sp>
        <p:nvSpPr>
          <p:cNvPr id="6" name="Text 3"/>
          <p:cNvSpPr/>
          <p:nvPr/>
        </p:nvSpPr>
        <p:spPr>
          <a:xfrm>
            <a:off x="1353312" y="1271016"/>
            <a:ext cx="2148840" cy="182880"/>
          </a:xfrm>
          <a:prstGeom prst="rect">
            <a:avLst/>
          </a:prstGeom>
          <a:noFill/>
          <a:ln/>
        </p:spPr>
        <p:txBody>
          <a:bodyPr wrap="square" lIns="0" tIns="0" rIns="0" bIns="0" rtlCol="0" anchor="ctr">
            <a:normAutofit/>
          </a:bodyPr>
          <a:lstStyle/>
          <a:p>
            <a:pPr marL="0" indent="0" algn="l">
              <a:buNone/>
            </a:pPr>
            <a:r>
              <a:rPr lang="en-US" sz="950" b="1" dirty="0">
                <a:solidFill>
                  <a:srgbClr val="F4F7FA"/>
                </a:solidFill>
                <a:latin typeface="Aptos" pitchFamily="34" charset="0"/>
                <a:ea typeface="Aptos" pitchFamily="34" charset="-122"/>
                <a:cs typeface="Aptos" pitchFamily="34" charset="-120"/>
              </a:rPr>
              <a:t>DMI APPLICATIONS</a:t>
            </a:r>
            <a:endParaRPr lang="en-US" sz="950" dirty="0"/>
          </a:p>
        </p:txBody>
      </p:sp>
      <p:sp>
        <p:nvSpPr>
          <p:cNvPr id="7" name="Text 4"/>
          <p:cNvSpPr/>
          <p:nvPr/>
        </p:nvSpPr>
        <p:spPr>
          <a:xfrm>
            <a:off x="3611880" y="1271016"/>
            <a:ext cx="7086600" cy="201168"/>
          </a:xfrm>
          <a:prstGeom prst="rect">
            <a:avLst/>
          </a:prstGeom>
          <a:noFill/>
          <a:ln/>
        </p:spPr>
        <p:txBody>
          <a:bodyPr wrap="square" lIns="0" tIns="0" rIns="0" bIns="0" rtlCol="0" anchor="ctr">
            <a:normAutofit/>
          </a:bodyPr>
          <a:lstStyle/>
          <a:p>
            <a:pPr marL="0" indent="0" algn="l">
              <a:buNone/>
            </a:pPr>
            <a:r>
              <a:rPr lang="en-US" sz="900" dirty="0">
                <a:solidFill>
                  <a:srgbClr val="F4F7FA"/>
                </a:solidFill>
                <a:latin typeface="Aptos" pitchFamily="34" charset="0"/>
                <a:ea typeface="Aptos" pitchFamily="34" charset="-122"/>
                <a:cs typeface="Aptos" pitchFamily="34" charset="-120"/>
              </a:rPr>
              <a:t>RCA • Quality • Impact • What-if digital twin • Operator / Management Intelligence</a:t>
            </a:r>
            <a:endParaRPr lang="en-US" sz="900" dirty="0"/>
          </a:p>
        </p:txBody>
      </p:sp>
      <p:sp>
        <p:nvSpPr>
          <p:cNvPr id="8" name="Shape 5"/>
          <p:cNvSpPr/>
          <p:nvPr/>
        </p:nvSpPr>
        <p:spPr>
          <a:xfrm>
            <a:off x="6080760" y="1728216"/>
            <a:ext cx="0" cy="173736"/>
          </a:xfrm>
          <a:prstGeom prst="line">
            <a:avLst/>
          </a:prstGeom>
          <a:noFill/>
          <a:ln w="25400">
            <a:solidFill>
              <a:srgbClr val="8FA2B3"/>
            </a:solidFill>
            <a:prstDash val="solid"/>
            <a:headEnd type="none"/>
            <a:tailEnd type="triangle"/>
          </a:ln>
        </p:spPr>
        <p:txBody>
          <a:bodyPr/>
          <a:lstStyle/>
          <a:p>
            <a:endParaRPr/>
          </a:p>
        </p:txBody>
      </p:sp>
      <p:sp>
        <p:nvSpPr>
          <p:cNvPr id="9" name="Shape 6"/>
          <p:cNvSpPr/>
          <p:nvPr/>
        </p:nvSpPr>
        <p:spPr>
          <a:xfrm>
            <a:off x="1143000" y="1938528"/>
            <a:ext cx="9875520" cy="530352"/>
          </a:xfrm>
          <a:prstGeom prst="roundRect">
            <a:avLst>
              <a:gd name="adj" fmla="val 6897"/>
            </a:avLst>
          </a:prstGeom>
          <a:solidFill>
            <a:srgbClr val="122638"/>
          </a:solidFill>
          <a:ln w="12700">
            <a:solidFill>
              <a:srgbClr val="274052"/>
            </a:solidFill>
            <a:prstDash val="solid"/>
          </a:ln>
        </p:spPr>
        <p:txBody>
          <a:bodyPr/>
          <a:lstStyle/>
          <a:p>
            <a:endParaRPr/>
          </a:p>
        </p:txBody>
      </p:sp>
      <p:sp>
        <p:nvSpPr>
          <p:cNvPr id="10" name="Text 7"/>
          <p:cNvSpPr/>
          <p:nvPr/>
        </p:nvSpPr>
        <p:spPr>
          <a:xfrm>
            <a:off x="1353312" y="2020824"/>
            <a:ext cx="2148840" cy="182880"/>
          </a:xfrm>
          <a:prstGeom prst="rect">
            <a:avLst/>
          </a:prstGeom>
          <a:noFill/>
          <a:ln/>
        </p:spPr>
        <p:txBody>
          <a:bodyPr wrap="square" lIns="0" tIns="0" rIns="0" bIns="0" rtlCol="0" anchor="ctr">
            <a:normAutofit/>
          </a:bodyPr>
          <a:lstStyle/>
          <a:p>
            <a:pPr marL="0" indent="0" algn="l">
              <a:buNone/>
            </a:pPr>
            <a:r>
              <a:rPr lang="en-US" sz="950" b="1" dirty="0">
                <a:solidFill>
                  <a:srgbClr val="F4F7FA"/>
                </a:solidFill>
                <a:latin typeface="Aptos" pitchFamily="34" charset="0"/>
                <a:ea typeface="Aptos" pitchFamily="34" charset="-122"/>
                <a:cs typeface="Aptos" pitchFamily="34" charset="-120"/>
              </a:rPr>
              <a:t>PLANT REASONING</a:t>
            </a:r>
            <a:endParaRPr lang="en-US" sz="950" dirty="0"/>
          </a:p>
        </p:txBody>
      </p:sp>
      <p:sp>
        <p:nvSpPr>
          <p:cNvPr id="11" name="Text 8"/>
          <p:cNvSpPr/>
          <p:nvPr/>
        </p:nvSpPr>
        <p:spPr>
          <a:xfrm>
            <a:off x="3611880" y="2020824"/>
            <a:ext cx="7086600" cy="201168"/>
          </a:xfrm>
          <a:prstGeom prst="rect">
            <a:avLst/>
          </a:prstGeom>
          <a:noFill/>
          <a:ln/>
        </p:spPr>
        <p:txBody>
          <a:bodyPr wrap="square" lIns="0" tIns="0" rIns="0" bIns="0" rtlCol="0" anchor="ctr">
            <a:normAutofit/>
          </a:bodyPr>
          <a:lstStyle/>
          <a:p>
            <a:pPr marL="0" indent="0" algn="l">
              <a:buNone/>
            </a:pPr>
            <a:r>
              <a:rPr lang="en-US" sz="900" dirty="0">
                <a:solidFill>
                  <a:srgbClr val="F4F7FA"/>
                </a:solidFill>
                <a:latin typeface="Aptos" pitchFamily="34" charset="0"/>
                <a:ea typeface="Aptos" pitchFamily="34" charset="-122"/>
                <a:cs typeface="Aptos" pitchFamily="34" charset="-120"/>
              </a:rPr>
              <a:t>Evidence joins • Confidence • Explanation • Human review</a:t>
            </a:r>
            <a:endParaRPr lang="en-US" sz="900" dirty="0"/>
          </a:p>
        </p:txBody>
      </p:sp>
      <p:sp>
        <p:nvSpPr>
          <p:cNvPr id="12" name="Shape 9"/>
          <p:cNvSpPr/>
          <p:nvPr/>
        </p:nvSpPr>
        <p:spPr>
          <a:xfrm>
            <a:off x="6080760" y="2478024"/>
            <a:ext cx="0" cy="173736"/>
          </a:xfrm>
          <a:prstGeom prst="line">
            <a:avLst/>
          </a:prstGeom>
          <a:noFill/>
          <a:ln w="25400">
            <a:solidFill>
              <a:srgbClr val="8FA2B3"/>
            </a:solidFill>
            <a:prstDash val="solid"/>
            <a:headEnd type="none"/>
            <a:tailEnd type="triangle"/>
          </a:ln>
        </p:spPr>
        <p:txBody>
          <a:bodyPr/>
          <a:lstStyle/>
          <a:p>
            <a:endParaRPr/>
          </a:p>
        </p:txBody>
      </p:sp>
      <p:sp>
        <p:nvSpPr>
          <p:cNvPr id="13" name="Shape 10"/>
          <p:cNvSpPr/>
          <p:nvPr/>
        </p:nvSpPr>
        <p:spPr>
          <a:xfrm>
            <a:off x="1143000" y="2688336"/>
            <a:ext cx="9875520" cy="530352"/>
          </a:xfrm>
          <a:prstGeom prst="roundRect">
            <a:avLst>
              <a:gd name="adj" fmla="val 6897"/>
            </a:avLst>
          </a:prstGeom>
          <a:solidFill>
            <a:srgbClr val="122638"/>
          </a:solidFill>
          <a:ln w="12700">
            <a:solidFill>
              <a:srgbClr val="274052"/>
            </a:solidFill>
            <a:prstDash val="solid"/>
          </a:ln>
        </p:spPr>
        <p:txBody>
          <a:bodyPr/>
          <a:lstStyle/>
          <a:p>
            <a:endParaRPr/>
          </a:p>
        </p:txBody>
      </p:sp>
      <p:sp>
        <p:nvSpPr>
          <p:cNvPr id="14" name="Text 11"/>
          <p:cNvSpPr/>
          <p:nvPr/>
        </p:nvSpPr>
        <p:spPr>
          <a:xfrm>
            <a:off x="1353312" y="2770632"/>
            <a:ext cx="2148840" cy="182880"/>
          </a:xfrm>
          <a:prstGeom prst="rect">
            <a:avLst/>
          </a:prstGeom>
          <a:noFill/>
          <a:ln/>
        </p:spPr>
        <p:txBody>
          <a:bodyPr wrap="square" lIns="0" tIns="0" rIns="0" bIns="0" rtlCol="0" anchor="ctr">
            <a:normAutofit/>
          </a:bodyPr>
          <a:lstStyle/>
          <a:p>
            <a:pPr marL="0" indent="0" algn="l">
              <a:buNone/>
            </a:pPr>
            <a:r>
              <a:rPr lang="en-US" sz="950" b="1" dirty="0">
                <a:solidFill>
                  <a:srgbClr val="F4F7FA"/>
                </a:solidFill>
                <a:latin typeface="Aptos" pitchFamily="34" charset="0"/>
                <a:ea typeface="Aptos" pitchFamily="34" charset="-122"/>
                <a:cs typeface="Aptos" pitchFamily="34" charset="-120"/>
              </a:rPr>
              <a:t>PROCESS INTELLIGENCE</a:t>
            </a:r>
            <a:endParaRPr lang="en-US" sz="950" dirty="0"/>
          </a:p>
        </p:txBody>
      </p:sp>
      <p:sp>
        <p:nvSpPr>
          <p:cNvPr id="15" name="Text 12"/>
          <p:cNvSpPr/>
          <p:nvPr/>
        </p:nvSpPr>
        <p:spPr>
          <a:xfrm>
            <a:off x="3611880" y="2770632"/>
            <a:ext cx="7086600" cy="201168"/>
          </a:xfrm>
          <a:prstGeom prst="rect">
            <a:avLst/>
          </a:prstGeom>
          <a:noFill/>
          <a:ln/>
        </p:spPr>
        <p:txBody>
          <a:bodyPr wrap="square" lIns="0" tIns="0" rIns="0" bIns="0" rtlCol="0" anchor="ctr">
            <a:normAutofit/>
          </a:bodyPr>
          <a:lstStyle/>
          <a:p>
            <a:pPr marL="0" indent="0" algn="l">
              <a:buNone/>
            </a:pPr>
            <a:r>
              <a:rPr lang="en-US" sz="900" dirty="0">
                <a:solidFill>
                  <a:srgbClr val="F4F7FA"/>
                </a:solidFill>
                <a:latin typeface="Aptos" pitchFamily="34" charset="0"/>
                <a:ea typeface="Aptos" pitchFamily="34" charset="-122"/>
                <a:cs typeface="Aptos" pitchFamily="34" charset="-120"/>
              </a:rPr>
              <a:t>ISA-95/88 relationships • Upstream/downstream graph • Investigation plan</a:t>
            </a:r>
            <a:endParaRPr lang="en-US" sz="900" dirty="0"/>
          </a:p>
        </p:txBody>
      </p:sp>
      <p:sp>
        <p:nvSpPr>
          <p:cNvPr id="16" name="Shape 13"/>
          <p:cNvSpPr/>
          <p:nvPr/>
        </p:nvSpPr>
        <p:spPr>
          <a:xfrm>
            <a:off x="6080760" y="3227832"/>
            <a:ext cx="0" cy="173736"/>
          </a:xfrm>
          <a:prstGeom prst="line">
            <a:avLst/>
          </a:prstGeom>
          <a:noFill/>
          <a:ln w="25400">
            <a:solidFill>
              <a:srgbClr val="8FA2B3"/>
            </a:solidFill>
            <a:prstDash val="solid"/>
            <a:headEnd type="none"/>
            <a:tailEnd type="triangle"/>
          </a:ln>
        </p:spPr>
        <p:txBody>
          <a:bodyPr/>
          <a:lstStyle/>
          <a:p>
            <a:endParaRPr/>
          </a:p>
        </p:txBody>
      </p:sp>
      <p:sp>
        <p:nvSpPr>
          <p:cNvPr id="17" name="Shape 14"/>
          <p:cNvSpPr/>
          <p:nvPr/>
        </p:nvSpPr>
        <p:spPr>
          <a:xfrm>
            <a:off x="1143000" y="3438144"/>
            <a:ext cx="9875520" cy="530352"/>
          </a:xfrm>
          <a:prstGeom prst="roundRect">
            <a:avLst>
              <a:gd name="adj" fmla="val 6897"/>
            </a:avLst>
          </a:prstGeom>
          <a:solidFill>
            <a:srgbClr val="122638"/>
          </a:solidFill>
          <a:ln w="12700">
            <a:solidFill>
              <a:srgbClr val="274052"/>
            </a:solidFill>
            <a:prstDash val="solid"/>
          </a:ln>
        </p:spPr>
        <p:txBody>
          <a:bodyPr/>
          <a:lstStyle/>
          <a:p>
            <a:endParaRPr/>
          </a:p>
        </p:txBody>
      </p:sp>
      <p:sp>
        <p:nvSpPr>
          <p:cNvPr id="18" name="Text 15"/>
          <p:cNvSpPr/>
          <p:nvPr/>
        </p:nvSpPr>
        <p:spPr>
          <a:xfrm>
            <a:off x="1353312" y="3520440"/>
            <a:ext cx="2148840" cy="182880"/>
          </a:xfrm>
          <a:prstGeom prst="rect">
            <a:avLst/>
          </a:prstGeom>
          <a:noFill/>
          <a:ln/>
        </p:spPr>
        <p:txBody>
          <a:bodyPr wrap="square" lIns="0" tIns="0" rIns="0" bIns="0" rtlCol="0" anchor="ctr">
            <a:normAutofit/>
          </a:bodyPr>
          <a:lstStyle/>
          <a:p>
            <a:pPr marL="0" indent="0" algn="l">
              <a:buNone/>
            </a:pPr>
            <a:r>
              <a:rPr lang="en-US" sz="950" b="1" dirty="0">
                <a:solidFill>
                  <a:srgbClr val="F4F7FA"/>
                </a:solidFill>
                <a:latin typeface="Aptos" pitchFamily="34" charset="0"/>
                <a:ea typeface="Aptos" pitchFamily="34" charset="-122"/>
                <a:cs typeface="Aptos" pitchFamily="34" charset="-120"/>
              </a:rPr>
              <a:t>DISTRIBUTED AI NODES</a:t>
            </a:r>
            <a:endParaRPr lang="en-US" sz="950" dirty="0"/>
          </a:p>
        </p:txBody>
      </p:sp>
      <p:sp>
        <p:nvSpPr>
          <p:cNvPr id="19" name="Text 16"/>
          <p:cNvSpPr/>
          <p:nvPr/>
        </p:nvSpPr>
        <p:spPr>
          <a:xfrm>
            <a:off x="3611880" y="3520440"/>
            <a:ext cx="7086600" cy="201168"/>
          </a:xfrm>
          <a:prstGeom prst="rect">
            <a:avLst/>
          </a:prstGeom>
          <a:noFill/>
          <a:ln/>
        </p:spPr>
        <p:txBody>
          <a:bodyPr wrap="square" lIns="0" tIns="0" rIns="0" bIns="0" rtlCol="0" anchor="ctr">
            <a:normAutofit/>
          </a:bodyPr>
          <a:lstStyle/>
          <a:p>
            <a:pPr marL="0" indent="0" algn="l">
              <a:buNone/>
            </a:pPr>
            <a:r>
              <a:rPr lang="en-US" sz="900" dirty="0">
                <a:solidFill>
                  <a:srgbClr val="F4F7FA"/>
                </a:solidFill>
                <a:latin typeface="Aptos" pitchFamily="34" charset="0"/>
                <a:ea typeface="Aptos" pitchFamily="34" charset="-122"/>
                <a:cs typeface="Aptos" pitchFamily="34" charset="-120"/>
              </a:rPr>
              <a:t>Local analytics • Event extraction • SLM skills • Specialized models</a:t>
            </a:r>
            <a:endParaRPr lang="en-US" sz="900" dirty="0"/>
          </a:p>
        </p:txBody>
      </p:sp>
      <p:sp>
        <p:nvSpPr>
          <p:cNvPr id="20" name="Shape 17"/>
          <p:cNvSpPr/>
          <p:nvPr/>
        </p:nvSpPr>
        <p:spPr>
          <a:xfrm>
            <a:off x="6080760" y="3977640"/>
            <a:ext cx="0" cy="173736"/>
          </a:xfrm>
          <a:prstGeom prst="line">
            <a:avLst/>
          </a:prstGeom>
          <a:noFill/>
          <a:ln w="25400">
            <a:solidFill>
              <a:srgbClr val="8FA2B3"/>
            </a:solidFill>
            <a:prstDash val="solid"/>
            <a:headEnd type="none"/>
            <a:tailEnd type="triangle"/>
          </a:ln>
        </p:spPr>
        <p:txBody>
          <a:bodyPr/>
          <a:lstStyle/>
          <a:p>
            <a:endParaRPr/>
          </a:p>
        </p:txBody>
      </p:sp>
      <p:sp>
        <p:nvSpPr>
          <p:cNvPr id="21" name="Shape 18"/>
          <p:cNvSpPr/>
          <p:nvPr/>
        </p:nvSpPr>
        <p:spPr>
          <a:xfrm>
            <a:off x="1143000" y="4187952"/>
            <a:ext cx="9875520" cy="530352"/>
          </a:xfrm>
          <a:prstGeom prst="roundRect">
            <a:avLst>
              <a:gd name="adj" fmla="val 6897"/>
            </a:avLst>
          </a:prstGeom>
          <a:solidFill>
            <a:srgbClr val="4EA3D8"/>
          </a:solidFill>
          <a:ln w="12700">
            <a:solidFill>
              <a:srgbClr val="274052"/>
            </a:solidFill>
            <a:prstDash val="solid"/>
          </a:ln>
        </p:spPr>
        <p:txBody>
          <a:bodyPr/>
          <a:lstStyle/>
          <a:p>
            <a:endParaRPr/>
          </a:p>
        </p:txBody>
      </p:sp>
      <p:sp>
        <p:nvSpPr>
          <p:cNvPr id="22" name="Text 19"/>
          <p:cNvSpPr/>
          <p:nvPr/>
        </p:nvSpPr>
        <p:spPr>
          <a:xfrm>
            <a:off x="1353312" y="4270248"/>
            <a:ext cx="2148840" cy="182880"/>
          </a:xfrm>
          <a:prstGeom prst="rect">
            <a:avLst/>
          </a:prstGeom>
          <a:noFill/>
          <a:ln/>
        </p:spPr>
        <p:txBody>
          <a:bodyPr wrap="square" lIns="0" tIns="0" rIns="0" bIns="0" rtlCol="0" anchor="ctr">
            <a:normAutofit/>
          </a:bodyPr>
          <a:lstStyle/>
          <a:p>
            <a:pPr marL="0" indent="0" algn="l">
              <a:buNone/>
            </a:pPr>
            <a:r>
              <a:rPr lang="en-US" sz="950" b="1" dirty="0">
                <a:solidFill>
                  <a:srgbClr val="F4F7FA"/>
                </a:solidFill>
                <a:latin typeface="Aptos" pitchFamily="34" charset="0"/>
                <a:ea typeface="Aptos" pitchFamily="34" charset="-122"/>
                <a:cs typeface="Aptos" pitchFamily="34" charset="-120"/>
              </a:rPr>
              <a:t>ANYLOG DATA FABRIC</a:t>
            </a:r>
            <a:endParaRPr lang="en-US" sz="950" dirty="0"/>
          </a:p>
        </p:txBody>
      </p:sp>
      <p:sp>
        <p:nvSpPr>
          <p:cNvPr id="23" name="Text 20"/>
          <p:cNvSpPr/>
          <p:nvPr/>
        </p:nvSpPr>
        <p:spPr>
          <a:xfrm>
            <a:off x="3611880" y="4270248"/>
            <a:ext cx="7086600" cy="201168"/>
          </a:xfrm>
          <a:prstGeom prst="rect">
            <a:avLst/>
          </a:prstGeom>
          <a:noFill/>
          <a:ln/>
        </p:spPr>
        <p:txBody>
          <a:bodyPr wrap="square" lIns="0" tIns="0" rIns="0" bIns="0" rtlCol="0" anchor="ctr">
            <a:normAutofit/>
          </a:bodyPr>
          <a:lstStyle/>
          <a:p>
            <a:pPr marL="0" indent="0" algn="l">
              <a:buNone/>
            </a:pPr>
            <a:r>
              <a:rPr lang="en-US" sz="900" dirty="0">
                <a:solidFill>
                  <a:srgbClr val="F4F7FA"/>
                </a:solidFill>
                <a:latin typeface="Aptos" pitchFamily="34" charset="0"/>
                <a:ea typeface="Aptos" pitchFamily="34" charset="-122"/>
                <a:cs typeface="Aptos" pitchFamily="34" charset="-120"/>
              </a:rPr>
              <a:t>Distributed placement • Query • Aggregation • Federation</a:t>
            </a:r>
            <a:endParaRPr lang="en-US" sz="900" dirty="0"/>
          </a:p>
        </p:txBody>
      </p:sp>
      <p:sp>
        <p:nvSpPr>
          <p:cNvPr id="24" name="Shape 21"/>
          <p:cNvSpPr/>
          <p:nvPr/>
        </p:nvSpPr>
        <p:spPr>
          <a:xfrm>
            <a:off x="6080760" y="4727448"/>
            <a:ext cx="0" cy="173736"/>
          </a:xfrm>
          <a:prstGeom prst="line">
            <a:avLst/>
          </a:prstGeom>
          <a:noFill/>
          <a:ln w="25400">
            <a:solidFill>
              <a:srgbClr val="8FA2B3"/>
            </a:solidFill>
            <a:prstDash val="solid"/>
            <a:headEnd type="none"/>
            <a:tailEnd type="triangle"/>
          </a:ln>
        </p:spPr>
        <p:txBody>
          <a:bodyPr/>
          <a:lstStyle/>
          <a:p>
            <a:endParaRPr/>
          </a:p>
        </p:txBody>
      </p:sp>
      <p:sp>
        <p:nvSpPr>
          <p:cNvPr id="25" name="Shape 22"/>
          <p:cNvSpPr/>
          <p:nvPr/>
        </p:nvSpPr>
        <p:spPr>
          <a:xfrm>
            <a:off x="1143000" y="4937760"/>
            <a:ext cx="9875520" cy="530352"/>
          </a:xfrm>
          <a:prstGeom prst="roundRect">
            <a:avLst>
              <a:gd name="adj" fmla="val 6897"/>
            </a:avLst>
          </a:prstGeom>
          <a:solidFill>
            <a:srgbClr val="122638"/>
          </a:solidFill>
          <a:ln w="12700">
            <a:solidFill>
              <a:srgbClr val="274052"/>
            </a:solidFill>
            <a:prstDash val="solid"/>
          </a:ln>
        </p:spPr>
        <p:txBody>
          <a:bodyPr/>
          <a:lstStyle/>
          <a:p>
            <a:endParaRPr/>
          </a:p>
        </p:txBody>
      </p:sp>
      <p:sp>
        <p:nvSpPr>
          <p:cNvPr id="26" name="Text 23"/>
          <p:cNvSpPr/>
          <p:nvPr/>
        </p:nvSpPr>
        <p:spPr>
          <a:xfrm>
            <a:off x="1353312" y="5020056"/>
            <a:ext cx="2148840" cy="182880"/>
          </a:xfrm>
          <a:prstGeom prst="rect">
            <a:avLst/>
          </a:prstGeom>
          <a:noFill/>
          <a:ln/>
        </p:spPr>
        <p:txBody>
          <a:bodyPr wrap="square" lIns="0" tIns="0" rIns="0" bIns="0" rtlCol="0" anchor="ctr">
            <a:normAutofit/>
          </a:bodyPr>
          <a:lstStyle/>
          <a:p>
            <a:pPr marL="0" indent="0" algn="l">
              <a:buNone/>
            </a:pPr>
            <a:r>
              <a:rPr lang="en-US" sz="950" b="1" dirty="0">
                <a:solidFill>
                  <a:srgbClr val="F4F7FA"/>
                </a:solidFill>
                <a:latin typeface="Aptos" pitchFamily="34" charset="0"/>
                <a:ea typeface="Aptos" pitchFamily="34" charset="-122"/>
                <a:cs typeface="Aptos" pitchFamily="34" charset="-120"/>
              </a:rPr>
              <a:t>INDUSTRIAL SOURCES</a:t>
            </a:r>
            <a:endParaRPr lang="en-US" sz="950" dirty="0"/>
          </a:p>
        </p:txBody>
      </p:sp>
      <p:sp>
        <p:nvSpPr>
          <p:cNvPr id="27" name="Text 24"/>
          <p:cNvSpPr/>
          <p:nvPr/>
        </p:nvSpPr>
        <p:spPr>
          <a:xfrm>
            <a:off x="3611880" y="5020056"/>
            <a:ext cx="7086600" cy="201168"/>
          </a:xfrm>
          <a:prstGeom prst="rect">
            <a:avLst/>
          </a:prstGeom>
          <a:noFill/>
          <a:ln/>
        </p:spPr>
        <p:txBody>
          <a:bodyPr wrap="square" lIns="0" tIns="0" rIns="0" bIns="0" rtlCol="0" anchor="ctr">
            <a:normAutofit/>
          </a:bodyPr>
          <a:lstStyle/>
          <a:p>
            <a:pPr marL="0" indent="0" algn="l">
              <a:buNone/>
            </a:pPr>
            <a:r>
              <a:rPr lang="en-US" sz="900" dirty="0">
                <a:solidFill>
                  <a:srgbClr val="F4F7FA"/>
                </a:solidFill>
                <a:latin typeface="Aptos" pitchFamily="34" charset="0"/>
                <a:ea typeface="Aptos" pitchFamily="34" charset="-122"/>
                <a:cs typeface="Aptos" pitchFamily="34" charset="-120"/>
              </a:rPr>
              <a:t>PLC • SCADA • Historian • MES • QMS • DB • MQTT • OPC UA</a:t>
            </a:r>
            <a:endParaRPr lang="en-US" sz="900" dirty="0"/>
          </a:p>
        </p:txBody>
      </p:sp>
      <p:sp>
        <p:nvSpPr>
          <p:cNvPr id="28" name="Text 25"/>
          <p:cNvSpPr/>
          <p:nvPr/>
        </p:nvSpPr>
        <p:spPr>
          <a:xfrm>
            <a:off x="530352" y="6153912"/>
            <a:ext cx="11064240" cy="228600"/>
          </a:xfrm>
          <a:prstGeom prst="rect">
            <a:avLst/>
          </a:prstGeom>
          <a:noFill/>
          <a:ln/>
        </p:spPr>
        <p:txBody>
          <a:bodyPr wrap="square" lIns="0" tIns="0" rIns="0" bIns="0" rtlCol="0" anchor="t">
            <a:normAutofit/>
          </a:bodyPr>
          <a:lstStyle/>
          <a:p>
            <a:pPr marL="0" indent="0" algn="l">
              <a:buNone/>
            </a:pPr>
            <a:r>
              <a:rPr lang="en-US" sz="730" dirty="0">
                <a:solidFill>
                  <a:srgbClr val="8FA2B3"/>
                </a:solidFill>
                <a:latin typeface="Aptos" pitchFamily="34" charset="0"/>
                <a:ea typeface="Aptos" pitchFamily="34" charset="-122"/>
                <a:cs typeface="Aptos" pitchFamily="34" charset="-120"/>
              </a:rPr>
              <a:t>Architecture boundary from source material: DMI owns runtime, process intelligence, workflows, evidence model, vertical skills and customer experience; AnyLog supplies the distributed data fabric.</a:t>
            </a:r>
            <a:endParaRPr lang="en-US" sz="730" dirty="0"/>
          </a:p>
        </p:txBody>
      </p:sp>
      <p:sp>
        <p:nvSpPr>
          <p:cNvPr id="29"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064240" cy="502920"/>
          </a:xfrm>
          <a:prstGeom prst="rect">
            <a:avLst/>
          </a:prstGeom>
          <a:noFill/>
        </p:spPr>
        <p:txBody>
          <a:bodyPr wrap="none">
            <a:spAutoFit/>
          </a:bodyPr>
          <a:lstStyle/>
          <a:p>
            <a:pPr>
              <a:defRPr sz="2400" b="1">
                <a:solidFill>
                  <a:srgbClr val="142B46"/>
                </a:solidFill>
                <a:latin typeface="Aptos Display"/>
              </a:defRPr>
            </a:pPr>
            <a:r>
              <a:t>DMI product model: appliances at the edge, software for management</a:t>
            </a:r>
          </a:p>
        </p:txBody>
      </p:sp>
      <p:sp>
        <p:nvSpPr>
          <p:cNvPr id="3" name="TextBox 2"/>
          <p:cNvSpPr txBox="1"/>
          <p:nvPr/>
        </p:nvSpPr>
        <p:spPr>
          <a:xfrm>
            <a:off x="530352" y="850392"/>
            <a:ext cx="10789920" cy="365760"/>
          </a:xfrm>
          <a:prstGeom prst="rect">
            <a:avLst/>
          </a:prstGeom>
          <a:noFill/>
        </p:spPr>
        <p:txBody>
          <a:bodyPr wrap="none">
            <a:spAutoFit/>
          </a:bodyPr>
          <a:lstStyle/>
          <a:p>
            <a:pPr>
              <a:defRPr sz="1050">
                <a:solidFill>
                  <a:srgbClr val="5B6C7C"/>
                </a:solidFill>
                <a:latin typeface="Aptos"/>
              </a:defRPr>
            </a:pPr>
            <a:r>
              <a:t>Turnkey hardware where plant data is generated; software-only deployment is available when customers already have compatible edge compute.</a:t>
            </a:r>
          </a:p>
        </p:txBody>
      </p:sp>
      <p:sp>
        <p:nvSpPr>
          <p:cNvPr id="4" name="Rectangle 3"/>
          <p:cNvSpPr/>
          <p:nvPr/>
        </p:nvSpPr>
        <p:spPr>
          <a:xfrm>
            <a:off x="502920" y="1207008"/>
            <a:ext cx="11109960" cy="22860"/>
          </a:xfrm>
          <a:prstGeom prst="rect">
            <a:avLst/>
          </a:prstGeom>
          <a:solidFill>
            <a:srgbClr val="C757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600200"/>
            <a:ext cx="3337560" cy="4251960"/>
          </a:xfrm>
          <a:prstGeom prst="roundRect">
            <a:avLst/>
          </a:prstGeom>
          <a:solidFill>
            <a:srgbClr val="F5F8FB"/>
          </a:solidFill>
          <a:ln w="19050">
            <a:solidFill>
              <a:srgbClr val="C75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22957" y="1746504"/>
            <a:ext cx="2971801" cy="585216"/>
          </a:xfrm>
          <a:prstGeom prst="roundRect">
            <a:avLst/>
          </a:prstGeom>
          <a:solidFill>
            <a:srgbClr val="C757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DMI EDGE AI APPLIANCE</a:t>
            </a:r>
          </a:p>
        </p:txBody>
      </p:sp>
      <p:sp>
        <p:nvSpPr>
          <p:cNvPr id="7" name="TextBox 6"/>
          <p:cNvSpPr txBox="1"/>
          <p:nvPr/>
        </p:nvSpPr>
        <p:spPr>
          <a:xfrm>
            <a:off x="822959" y="2496312"/>
            <a:ext cx="2971800" cy="3227832"/>
          </a:xfrm>
          <a:prstGeom prst="rect">
            <a:avLst/>
          </a:prstGeom>
          <a:noFill/>
        </p:spPr>
        <p:txBody>
          <a:bodyPr wrap="none">
            <a:spAutoFit/>
          </a:bodyPr>
          <a:lstStyle/>
          <a:p>
            <a:pPr>
              <a:spcAft>
                <a:spcPts val="500"/>
              </a:spcAft>
              <a:defRPr sz="915">
                <a:solidFill>
                  <a:srgbClr val="182B40"/>
                </a:solidFill>
                <a:latin typeface="Aptos"/>
              </a:defRPr>
            </a:pPr>
            <a:r>
              <a:t>• Used only at data / edge nodes</a:t>
            </a:r>
          </a:p>
          <a:p>
            <a:pPr>
              <a:spcAft>
                <a:spcPts val="500"/>
              </a:spcAft>
              <a:defRPr sz="915">
                <a:solidFill>
                  <a:srgbClr val="182B40"/>
                </a:solidFill>
                <a:latin typeface="Aptos"/>
              </a:defRPr>
            </a:pPr>
            <a:r>
              <a:t>• Low-cost industrial edge compute</a:t>
            </a:r>
          </a:p>
          <a:p>
            <a:pPr>
              <a:spcAft>
                <a:spcPts val="500"/>
              </a:spcAft>
              <a:defRPr sz="915">
                <a:solidFill>
                  <a:srgbClr val="182B40"/>
                </a:solidFill>
                <a:latin typeface="Aptos"/>
              </a:defRPr>
            </a:pPr>
            <a:r>
              <a:t>• Integrated AI accelerator</a:t>
            </a:r>
          </a:p>
          <a:p>
            <a:pPr>
              <a:spcAft>
                <a:spcPts val="500"/>
              </a:spcAft>
              <a:defRPr sz="915">
                <a:solidFill>
                  <a:srgbClr val="182B40"/>
                </a:solidFill>
                <a:latin typeface="Aptos"/>
              </a:defRPr>
            </a:pPr>
            <a:r>
              <a:t>• AnyLog + DMI edge runtime</a:t>
            </a:r>
          </a:p>
          <a:p>
            <a:pPr>
              <a:spcAft>
                <a:spcPts val="500"/>
              </a:spcAft>
              <a:defRPr sz="915">
                <a:solidFill>
                  <a:srgbClr val="182B40"/>
                </a:solidFill>
                <a:latin typeface="Aptos"/>
              </a:defRPr>
            </a:pPr>
            <a:r>
              <a:t>• Local SLM / analytics / optional RAG</a:t>
            </a:r>
          </a:p>
          <a:p>
            <a:pPr>
              <a:spcAft>
                <a:spcPts val="500"/>
              </a:spcAft>
              <a:defRPr sz="915">
                <a:solidFill>
                  <a:srgbClr val="182B40"/>
                </a:solidFill>
                <a:latin typeface="Aptos"/>
              </a:defRPr>
            </a:pPr>
            <a:r>
              <a:t>• OPC UA • MQTT • DB • file connectivity</a:t>
            </a:r>
          </a:p>
          <a:p>
            <a:pPr>
              <a:spcAft>
                <a:spcPts val="500"/>
              </a:spcAft>
              <a:defRPr sz="915">
                <a:solidFill>
                  <a:srgbClr val="182B40"/>
                </a:solidFill>
                <a:latin typeface="Aptos"/>
              </a:defRPr>
            </a:pPr>
            <a:r>
              <a:t>• Plant-local and offline-capable</a:t>
            </a:r>
          </a:p>
        </p:txBody>
      </p:sp>
      <p:sp>
        <p:nvSpPr>
          <p:cNvPr id="8" name="Rounded Rectangle 7"/>
          <p:cNvSpPr/>
          <p:nvPr/>
        </p:nvSpPr>
        <p:spPr>
          <a:xfrm>
            <a:off x="4434840" y="1600200"/>
            <a:ext cx="3337560" cy="4251960"/>
          </a:xfrm>
          <a:prstGeom prst="roundRect">
            <a:avLst/>
          </a:prstGeom>
          <a:solidFill>
            <a:srgbClr val="F5F8FB"/>
          </a:solidFill>
          <a:ln w="19050">
            <a:solidFill>
              <a:srgbClr val="296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617720" y="1746504"/>
            <a:ext cx="2971800" cy="585216"/>
          </a:xfrm>
          <a:prstGeom prst="roundRect">
            <a:avLst/>
          </a:prstGeom>
          <a:solidFill>
            <a:srgbClr val="296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SOFTWARE-ONLY EDGE OPTION</a:t>
            </a:r>
          </a:p>
        </p:txBody>
      </p:sp>
      <p:sp>
        <p:nvSpPr>
          <p:cNvPr id="10" name="TextBox 9"/>
          <p:cNvSpPr txBox="1"/>
          <p:nvPr/>
        </p:nvSpPr>
        <p:spPr>
          <a:xfrm>
            <a:off x="4617720" y="2496312"/>
            <a:ext cx="2971800" cy="3227832"/>
          </a:xfrm>
          <a:prstGeom prst="rect">
            <a:avLst/>
          </a:prstGeom>
          <a:noFill/>
        </p:spPr>
        <p:txBody>
          <a:bodyPr wrap="none">
            <a:spAutoFit/>
          </a:bodyPr>
          <a:lstStyle/>
          <a:p>
            <a:pPr>
              <a:spcAft>
                <a:spcPts val="500"/>
              </a:spcAft>
              <a:defRPr sz="915">
                <a:solidFill>
                  <a:srgbClr val="182B40"/>
                </a:solidFill>
                <a:latin typeface="Aptos"/>
              </a:defRPr>
            </a:pPr>
            <a:r>
              <a:t>• For plants with existing edge compute</a:t>
            </a:r>
          </a:p>
          <a:p>
            <a:pPr>
              <a:spcAft>
                <a:spcPts val="500"/>
              </a:spcAft>
              <a:defRPr sz="915">
                <a:solidFill>
                  <a:srgbClr val="182B40"/>
                </a:solidFill>
                <a:latin typeface="Aptos"/>
              </a:defRPr>
            </a:pPr>
            <a:r>
              <a:t>• Deploy DMI + AnyLog onto compatible customer hardware</a:t>
            </a:r>
          </a:p>
          <a:p>
            <a:pPr>
              <a:spcAft>
                <a:spcPts val="500"/>
              </a:spcAft>
              <a:defRPr sz="915">
                <a:solidFill>
                  <a:srgbClr val="182B40"/>
                </a:solidFill>
                <a:latin typeface="Aptos"/>
              </a:defRPr>
            </a:pPr>
            <a:r>
              <a:t>• Use available GPU / NPU / accelerator resources</a:t>
            </a:r>
          </a:p>
          <a:p>
            <a:pPr>
              <a:spcAft>
                <a:spcPts val="500"/>
              </a:spcAft>
              <a:defRPr sz="915">
                <a:solidFill>
                  <a:srgbClr val="182B40"/>
                </a:solidFill>
                <a:latin typeface="Aptos"/>
              </a:defRPr>
            </a:pPr>
            <a:r>
              <a:t>• Same distributed intelligence model</a:t>
            </a:r>
          </a:p>
          <a:p>
            <a:pPr>
              <a:spcAft>
                <a:spcPts val="500"/>
              </a:spcAft>
              <a:defRPr sz="915">
                <a:solidFill>
                  <a:srgbClr val="182B40"/>
                </a:solidFill>
                <a:latin typeface="Aptos"/>
              </a:defRPr>
            </a:pPr>
            <a:r>
              <a:t>• Avoid duplicate hardware investment</a:t>
            </a:r>
          </a:p>
          <a:p>
            <a:pPr>
              <a:spcAft>
                <a:spcPts val="500"/>
              </a:spcAft>
              <a:defRPr sz="915">
                <a:solidFill>
                  <a:srgbClr val="182B40"/>
                </a:solidFill>
                <a:latin typeface="Aptos"/>
              </a:defRPr>
            </a:pPr>
            <a:r>
              <a:t>• Supports brownfield standardization</a:t>
            </a:r>
          </a:p>
          <a:p>
            <a:pPr>
              <a:spcAft>
                <a:spcPts val="500"/>
              </a:spcAft>
              <a:defRPr sz="915">
                <a:solidFill>
                  <a:srgbClr val="182B40"/>
                </a:solidFill>
                <a:latin typeface="Aptos"/>
              </a:defRPr>
            </a:pPr>
            <a:r>
              <a:t>• Hardware qualification defines support envelope</a:t>
            </a:r>
          </a:p>
        </p:txBody>
      </p:sp>
      <p:sp>
        <p:nvSpPr>
          <p:cNvPr id="11" name="Rounded Rectangle 10"/>
          <p:cNvSpPr/>
          <p:nvPr/>
        </p:nvSpPr>
        <p:spPr>
          <a:xfrm>
            <a:off x="8229600" y="1600200"/>
            <a:ext cx="3337560" cy="4251960"/>
          </a:xfrm>
          <a:prstGeom prst="roundRect">
            <a:avLst/>
          </a:prstGeom>
          <a:solidFill>
            <a:srgbClr val="F5F8FB"/>
          </a:solidFill>
          <a:ln w="19050">
            <a:solidFill>
              <a:srgbClr val="0F9B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412104" y="1719072"/>
            <a:ext cx="2908168" cy="612648"/>
          </a:xfrm>
          <a:prstGeom prst="roundRect">
            <a:avLst/>
          </a:prstGeom>
          <a:solidFill>
            <a:srgbClr val="0F9B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DMI MANAGEMENT PLATFORM</a:t>
            </a:r>
          </a:p>
        </p:txBody>
      </p:sp>
      <p:sp>
        <p:nvSpPr>
          <p:cNvPr id="13" name="TextBox 12"/>
          <p:cNvSpPr txBox="1"/>
          <p:nvPr/>
        </p:nvSpPr>
        <p:spPr>
          <a:xfrm>
            <a:off x="8412480" y="2496312"/>
            <a:ext cx="2908168" cy="1667636"/>
          </a:xfrm>
          <a:prstGeom prst="rect">
            <a:avLst/>
          </a:prstGeom>
          <a:noFill/>
        </p:spPr>
        <p:txBody>
          <a:bodyPr wrap="none">
            <a:spAutoFit/>
          </a:bodyPr>
          <a:lstStyle/>
          <a:p>
            <a:pPr>
              <a:spcAft>
                <a:spcPts val="500"/>
              </a:spcAft>
              <a:defRPr sz="915">
                <a:solidFill>
                  <a:srgbClr val="182B40"/>
                </a:solidFill>
                <a:latin typeface="Aptos"/>
              </a:defRPr>
            </a:pPr>
            <a:r>
              <a:rPr dirty="0"/>
              <a:t>• Software - not an appliance</a:t>
            </a:r>
          </a:p>
          <a:p>
            <a:pPr>
              <a:spcAft>
                <a:spcPts val="500"/>
              </a:spcAft>
              <a:defRPr sz="915">
                <a:solidFill>
                  <a:srgbClr val="182B40"/>
                </a:solidFill>
                <a:latin typeface="Aptos"/>
              </a:defRPr>
            </a:pPr>
            <a:r>
              <a:rPr dirty="0"/>
              <a:t>• Fleet and edge-node management</a:t>
            </a:r>
          </a:p>
          <a:p>
            <a:pPr>
              <a:spcAft>
                <a:spcPts val="500"/>
              </a:spcAft>
              <a:defRPr sz="915">
                <a:solidFill>
                  <a:srgbClr val="182B40"/>
                </a:solidFill>
                <a:latin typeface="Aptos"/>
              </a:defRPr>
            </a:pPr>
            <a:r>
              <a:rPr dirty="0"/>
              <a:t>• Model / skill / policy distribution</a:t>
            </a:r>
          </a:p>
          <a:p>
            <a:pPr>
              <a:spcAft>
                <a:spcPts val="500"/>
              </a:spcAft>
              <a:defRPr sz="915">
                <a:solidFill>
                  <a:srgbClr val="182B40"/>
                </a:solidFill>
                <a:latin typeface="Aptos"/>
              </a:defRPr>
            </a:pPr>
            <a:r>
              <a:rPr dirty="0"/>
              <a:t>• Dashboards and enterprise reporting</a:t>
            </a:r>
          </a:p>
          <a:p>
            <a:pPr>
              <a:spcAft>
                <a:spcPts val="500"/>
              </a:spcAft>
              <a:defRPr sz="915">
                <a:solidFill>
                  <a:srgbClr val="182B40"/>
                </a:solidFill>
                <a:latin typeface="Aptos"/>
              </a:defRPr>
            </a:pPr>
            <a:r>
              <a:rPr dirty="0"/>
              <a:t>• Cross-site administration</a:t>
            </a:r>
          </a:p>
          <a:p>
            <a:pPr>
              <a:spcAft>
                <a:spcPts val="500"/>
              </a:spcAft>
              <a:defRPr sz="915">
                <a:solidFill>
                  <a:srgbClr val="182B40"/>
                </a:solidFill>
                <a:latin typeface="Aptos"/>
              </a:defRPr>
            </a:pPr>
            <a:r>
              <a:rPr dirty="0"/>
              <a:t>• Query / aggregation services can run on customer or </a:t>
            </a:r>
            <a:endParaRPr lang="en-US" dirty="0"/>
          </a:p>
          <a:p>
            <a:pPr>
              <a:spcAft>
                <a:spcPts val="500"/>
              </a:spcAft>
              <a:defRPr sz="915">
                <a:solidFill>
                  <a:srgbClr val="182B40"/>
                </a:solidFill>
                <a:latin typeface="Aptos"/>
              </a:defRPr>
            </a:pPr>
            <a:r>
              <a:rPr dirty="0"/>
              <a:t>enterprise compute</a:t>
            </a:r>
          </a:p>
          <a:p>
            <a:pPr>
              <a:spcAft>
                <a:spcPts val="500"/>
              </a:spcAft>
              <a:defRPr sz="915">
                <a:solidFill>
                  <a:srgbClr val="182B40"/>
                </a:solidFill>
                <a:latin typeface="Aptos"/>
              </a:defRPr>
            </a:pPr>
            <a:r>
              <a:rPr dirty="0"/>
              <a:t>• Optional cloud or on-prem deployment</a:t>
            </a:r>
          </a:p>
        </p:txBody>
      </p:sp>
      <p:sp>
        <p:nvSpPr>
          <p:cNvPr id="14" name="Rounded Rectangle 13"/>
          <p:cNvSpPr/>
          <p:nvPr/>
        </p:nvSpPr>
        <p:spPr>
          <a:xfrm>
            <a:off x="868680" y="6053328"/>
            <a:ext cx="10424160" cy="438912"/>
          </a:xfrm>
          <a:prstGeom prst="roundRect">
            <a:avLst/>
          </a:prstGeom>
          <a:solidFill>
            <a:srgbClr val="14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ptos"/>
              </a:defRPr>
            </a:pPr>
            <a:r>
              <a:t>Preferred turnkey path: DMI Edge AI Appliances  |  Brownfield alternative: DMI software on qualified existing edge hardware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The technology differentiator - deliberately narrow</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DMI does not win because “edge AI” exists. It wins only if coordinated distributed investigation performs better.</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640080" y="1325880"/>
            <a:ext cx="3383280" cy="4251960"/>
          </a:xfrm>
          <a:prstGeom prst="roundRect">
            <a:avLst>
              <a:gd name="adj" fmla="val 1351"/>
            </a:avLst>
          </a:prstGeom>
          <a:solidFill>
            <a:srgbClr val="0E1D2C"/>
          </a:solidFill>
          <a:ln w="12700">
            <a:solidFill>
              <a:srgbClr val="274052"/>
            </a:solidFill>
            <a:prstDash val="solid"/>
          </a:ln>
        </p:spPr>
        <p:txBody>
          <a:bodyPr/>
          <a:lstStyle/>
          <a:p>
            <a:endParaRPr/>
          </a:p>
        </p:txBody>
      </p:sp>
      <p:sp>
        <p:nvSpPr>
          <p:cNvPr id="6" name="Shape 3"/>
          <p:cNvSpPr/>
          <p:nvPr/>
        </p:nvSpPr>
        <p:spPr>
          <a:xfrm>
            <a:off x="640080" y="1325880"/>
            <a:ext cx="45720" cy="4251960"/>
          </a:xfrm>
          <a:prstGeom prst="rect">
            <a:avLst/>
          </a:prstGeom>
          <a:solidFill>
            <a:srgbClr val="C85D37"/>
          </a:solidFill>
          <a:ln w="12700">
            <a:solidFill>
              <a:srgbClr val="C85D37"/>
            </a:solidFill>
            <a:prstDash val="solid"/>
          </a:ln>
        </p:spPr>
        <p:txBody>
          <a:bodyPr/>
          <a:lstStyle/>
          <a:p>
            <a:endParaRPr/>
          </a:p>
        </p:txBody>
      </p:sp>
      <p:sp>
        <p:nvSpPr>
          <p:cNvPr id="7" name="Text 4"/>
          <p:cNvSpPr/>
          <p:nvPr/>
        </p:nvSpPr>
        <p:spPr>
          <a:xfrm>
            <a:off x="804672" y="1444752"/>
            <a:ext cx="310896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1  FAN OUT</a:t>
            </a:r>
            <a:endParaRPr lang="en-US" sz="1100" dirty="0"/>
          </a:p>
        </p:txBody>
      </p:sp>
      <p:sp>
        <p:nvSpPr>
          <p:cNvPr id="8" name="Text 5"/>
          <p:cNvSpPr/>
          <p:nvPr/>
        </p:nvSpPr>
        <p:spPr>
          <a:xfrm>
            <a:off x="804672" y="1764792"/>
            <a:ext cx="3108960" cy="37216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A plant-level question is decomposed into narrow analytical tasks and sent to the relevant local nodes - not every node.</a:t>
            </a:r>
            <a:endParaRPr lang="en-US" sz="950" dirty="0"/>
          </a:p>
        </p:txBody>
      </p:sp>
      <p:sp>
        <p:nvSpPr>
          <p:cNvPr id="9" name="Shape 6"/>
          <p:cNvSpPr/>
          <p:nvPr/>
        </p:nvSpPr>
        <p:spPr>
          <a:xfrm>
            <a:off x="4407408" y="1325880"/>
            <a:ext cx="3383280" cy="4251960"/>
          </a:xfrm>
          <a:prstGeom prst="roundRect">
            <a:avLst>
              <a:gd name="adj" fmla="val 1351"/>
            </a:avLst>
          </a:prstGeom>
          <a:solidFill>
            <a:srgbClr val="0E1D2C"/>
          </a:solidFill>
          <a:ln w="12700">
            <a:solidFill>
              <a:srgbClr val="274052"/>
            </a:solidFill>
            <a:prstDash val="solid"/>
          </a:ln>
        </p:spPr>
        <p:txBody>
          <a:bodyPr/>
          <a:lstStyle/>
          <a:p>
            <a:endParaRPr/>
          </a:p>
        </p:txBody>
      </p:sp>
      <p:sp>
        <p:nvSpPr>
          <p:cNvPr id="10" name="Shape 7"/>
          <p:cNvSpPr/>
          <p:nvPr/>
        </p:nvSpPr>
        <p:spPr>
          <a:xfrm>
            <a:off x="4407408" y="1325880"/>
            <a:ext cx="45720" cy="4251960"/>
          </a:xfrm>
          <a:prstGeom prst="rect">
            <a:avLst/>
          </a:prstGeom>
          <a:solidFill>
            <a:srgbClr val="4EA3D8"/>
          </a:solidFill>
          <a:ln w="12700">
            <a:solidFill>
              <a:srgbClr val="4EA3D8"/>
            </a:solidFill>
            <a:prstDash val="solid"/>
          </a:ln>
        </p:spPr>
        <p:txBody>
          <a:bodyPr/>
          <a:lstStyle/>
          <a:p>
            <a:endParaRPr/>
          </a:p>
        </p:txBody>
      </p:sp>
      <p:sp>
        <p:nvSpPr>
          <p:cNvPr id="11" name="Text 8"/>
          <p:cNvSpPr/>
          <p:nvPr/>
        </p:nvSpPr>
        <p:spPr>
          <a:xfrm>
            <a:off x="4572000" y="1444752"/>
            <a:ext cx="310896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2  EVIDENCE CONTRACT</a:t>
            </a:r>
            <a:endParaRPr lang="en-US" sz="1100" dirty="0"/>
          </a:p>
        </p:txBody>
      </p:sp>
      <p:sp>
        <p:nvSpPr>
          <p:cNvPr id="12" name="Text 9"/>
          <p:cNvSpPr/>
          <p:nvPr/>
        </p:nvSpPr>
        <p:spPr>
          <a:xfrm>
            <a:off x="4572000" y="1764792"/>
            <a:ext cx="3108960" cy="37216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Nodes return typed results: asset, process, timestamps, units, events, anomaly score, confidence, lineage, model/version and evidence references.</a:t>
            </a:r>
            <a:endParaRPr lang="en-US" sz="950" dirty="0"/>
          </a:p>
        </p:txBody>
      </p:sp>
      <p:sp>
        <p:nvSpPr>
          <p:cNvPr id="13" name="Shape 10"/>
          <p:cNvSpPr/>
          <p:nvPr/>
        </p:nvSpPr>
        <p:spPr>
          <a:xfrm>
            <a:off x="8174736" y="1325880"/>
            <a:ext cx="3383280" cy="4251960"/>
          </a:xfrm>
          <a:prstGeom prst="roundRect">
            <a:avLst>
              <a:gd name="adj" fmla="val 1351"/>
            </a:avLst>
          </a:prstGeom>
          <a:solidFill>
            <a:srgbClr val="0E1D2C"/>
          </a:solidFill>
          <a:ln w="12700">
            <a:solidFill>
              <a:srgbClr val="274052"/>
            </a:solidFill>
            <a:prstDash val="solid"/>
          </a:ln>
        </p:spPr>
        <p:txBody>
          <a:bodyPr/>
          <a:lstStyle/>
          <a:p>
            <a:endParaRPr/>
          </a:p>
        </p:txBody>
      </p:sp>
      <p:sp>
        <p:nvSpPr>
          <p:cNvPr id="14" name="Shape 11"/>
          <p:cNvSpPr/>
          <p:nvPr/>
        </p:nvSpPr>
        <p:spPr>
          <a:xfrm>
            <a:off x="8174736" y="1325880"/>
            <a:ext cx="45720" cy="4251960"/>
          </a:xfrm>
          <a:prstGeom prst="rect">
            <a:avLst/>
          </a:prstGeom>
          <a:solidFill>
            <a:srgbClr val="50B89B"/>
          </a:solidFill>
          <a:ln w="12700">
            <a:solidFill>
              <a:srgbClr val="50B89B"/>
            </a:solidFill>
            <a:prstDash val="solid"/>
          </a:ln>
        </p:spPr>
        <p:txBody>
          <a:bodyPr/>
          <a:lstStyle/>
          <a:p>
            <a:endParaRPr/>
          </a:p>
        </p:txBody>
      </p:sp>
      <p:sp>
        <p:nvSpPr>
          <p:cNvPr id="15" name="Text 12"/>
          <p:cNvSpPr/>
          <p:nvPr/>
        </p:nvSpPr>
        <p:spPr>
          <a:xfrm>
            <a:off x="8339328" y="1444752"/>
            <a:ext cx="310896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3  JOIN + EXPLAIN</a:t>
            </a:r>
            <a:endParaRPr lang="en-US" sz="1100" dirty="0"/>
          </a:p>
        </p:txBody>
      </p:sp>
      <p:sp>
        <p:nvSpPr>
          <p:cNvPr id="16" name="Text 13"/>
          <p:cNvSpPr/>
          <p:nvPr/>
        </p:nvSpPr>
        <p:spPr>
          <a:xfrm>
            <a:off x="8339328" y="1764792"/>
            <a:ext cx="3108960" cy="37216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DMI joins upstream event + time lag + process relationship + downstream event, then generates an explanation from the assembled evidence.</a:t>
            </a:r>
            <a:endParaRPr lang="en-US" sz="950" dirty="0"/>
          </a:p>
        </p:txBody>
      </p:sp>
      <p:sp>
        <p:nvSpPr>
          <p:cNvPr id="17" name="Text 14"/>
          <p:cNvSpPr/>
          <p:nvPr/>
        </p:nvSpPr>
        <p:spPr>
          <a:xfrm>
            <a:off x="658368" y="5742432"/>
            <a:ext cx="10789920" cy="310896"/>
          </a:xfrm>
          <a:prstGeom prst="rect">
            <a:avLst/>
          </a:prstGeom>
          <a:noFill/>
          <a:ln/>
        </p:spPr>
        <p:txBody>
          <a:bodyPr wrap="square" lIns="0" tIns="0" rIns="0" bIns="0" rtlCol="0" anchor="ctr">
            <a:normAutofit/>
          </a:bodyPr>
          <a:lstStyle/>
          <a:p>
            <a:pPr marL="0" indent="0" algn="l">
              <a:buNone/>
            </a:pPr>
            <a:r>
              <a:rPr lang="en-US" sz="1400" b="1" dirty="0">
                <a:solidFill>
                  <a:srgbClr val="F4F7FA"/>
                </a:solidFill>
                <a:latin typeface="Aptos" pitchFamily="34" charset="0"/>
                <a:ea typeface="Aptos" pitchFamily="34" charset="-122"/>
                <a:cs typeface="Aptos" pitchFamily="34" charset="-120"/>
              </a:rPr>
              <a:t>Potential moat = orchestration + evidence semantics + process-directed joins + lineage + vertical workflows.</a:t>
            </a:r>
            <a:endParaRPr lang="en-US" sz="1400" dirty="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The node contract makes distributed AI auditable</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The protocol matters more than the prompt.</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594360" y="1325880"/>
            <a:ext cx="2542032" cy="1508760"/>
          </a:xfrm>
          <a:prstGeom prst="roundRect">
            <a:avLst>
              <a:gd name="adj" fmla="val 3030"/>
            </a:avLst>
          </a:prstGeom>
          <a:solidFill>
            <a:srgbClr val="0E1D2C"/>
          </a:solidFill>
          <a:ln w="12700">
            <a:solidFill>
              <a:srgbClr val="274052"/>
            </a:solidFill>
            <a:prstDash val="solid"/>
          </a:ln>
        </p:spPr>
        <p:txBody>
          <a:bodyPr/>
          <a:lstStyle/>
          <a:p>
            <a:endParaRPr/>
          </a:p>
        </p:txBody>
      </p:sp>
      <p:sp>
        <p:nvSpPr>
          <p:cNvPr id="6" name="Shape 3"/>
          <p:cNvSpPr/>
          <p:nvPr/>
        </p:nvSpPr>
        <p:spPr>
          <a:xfrm>
            <a:off x="594360" y="1325880"/>
            <a:ext cx="45720" cy="1508760"/>
          </a:xfrm>
          <a:prstGeom prst="rect">
            <a:avLst/>
          </a:prstGeom>
          <a:solidFill>
            <a:srgbClr val="4EA3D8"/>
          </a:solidFill>
          <a:ln w="12700">
            <a:solidFill>
              <a:srgbClr val="4EA3D8"/>
            </a:solidFill>
            <a:prstDash val="solid"/>
          </a:ln>
        </p:spPr>
        <p:txBody>
          <a:bodyPr/>
          <a:lstStyle/>
          <a:p>
            <a:endParaRPr/>
          </a:p>
        </p:txBody>
      </p:sp>
      <p:sp>
        <p:nvSpPr>
          <p:cNvPr id="7" name="Text 4"/>
          <p:cNvSpPr/>
          <p:nvPr/>
        </p:nvSpPr>
        <p:spPr>
          <a:xfrm>
            <a:off x="758952" y="1444752"/>
            <a:ext cx="22677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IDENTITY</a:t>
            </a:r>
            <a:endParaRPr lang="en-US" sz="1100" dirty="0"/>
          </a:p>
        </p:txBody>
      </p:sp>
      <p:sp>
        <p:nvSpPr>
          <p:cNvPr id="8" name="Text 5"/>
          <p:cNvSpPr/>
          <p:nvPr/>
        </p:nvSpPr>
        <p:spPr>
          <a:xfrm>
            <a:off x="758952" y="1764792"/>
            <a:ext cx="2267712" cy="9784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node • site • asset • process</a:t>
            </a:r>
            <a:endParaRPr lang="en-US" sz="950" dirty="0"/>
          </a:p>
        </p:txBody>
      </p:sp>
      <p:sp>
        <p:nvSpPr>
          <p:cNvPr id="9" name="Shape 6"/>
          <p:cNvSpPr/>
          <p:nvPr/>
        </p:nvSpPr>
        <p:spPr>
          <a:xfrm>
            <a:off x="3410712" y="1325880"/>
            <a:ext cx="2542032" cy="1508760"/>
          </a:xfrm>
          <a:prstGeom prst="roundRect">
            <a:avLst>
              <a:gd name="adj" fmla="val 3030"/>
            </a:avLst>
          </a:prstGeom>
          <a:solidFill>
            <a:srgbClr val="0E1D2C"/>
          </a:solidFill>
          <a:ln w="12700">
            <a:solidFill>
              <a:srgbClr val="274052"/>
            </a:solidFill>
            <a:prstDash val="solid"/>
          </a:ln>
        </p:spPr>
        <p:txBody>
          <a:bodyPr/>
          <a:lstStyle/>
          <a:p>
            <a:endParaRPr/>
          </a:p>
        </p:txBody>
      </p:sp>
      <p:sp>
        <p:nvSpPr>
          <p:cNvPr id="10" name="Shape 7"/>
          <p:cNvSpPr/>
          <p:nvPr/>
        </p:nvSpPr>
        <p:spPr>
          <a:xfrm>
            <a:off x="3410712" y="1325880"/>
            <a:ext cx="45720" cy="1508760"/>
          </a:xfrm>
          <a:prstGeom prst="rect">
            <a:avLst/>
          </a:prstGeom>
          <a:solidFill>
            <a:srgbClr val="4EA3D8"/>
          </a:solidFill>
          <a:ln w="12700">
            <a:solidFill>
              <a:srgbClr val="4EA3D8"/>
            </a:solidFill>
            <a:prstDash val="solid"/>
          </a:ln>
        </p:spPr>
        <p:txBody>
          <a:bodyPr/>
          <a:lstStyle/>
          <a:p>
            <a:endParaRPr/>
          </a:p>
        </p:txBody>
      </p:sp>
      <p:sp>
        <p:nvSpPr>
          <p:cNvPr id="11" name="Text 8"/>
          <p:cNvSpPr/>
          <p:nvPr/>
        </p:nvSpPr>
        <p:spPr>
          <a:xfrm>
            <a:off x="3575304" y="1444752"/>
            <a:ext cx="22677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TIME</a:t>
            </a:r>
            <a:endParaRPr lang="en-US" sz="1100" dirty="0"/>
          </a:p>
        </p:txBody>
      </p:sp>
      <p:sp>
        <p:nvSpPr>
          <p:cNvPr id="12" name="Text 9"/>
          <p:cNvSpPr/>
          <p:nvPr/>
        </p:nvSpPr>
        <p:spPr>
          <a:xfrm>
            <a:off x="3575304" y="1764792"/>
            <a:ext cx="2267712" cy="9784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source timestamp • window • processing time • clock quality</a:t>
            </a:r>
            <a:endParaRPr lang="en-US" sz="950" dirty="0"/>
          </a:p>
        </p:txBody>
      </p:sp>
      <p:sp>
        <p:nvSpPr>
          <p:cNvPr id="13" name="Shape 10"/>
          <p:cNvSpPr/>
          <p:nvPr/>
        </p:nvSpPr>
        <p:spPr>
          <a:xfrm>
            <a:off x="6227064" y="1325880"/>
            <a:ext cx="2542032" cy="1508760"/>
          </a:xfrm>
          <a:prstGeom prst="roundRect">
            <a:avLst>
              <a:gd name="adj" fmla="val 3030"/>
            </a:avLst>
          </a:prstGeom>
          <a:solidFill>
            <a:srgbClr val="0E1D2C"/>
          </a:solidFill>
          <a:ln w="12700">
            <a:solidFill>
              <a:srgbClr val="274052"/>
            </a:solidFill>
            <a:prstDash val="solid"/>
          </a:ln>
        </p:spPr>
        <p:txBody>
          <a:bodyPr/>
          <a:lstStyle/>
          <a:p>
            <a:endParaRPr/>
          </a:p>
        </p:txBody>
      </p:sp>
      <p:sp>
        <p:nvSpPr>
          <p:cNvPr id="14" name="Shape 11"/>
          <p:cNvSpPr/>
          <p:nvPr/>
        </p:nvSpPr>
        <p:spPr>
          <a:xfrm>
            <a:off x="6227064" y="1325880"/>
            <a:ext cx="45720" cy="1508760"/>
          </a:xfrm>
          <a:prstGeom prst="rect">
            <a:avLst/>
          </a:prstGeom>
          <a:solidFill>
            <a:srgbClr val="4EA3D8"/>
          </a:solidFill>
          <a:ln w="12700">
            <a:solidFill>
              <a:srgbClr val="4EA3D8"/>
            </a:solidFill>
            <a:prstDash val="solid"/>
          </a:ln>
        </p:spPr>
        <p:txBody>
          <a:bodyPr/>
          <a:lstStyle/>
          <a:p>
            <a:endParaRPr/>
          </a:p>
        </p:txBody>
      </p:sp>
      <p:sp>
        <p:nvSpPr>
          <p:cNvPr id="15" name="Text 12"/>
          <p:cNvSpPr/>
          <p:nvPr/>
        </p:nvSpPr>
        <p:spPr>
          <a:xfrm>
            <a:off x="6391656" y="1444752"/>
            <a:ext cx="22677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MEASUREMENTS</a:t>
            </a:r>
            <a:endParaRPr lang="en-US" sz="1100" dirty="0"/>
          </a:p>
        </p:txBody>
      </p:sp>
      <p:sp>
        <p:nvSpPr>
          <p:cNvPr id="16" name="Text 13"/>
          <p:cNvSpPr/>
          <p:nvPr/>
        </p:nvSpPr>
        <p:spPr>
          <a:xfrm>
            <a:off x="6391656" y="1764792"/>
            <a:ext cx="2267712" cy="9784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tag • value • units • source quality</a:t>
            </a:r>
            <a:endParaRPr lang="en-US" sz="950" dirty="0"/>
          </a:p>
        </p:txBody>
      </p:sp>
      <p:sp>
        <p:nvSpPr>
          <p:cNvPr id="17" name="Shape 14"/>
          <p:cNvSpPr/>
          <p:nvPr/>
        </p:nvSpPr>
        <p:spPr>
          <a:xfrm>
            <a:off x="9043416" y="1325880"/>
            <a:ext cx="2542032" cy="1508760"/>
          </a:xfrm>
          <a:prstGeom prst="roundRect">
            <a:avLst>
              <a:gd name="adj" fmla="val 3030"/>
            </a:avLst>
          </a:prstGeom>
          <a:solidFill>
            <a:srgbClr val="0E1D2C"/>
          </a:solidFill>
          <a:ln w="12700">
            <a:solidFill>
              <a:srgbClr val="274052"/>
            </a:solidFill>
            <a:prstDash val="solid"/>
          </a:ln>
        </p:spPr>
        <p:txBody>
          <a:bodyPr/>
          <a:lstStyle/>
          <a:p>
            <a:endParaRPr/>
          </a:p>
        </p:txBody>
      </p:sp>
      <p:sp>
        <p:nvSpPr>
          <p:cNvPr id="18" name="Shape 15"/>
          <p:cNvSpPr/>
          <p:nvPr/>
        </p:nvSpPr>
        <p:spPr>
          <a:xfrm>
            <a:off x="9043416" y="1325880"/>
            <a:ext cx="45720" cy="1508760"/>
          </a:xfrm>
          <a:prstGeom prst="rect">
            <a:avLst/>
          </a:prstGeom>
          <a:solidFill>
            <a:srgbClr val="4EA3D8"/>
          </a:solidFill>
          <a:ln w="12700">
            <a:solidFill>
              <a:srgbClr val="4EA3D8"/>
            </a:solidFill>
            <a:prstDash val="solid"/>
          </a:ln>
        </p:spPr>
        <p:txBody>
          <a:bodyPr/>
          <a:lstStyle/>
          <a:p>
            <a:endParaRPr/>
          </a:p>
        </p:txBody>
      </p:sp>
      <p:sp>
        <p:nvSpPr>
          <p:cNvPr id="19" name="Text 16"/>
          <p:cNvSpPr/>
          <p:nvPr/>
        </p:nvSpPr>
        <p:spPr>
          <a:xfrm>
            <a:off x="9208008" y="1444752"/>
            <a:ext cx="22677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EVENTS</a:t>
            </a:r>
            <a:endParaRPr lang="en-US" sz="1100" dirty="0"/>
          </a:p>
        </p:txBody>
      </p:sp>
      <p:sp>
        <p:nvSpPr>
          <p:cNvPr id="20" name="Text 17"/>
          <p:cNvSpPr/>
          <p:nvPr/>
        </p:nvSpPr>
        <p:spPr>
          <a:xfrm>
            <a:off x="9208008" y="1764792"/>
            <a:ext cx="2267712" cy="9784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type • start/end • severity • anomaly score</a:t>
            </a:r>
            <a:endParaRPr lang="en-US" sz="950" dirty="0"/>
          </a:p>
        </p:txBody>
      </p:sp>
      <p:sp>
        <p:nvSpPr>
          <p:cNvPr id="21" name="Shape 18"/>
          <p:cNvSpPr/>
          <p:nvPr/>
        </p:nvSpPr>
        <p:spPr>
          <a:xfrm>
            <a:off x="594360" y="3200400"/>
            <a:ext cx="2542032" cy="1508760"/>
          </a:xfrm>
          <a:prstGeom prst="roundRect">
            <a:avLst>
              <a:gd name="adj" fmla="val 3030"/>
            </a:avLst>
          </a:prstGeom>
          <a:solidFill>
            <a:srgbClr val="0E1D2C"/>
          </a:solidFill>
          <a:ln w="12700">
            <a:solidFill>
              <a:srgbClr val="274052"/>
            </a:solidFill>
            <a:prstDash val="solid"/>
          </a:ln>
        </p:spPr>
        <p:txBody>
          <a:bodyPr/>
          <a:lstStyle/>
          <a:p>
            <a:endParaRPr/>
          </a:p>
        </p:txBody>
      </p:sp>
      <p:sp>
        <p:nvSpPr>
          <p:cNvPr id="22" name="Shape 19"/>
          <p:cNvSpPr/>
          <p:nvPr/>
        </p:nvSpPr>
        <p:spPr>
          <a:xfrm>
            <a:off x="594360" y="3200400"/>
            <a:ext cx="45720" cy="1508760"/>
          </a:xfrm>
          <a:prstGeom prst="rect">
            <a:avLst/>
          </a:prstGeom>
          <a:solidFill>
            <a:srgbClr val="C85D37"/>
          </a:solidFill>
          <a:ln w="12700">
            <a:solidFill>
              <a:srgbClr val="C85D37"/>
            </a:solidFill>
            <a:prstDash val="solid"/>
          </a:ln>
        </p:spPr>
        <p:txBody>
          <a:bodyPr/>
          <a:lstStyle/>
          <a:p>
            <a:endParaRPr/>
          </a:p>
        </p:txBody>
      </p:sp>
      <p:sp>
        <p:nvSpPr>
          <p:cNvPr id="23" name="Text 20"/>
          <p:cNvSpPr/>
          <p:nvPr/>
        </p:nvSpPr>
        <p:spPr>
          <a:xfrm>
            <a:off x="758952" y="3319272"/>
            <a:ext cx="22677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ANALYSIS</a:t>
            </a:r>
            <a:endParaRPr lang="en-US" sz="1100" dirty="0"/>
          </a:p>
        </p:txBody>
      </p:sp>
      <p:sp>
        <p:nvSpPr>
          <p:cNvPr id="24" name="Text 21"/>
          <p:cNvSpPr/>
          <p:nvPr/>
        </p:nvSpPr>
        <p:spPr>
          <a:xfrm>
            <a:off x="758952" y="3639312"/>
            <a:ext cx="2267712" cy="9784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method • result • confidence • limitations</a:t>
            </a:r>
            <a:endParaRPr lang="en-US" sz="950" dirty="0"/>
          </a:p>
        </p:txBody>
      </p:sp>
      <p:sp>
        <p:nvSpPr>
          <p:cNvPr id="25" name="Shape 22"/>
          <p:cNvSpPr/>
          <p:nvPr/>
        </p:nvSpPr>
        <p:spPr>
          <a:xfrm>
            <a:off x="3410712" y="3200400"/>
            <a:ext cx="2542032" cy="1508760"/>
          </a:xfrm>
          <a:prstGeom prst="roundRect">
            <a:avLst>
              <a:gd name="adj" fmla="val 3030"/>
            </a:avLst>
          </a:prstGeom>
          <a:solidFill>
            <a:srgbClr val="0E1D2C"/>
          </a:solidFill>
          <a:ln w="12700">
            <a:solidFill>
              <a:srgbClr val="274052"/>
            </a:solidFill>
            <a:prstDash val="solid"/>
          </a:ln>
        </p:spPr>
        <p:txBody>
          <a:bodyPr/>
          <a:lstStyle/>
          <a:p>
            <a:endParaRPr/>
          </a:p>
        </p:txBody>
      </p:sp>
      <p:sp>
        <p:nvSpPr>
          <p:cNvPr id="26" name="Shape 23"/>
          <p:cNvSpPr/>
          <p:nvPr/>
        </p:nvSpPr>
        <p:spPr>
          <a:xfrm>
            <a:off x="3410712" y="3200400"/>
            <a:ext cx="45720" cy="1508760"/>
          </a:xfrm>
          <a:prstGeom prst="rect">
            <a:avLst/>
          </a:prstGeom>
          <a:solidFill>
            <a:srgbClr val="C85D37"/>
          </a:solidFill>
          <a:ln w="12700">
            <a:solidFill>
              <a:srgbClr val="C85D37"/>
            </a:solidFill>
            <a:prstDash val="solid"/>
          </a:ln>
        </p:spPr>
        <p:txBody>
          <a:bodyPr/>
          <a:lstStyle/>
          <a:p>
            <a:endParaRPr/>
          </a:p>
        </p:txBody>
      </p:sp>
      <p:sp>
        <p:nvSpPr>
          <p:cNvPr id="27" name="Text 24"/>
          <p:cNvSpPr/>
          <p:nvPr/>
        </p:nvSpPr>
        <p:spPr>
          <a:xfrm>
            <a:off x="3575304" y="3319272"/>
            <a:ext cx="22677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MODEL</a:t>
            </a:r>
            <a:endParaRPr lang="en-US" sz="1100" dirty="0"/>
          </a:p>
        </p:txBody>
      </p:sp>
      <p:sp>
        <p:nvSpPr>
          <p:cNvPr id="28" name="Text 25"/>
          <p:cNvSpPr/>
          <p:nvPr/>
        </p:nvSpPr>
        <p:spPr>
          <a:xfrm>
            <a:off x="3575304" y="3639312"/>
            <a:ext cx="2267712" cy="9784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model ID • version • runtime • provenance</a:t>
            </a:r>
            <a:endParaRPr lang="en-US" sz="950" dirty="0"/>
          </a:p>
        </p:txBody>
      </p:sp>
      <p:sp>
        <p:nvSpPr>
          <p:cNvPr id="29" name="Shape 26"/>
          <p:cNvSpPr/>
          <p:nvPr/>
        </p:nvSpPr>
        <p:spPr>
          <a:xfrm>
            <a:off x="6227064" y="3200400"/>
            <a:ext cx="2542032" cy="1508760"/>
          </a:xfrm>
          <a:prstGeom prst="roundRect">
            <a:avLst>
              <a:gd name="adj" fmla="val 3030"/>
            </a:avLst>
          </a:prstGeom>
          <a:solidFill>
            <a:srgbClr val="0E1D2C"/>
          </a:solidFill>
          <a:ln w="12700">
            <a:solidFill>
              <a:srgbClr val="274052"/>
            </a:solidFill>
            <a:prstDash val="solid"/>
          </a:ln>
        </p:spPr>
        <p:txBody>
          <a:bodyPr/>
          <a:lstStyle/>
          <a:p>
            <a:endParaRPr/>
          </a:p>
        </p:txBody>
      </p:sp>
      <p:sp>
        <p:nvSpPr>
          <p:cNvPr id="30" name="Shape 27"/>
          <p:cNvSpPr/>
          <p:nvPr/>
        </p:nvSpPr>
        <p:spPr>
          <a:xfrm>
            <a:off x="6227064" y="3200400"/>
            <a:ext cx="45720" cy="1508760"/>
          </a:xfrm>
          <a:prstGeom prst="rect">
            <a:avLst/>
          </a:prstGeom>
          <a:solidFill>
            <a:srgbClr val="C85D37"/>
          </a:solidFill>
          <a:ln w="12700">
            <a:solidFill>
              <a:srgbClr val="C85D37"/>
            </a:solidFill>
            <a:prstDash val="solid"/>
          </a:ln>
        </p:spPr>
        <p:txBody>
          <a:bodyPr/>
          <a:lstStyle/>
          <a:p>
            <a:endParaRPr/>
          </a:p>
        </p:txBody>
      </p:sp>
      <p:sp>
        <p:nvSpPr>
          <p:cNvPr id="31" name="Text 28"/>
          <p:cNvSpPr/>
          <p:nvPr/>
        </p:nvSpPr>
        <p:spPr>
          <a:xfrm>
            <a:off x="6391656" y="3319272"/>
            <a:ext cx="22677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EVIDENCE</a:t>
            </a:r>
            <a:endParaRPr lang="en-US" sz="1100" dirty="0"/>
          </a:p>
        </p:txBody>
      </p:sp>
      <p:sp>
        <p:nvSpPr>
          <p:cNvPr id="32" name="Text 29"/>
          <p:cNvSpPr/>
          <p:nvPr/>
        </p:nvSpPr>
        <p:spPr>
          <a:xfrm>
            <a:off x="6391656" y="3639312"/>
            <a:ext cx="2267712" cy="9784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lineage • query/source reference • missing-data status</a:t>
            </a:r>
            <a:endParaRPr lang="en-US" sz="950" dirty="0"/>
          </a:p>
        </p:txBody>
      </p:sp>
      <p:sp>
        <p:nvSpPr>
          <p:cNvPr id="33" name="Text 30"/>
          <p:cNvSpPr/>
          <p:nvPr/>
        </p:nvSpPr>
        <p:spPr>
          <a:xfrm>
            <a:off x="658368" y="5349240"/>
            <a:ext cx="10789920" cy="457200"/>
          </a:xfrm>
          <a:prstGeom prst="rect">
            <a:avLst/>
          </a:prstGeom>
          <a:noFill/>
          <a:ln/>
        </p:spPr>
        <p:txBody>
          <a:bodyPr wrap="square" lIns="0" tIns="0" rIns="0" bIns="0" rtlCol="0" anchor="ctr">
            <a:normAutofit/>
          </a:bodyPr>
          <a:lstStyle/>
          <a:p>
            <a:pPr marL="0" indent="0" algn="l">
              <a:buNone/>
            </a:pPr>
            <a:r>
              <a:rPr lang="en-US" sz="1400" b="1" dirty="0">
                <a:solidFill>
                  <a:srgbClr val="F4F7FA"/>
                </a:solidFill>
                <a:latin typeface="Aptos" pitchFamily="34" charset="0"/>
                <a:ea typeface="Aptos" pitchFamily="34" charset="-122"/>
                <a:cs typeface="Aptos" pitchFamily="34" charset="-120"/>
              </a:rPr>
              <a:t>Strategic value: replaceable local models can participate in one deterministic, testable manufacturing intelligence protocol.</a:t>
            </a:r>
            <a:endParaRPr lang="en-US" sz="1400" dirty="0"/>
          </a:p>
        </p:txBody>
      </p:sp>
      <p:sp>
        <p:nvSpPr>
          <p:cNvPr id="34" name="Text 31"/>
          <p:cNvSpPr/>
          <p:nvPr/>
        </p:nvSpPr>
        <p:spPr>
          <a:xfrm>
            <a:off x="530352" y="6153912"/>
            <a:ext cx="11064240" cy="228600"/>
          </a:xfrm>
          <a:prstGeom prst="rect">
            <a:avLst/>
          </a:prstGeom>
          <a:noFill/>
          <a:ln/>
        </p:spPr>
        <p:txBody>
          <a:bodyPr wrap="square" lIns="0" tIns="0" rIns="0" bIns="0" rtlCol="0" anchor="t">
            <a:normAutofit/>
          </a:bodyPr>
          <a:lstStyle/>
          <a:p>
            <a:pPr marL="0" indent="0" algn="l">
              <a:buNone/>
            </a:pPr>
            <a:r>
              <a:rPr lang="en-US" sz="730" dirty="0">
                <a:solidFill>
                  <a:srgbClr val="8FA2B3"/>
                </a:solidFill>
                <a:latin typeface="Aptos" pitchFamily="34" charset="0"/>
                <a:ea typeface="Aptos" pitchFamily="34" charset="-122"/>
                <a:cs typeface="Aptos" pitchFamily="34" charset="-120"/>
              </a:rPr>
              <a:t>Source assessment rates the node contract as a medium-high defensibility candidate; it is not yet production-ready.</a:t>
            </a:r>
            <a:endParaRPr lang="en-US" sz="730" dirty="0"/>
          </a:p>
        </p:txBody>
      </p:sp>
      <p:sp>
        <p:nvSpPr>
          <p:cNvPr id="3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A large adjacent market - without double counting</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Manufacturing analytics is the primary TAM proxy; AI in manufacturing is adjacent validation.</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Text 2"/>
          <p:cNvSpPr/>
          <p:nvPr/>
        </p:nvSpPr>
        <p:spPr>
          <a:xfrm>
            <a:off x="731520" y="1417320"/>
            <a:ext cx="2834640" cy="594360"/>
          </a:xfrm>
          <a:prstGeom prst="rect">
            <a:avLst/>
          </a:prstGeom>
          <a:noFill/>
          <a:ln/>
        </p:spPr>
        <p:txBody>
          <a:bodyPr wrap="square" lIns="0" tIns="0" rIns="0" bIns="0" rtlCol="0" anchor="ctr">
            <a:normAutofit/>
          </a:bodyPr>
          <a:lstStyle/>
          <a:p>
            <a:pPr marL="0" indent="0" algn="l">
              <a:buNone/>
            </a:pPr>
            <a:r>
              <a:rPr lang="en-US" sz="3200" b="1" dirty="0">
                <a:solidFill>
                  <a:srgbClr val="E47A4F"/>
                </a:solidFill>
                <a:latin typeface="Aptos" pitchFamily="34" charset="0"/>
                <a:ea typeface="Aptos" pitchFamily="34" charset="-122"/>
                <a:cs typeface="Aptos" pitchFamily="34" charset="-120"/>
              </a:rPr>
              <a:t>$13.0B</a:t>
            </a:r>
            <a:endParaRPr lang="en-US" sz="3200" dirty="0"/>
          </a:p>
        </p:txBody>
      </p:sp>
      <p:sp>
        <p:nvSpPr>
          <p:cNvPr id="6" name="Text 3"/>
          <p:cNvSpPr/>
          <p:nvPr/>
        </p:nvSpPr>
        <p:spPr>
          <a:xfrm>
            <a:off x="749808" y="2029968"/>
            <a:ext cx="2926080" cy="274320"/>
          </a:xfrm>
          <a:prstGeom prst="rect">
            <a:avLst/>
          </a:prstGeom>
          <a:noFill/>
          <a:ln/>
        </p:spPr>
        <p:txBody>
          <a:bodyPr wrap="square" lIns="0" tIns="0" rIns="0" bIns="0" rtlCol="0" anchor="ctr">
            <a:normAutofit/>
          </a:bodyPr>
          <a:lstStyle/>
          <a:p>
            <a:pPr marL="0" indent="0" algn="l">
              <a:buNone/>
            </a:pPr>
            <a:r>
              <a:rPr lang="en-US" sz="1000" b="1" dirty="0">
                <a:solidFill>
                  <a:srgbClr val="D8E1E8"/>
                </a:solidFill>
                <a:latin typeface="Aptos" pitchFamily="34" charset="0"/>
                <a:ea typeface="Aptos" pitchFamily="34" charset="-122"/>
                <a:cs typeface="Aptos" pitchFamily="34" charset="-120"/>
              </a:rPr>
              <a:t>2026 manufacturing analytics</a:t>
            </a:r>
            <a:endParaRPr lang="en-US" sz="1000" dirty="0"/>
          </a:p>
        </p:txBody>
      </p:sp>
      <p:sp>
        <p:nvSpPr>
          <p:cNvPr id="7" name="Text 4"/>
          <p:cNvSpPr/>
          <p:nvPr/>
        </p:nvSpPr>
        <p:spPr>
          <a:xfrm>
            <a:off x="749808" y="2377440"/>
            <a:ext cx="3108960" cy="274320"/>
          </a:xfrm>
          <a:prstGeom prst="rect">
            <a:avLst/>
          </a:prstGeom>
          <a:noFill/>
          <a:ln/>
        </p:spPr>
        <p:txBody>
          <a:bodyPr wrap="square" lIns="0" tIns="0" rIns="0" bIns="0" rtlCol="0" anchor="ctr">
            <a:normAutofit/>
          </a:bodyPr>
          <a:lstStyle/>
          <a:p>
            <a:pPr marL="0" indent="0" algn="l">
              <a:buNone/>
            </a:pPr>
            <a:r>
              <a:rPr lang="en-US" sz="1000" dirty="0">
                <a:solidFill>
                  <a:srgbClr val="8FA2B3"/>
                </a:solidFill>
                <a:latin typeface="Aptos" pitchFamily="34" charset="0"/>
                <a:ea typeface="Aptos" pitchFamily="34" charset="-122"/>
                <a:cs typeface="Aptos" pitchFamily="34" charset="-120"/>
              </a:rPr>
              <a:t>$37.9B by 2033 • 16.6% CAGR</a:t>
            </a:r>
            <a:endParaRPr lang="en-US" sz="1000" dirty="0"/>
          </a:p>
        </p:txBody>
      </p:sp>
      <p:sp>
        <p:nvSpPr>
          <p:cNvPr id="8" name="Text 5"/>
          <p:cNvSpPr/>
          <p:nvPr/>
        </p:nvSpPr>
        <p:spPr>
          <a:xfrm>
            <a:off x="4343400" y="1417320"/>
            <a:ext cx="2834640" cy="594360"/>
          </a:xfrm>
          <a:prstGeom prst="rect">
            <a:avLst/>
          </a:prstGeom>
          <a:noFill/>
          <a:ln/>
        </p:spPr>
        <p:txBody>
          <a:bodyPr wrap="square" lIns="0" tIns="0" rIns="0" bIns="0" rtlCol="0" anchor="ctr">
            <a:normAutofit/>
          </a:bodyPr>
          <a:lstStyle/>
          <a:p>
            <a:pPr marL="0" indent="0" algn="l">
              <a:buNone/>
            </a:pPr>
            <a:r>
              <a:rPr lang="en-US" sz="3200" b="1" dirty="0">
                <a:solidFill>
                  <a:srgbClr val="4EA3D8"/>
                </a:solidFill>
                <a:latin typeface="Aptos" pitchFamily="34" charset="0"/>
                <a:ea typeface="Aptos" pitchFamily="34" charset="-122"/>
                <a:cs typeface="Aptos" pitchFamily="34" charset="-120"/>
              </a:rPr>
              <a:t>$9.85B</a:t>
            </a:r>
            <a:endParaRPr lang="en-US" sz="3200" dirty="0"/>
          </a:p>
        </p:txBody>
      </p:sp>
      <p:sp>
        <p:nvSpPr>
          <p:cNvPr id="9" name="Text 6"/>
          <p:cNvSpPr/>
          <p:nvPr/>
        </p:nvSpPr>
        <p:spPr>
          <a:xfrm>
            <a:off x="4361688" y="2029968"/>
            <a:ext cx="2926080" cy="274320"/>
          </a:xfrm>
          <a:prstGeom prst="rect">
            <a:avLst/>
          </a:prstGeom>
          <a:noFill/>
          <a:ln/>
        </p:spPr>
        <p:txBody>
          <a:bodyPr wrap="square" lIns="0" tIns="0" rIns="0" bIns="0" rtlCol="0" anchor="ctr">
            <a:normAutofit/>
          </a:bodyPr>
          <a:lstStyle/>
          <a:p>
            <a:pPr marL="0" indent="0" algn="l">
              <a:buNone/>
            </a:pPr>
            <a:r>
              <a:rPr lang="en-US" sz="1000" b="1" dirty="0">
                <a:solidFill>
                  <a:srgbClr val="D8E1E8"/>
                </a:solidFill>
                <a:latin typeface="Aptos" pitchFamily="34" charset="0"/>
                <a:ea typeface="Aptos" pitchFamily="34" charset="-122"/>
                <a:cs typeface="Aptos" pitchFamily="34" charset="-120"/>
              </a:rPr>
              <a:t>2026 AI in manufacturing</a:t>
            </a:r>
            <a:endParaRPr lang="en-US" sz="1000" dirty="0"/>
          </a:p>
        </p:txBody>
      </p:sp>
      <p:sp>
        <p:nvSpPr>
          <p:cNvPr id="10" name="Text 7"/>
          <p:cNvSpPr/>
          <p:nvPr/>
        </p:nvSpPr>
        <p:spPr>
          <a:xfrm>
            <a:off x="4361688" y="2377440"/>
            <a:ext cx="3291840" cy="274320"/>
          </a:xfrm>
          <a:prstGeom prst="rect">
            <a:avLst/>
          </a:prstGeom>
          <a:noFill/>
          <a:ln/>
        </p:spPr>
        <p:txBody>
          <a:bodyPr wrap="square" lIns="0" tIns="0" rIns="0" bIns="0" rtlCol="0" anchor="ctr">
            <a:normAutofit/>
          </a:bodyPr>
          <a:lstStyle/>
          <a:p>
            <a:pPr marL="0" indent="0" algn="l">
              <a:buNone/>
            </a:pPr>
            <a:r>
              <a:rPr lang="en-US" sz="1000" dirty="0">
                <a:solidFill>
                  <a:srgbClr val="8FA2B3"/>
                </a:solidFill>
                <a:latin typeface="Aptos" pitchFamily="34" charset="0"/>
                <a:ea typeface="Aptos" pitchFamily="34" charset="-122"/>
                <a:cs typeface="Aptos" pitchFamily="34" charset="-120"/>
              </a:rPr>
              <a:t>$128.81B by 2034 • 37.9% CAGR</a:t>
            </a:r>
            <a:endParaRPr lang="en-US" sz="1000" dirty="0"/>
          </a:p>
        </p:txBody>
      </p:sp>
      <p:sp>
        <p:nvSpPr>
          <p:cNvPr id="11" name="Shape 8"/>
          <p:cNvSpPr/>
          <p:nvPr/>
        </p:nvSpPr>
        <p:spPr>
          <a:xfrm>
            <a:off x="7909560" y="1280160"/>
            <a:ext cx="3520440" cy="1828800"/>
          </a:xfrm>
          <a:prstGeom prst="roundRect">
            <a:avLst>
              <a:gd name="adj" fmla="val 2500"/>
            </a:avLst>
          </a:prstGeom>
          <a:solidFill>
            <a:srgbClr val="0E1D2C"/>
          </a:solidFill>
          <a:ln w="12700">
            <a:solidFill>
              <a:srgbClr val="274052"/>
            </a:solidFill>
            <a:prstDash val="solid"/>
          </a:ln>
        </p:spPr>
        <p:txBody>
          <a:bodyPr/>
          <a:lstStyle/>
          <a:p>
            <a:endParaRPr/>
          </a:p>
        </p:txBody>
      </p:sp>
      <p:sp>
        <p:nvSpPr>
          <p:cNvPr id="12" name="Shape 9"/>
          <p:cNvSpPr/>
          <p:nvPr/>
        </p:nvSpPr>
        <p:spPr>
          <a:xfrm>
            <a:off x="7909560" y="1280160"/>
            <a:ext cx="45720" cy="1828800"/>
          </a:xfrm>
          <a:prstGeom prst="rect">
            <a:avLst/>
          </a:prstGeom>
          <a:solidFill>
            <a:srgbClr val="C85D37"/>
          </a:solidFill>
          <a:ln w="12700">
            <a:solidFill>
              <a:srgbClr val="C85D37"/>
            </a:solidFill>
            <a:prstDash val="solid"/>
          </a:ln>
        </p:spPr>
        <p:txBody>
          <a:bodyPr/>
          <a:lstStyle/>
          <a:p>
            <a:endParaRPr/>
          </a:p>
        </p:txBody>
      </p:sp>
      <p:sp>
        <p:nvSpPr>
          <p:cNvPr id="13" name="Text 10"/>
          <p:cNvSpPr/>
          <p:nvPr/>
        </p:nvSpPr>
        <p:spPr>
          <a:xfrm>
            <a:off x="8074152" y="1399032"/>
            <a:ext cx="324612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DMI internal planning envelope</a:t>
            </a:r>
            <a:endParaRPr lang="en-US" sz="1100" dirty="0"/>
          </a:p>
        </p:txBody>
      </p:sp>
      <p:sp>
        <p:nvSpPr>
          <p:cNvPr id="14" name="Text 11"/>
          <p:cNvSpPr/>
          <p:nvPr/>
        </p:nvSpPr>
        <p:spPr>
          <a:xfrm>
            <a:off x="8074152" y="1719072"/>
            <a:ext cx="3246120" cy="129844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$1.3B–$3.25B = 10–25% of the $13B analytics base. This is an internal sovereignty/local-processing scenario, not a published TAM.</a:t>
            </a:r>
            <a:endParaRPr lang="en-US" sz="950" dirty="0"/>
          </a:p>
        </p:txBody>
      </p:sp>
      <p:sp>
        <p:nvSpPr>
          <p:cNvPr id="15" name="Shape 12"/>
          <p:cNvSpPr/>
          <p:nvPr/>
        </p:nvSpPr>
        <p:spPr>
          <a:xfrm>
            <a:off x="731520" y="3429000"/>
            <a:ext cx="5120640" cy="1508760"/>
          </a:xfrm>
          <a:prstGeom prst="roundRect">
            <a:avLst>
              <a:gd name="adj" fmla="val 3030"/>
            </a:avLst>
          </a:prstGeom>
          <a:solidFill>
            <a:srgbClr val="0E1D2C"/>
          </a:solidFill>
          <a:ln w="12700">
            <a:solidFill>
              <a:srgbClr val="274052"/>
            </a:solidFill>
            <a:prstDash val="solid"/>
          </a:ln>
        </p:spPr>
        <p:txBody>
          <a:bodyPr/>
          <a:lstStyle/>
          <a:p>
            <a:endParaRPr/>
          </a:p>
        </p:txBody>
      </p:sp>
      <p:sp>
        <p:nvSpPr>
          <p:cNvPr id="16" name="Shape 13"/>
          <p:cNvSpPr/>
          <p:nvPr/>
        </p:nvSpPr>
        <p:spPr>
          <a:xfrm>
            <a:off x="731520" y="3429000"/>
            <a:ext cx="45720" cy="1508760"/>
          </a:xfrm>
          <a:prstGeom prst="rect">
            <a:avLst/>
          </a:prstGeom>
          <a:solidFill>
            <a:srgbClr val="50B89B"/>
          </a:solidFill>
          <a:ln w="12700">
            <a:solidFill>
              <a:srgbClr val="50B89B"/>
            </a:solidFill>
            <a:prstDash val="solid"/>
          </a:ln>
        </p:spPr>
        <p:txBody>
          <a:bodyPr/>
          <a:lstStyle/>
          <a:p>
            <a:endParaRPr/>
          </a:p>
        </p:txBody>
      </p:sp>
      <p:sp>
        <p:nvSpPr>
          <p:cNvPr id="17" name="Text 14"/>
          <p:cNvSpPr/>
          <p:nvPr/>
        </p:nvSpPr>
        <p:spPr>
          <a:xfrm>
            <a:off x="896112" y="3547872"/>
            <a:ext cx="484632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Enterprise signal</a:t>
            </a:r>
            <a:endParaRPr lang="en-US" sz="1100" dirty="0"/>
          </a:p>
        </p:txBody>
      </p:sp>
      <p:sp>
        <p:nvSpPr>
          <p:cNvPr id="18" name="Text 15"/>
          <p:cNvSpPr/>
          <p:nvPr/>
        </p:nvSpPr>
        <p:spPr>
          <a:xfrm>
            <a:off x="896112" y="3867912"/>
            <a:ext cx="4846320" cy="9784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Large enterprises represented 74.7% of 2025 manufacturing-analytics revenue in the cited market research.</a:t>
            </a:r>
            <a:endParaRPr lang="en-US" sz="950" dirty="0"/>
          </a:p>
        </p:txBody>
      </p:sp>
      <p:sp>
        <p:nvSpPr>
          <p:cNvPr id="19" name="Shape 16"/>
          <p:cNvSpPr/>
          <p:nvPr/>
        </p:nvSpPr>
        <p:spPr>
          <a:xfrm>
            <a:off x="6126480" y="3429000"/>
            <a:ext cx="5120640" cy="1508760"/>
          </a:xfrm>
          <a:prstGeom prst="roundRect">
            <a:avLst>
              <a:gd name="adj" fmla="val 3030"/>
            </a:avLst>
          </a:prstGeom>
          <a:solidFill>
            <a:srgbClr val="0E1D2C"/>
          </a:solidFill>
          <a:ln w="12700">
            <a:solidFill>
              <a:srgbClr val="274052"/>
            </a:solidFill>
            <a:prstDash val="solid"/>
          </a:ln>
        </p:spPr>
        <p:txBody>
          <a:bodyPr/>
          <a:lstStyle/>
          <a:p>
            <a:endParaRPr/>
          </a:p>
        </p:txBody>
      </p:sp>
      <p:sp>
        <p:nvSpPr>
          <p:cNvPr id="20" name="Shape 17"/>
          <p:cNvSpPr/>
          <p:nvPr/>
        </p:nvSpPr>
        <p:spPr>
          <a:xfrm>
            <a:off x="6126480" y="3429000"/>
            <a:ext cx="45720" cy="1508760"/>
          </a:xfrm>
          <a:prstGeom prst="rect">
            <a:avLst/>
          </a:prstGeom>
          <a:solidFill>
            <a:srgbClr val="4EA3D8"/>
          </a:solidFill>
          <a:ln w="12700">
            <a:solidFill>
              <a:srgbClr val="4EA3D8"/>
            </a:solidFill>
            <a:prstDash val="solid"/>
          </a:ln>
        </p:spPr>
        <p:txBody>
          <a:bodyPr/>
          <a:lstStyle/>
          <a:p>
            <a:endParaRPr/>
          </a:p>
        </p:txBody>
      </p:sp>
      <p:sp>
        <p:nvSpPr>
          <p:cNvPr id="21" name="Text 18"/>
          <p:cNvSpPr/>
          <p:nvPr/>
        </p:nvSpPr>
        <p:spPr>
          <a:xfrm>
            <a:off x="6291072" y="3547872"/>
            <a:ext cx="484632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Deployment signal</a:t>
            </a:r>
            <a:endParaRPr lang="en-US" sz="1100" dirty="0"/>
          </a:p>
        </p:txBody>
      </p:sp>
      <p:sp>
        <p:nvSpPr>
          <p:cNvPr id="22" name="Text 19"/>
          <p:cNvSpPr/>
          <p:nvPr/>
        </p:nvSpPr>
        <p:spPr>
          <a:xfrm>
            <a:off x="6291072" y="3867912"/>
            <a:ext cx="4846320" cy="9784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Cloud represented 60.6% of 2025 revenue, while the cited research identifies on-premises as the faster-growing deployment segment.</a:t>
            </a:r>
            <a:endParaRPr lang="en-US" sz="950" dirty="0"/>
          </a:p>
        </p:txBody>
      </p:sp>
      <p:sp>
        <p:nvSpPr>
          <p:cNvPr id="23" name="Text 20"/>
          <p:cNvSpPr/>
          <p:nvPr/>
        </p:nvSpPr>
        <p:spPr>
          <a:xfrm>
            <a:off x="530352" y="6153912"/>
            <a:ext cx="11064240" cy="228600"/>
          </a:xfrm>
          <a:prstGeom prst="rect">
            <a:avLst/>
          </a:prstGeom>
          <a:noFill/>
          <a:ln/>
        </p:spPr>
        <p:txBody>
          <a:bodyPr wrap="square" lIns="0" tIns="0" rIns="0" bIns="0" rtlCol="0" anchor="t">
            <a:normAutofit/>
          </a:bodyPr>
          <a:lstStyle/>
          <a:p>
            <a:pPr marL="0" indent="0" algn="l">
              <a:buNone/>
            </a:pPr>
            <a:r>
              <a:rPr lang="en-US" sz="730" dirty="0">
                <a:solidFill>
                  <a:srgbClr val="8FA2B3"/>
                </a:solidFill>
                <a:latin typeface="Aptos" pitchFamily="34" charset="0"/>
                <a:ea typeface="Aptos" pitchFamily="34" charset="-122"/>
                <a:cs typeface="Aptos" pitchFamily="34" charset="-120"/>
              </a:rPr>
              <a:t>Sources: Grand View Research (Aug 2026); Fortune Business Insights (Aug 2026). Market categories overlap and are not additive.</a:t>
            </a:r>
            <a:endParaRPr lang="en-US" sz="730" dirty="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Beachhead: high-cost investigations where locality matters</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Start where evidence, process complexity and plant autonomy are economically meaningful.</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594360" y="1325880"/>
            <a:ext cx="3456432" cy="1874520"/>
          </a:xfrm>
          <a:prstGeom prst="roundRect">
            <a:avLst>
              <a:gd name="adj" fmla="val 2439"/>
            </a:avLst>
          </a:prstGeom>
          <a:solidFill>
            <a:srgbClr val="0E1D2C"/>
          </a:solidFill>
          <a:ln w="12700">
            <a:solidFill>
              <a:srgbClr val="274052"/>
            </a:solidFill>
            <a:prstDash val="solid"/>
          </a:ln>
        </p:spPr>
        <p:txBody>
          <a:bodyPr/>
          <a:lstStyle/>
          <a:p>
            <a:endParaRPr/>
          </a:p>
        </p:txBody>
      </p:sp>
      <p:sp>
        <p:nvSpPr>
          <p:cNvPr id="6" name="Shape 3"/>
          <p:cNvSpPr/>
          <p:nvPr/>
        </p:nvSpPr>
        <p:spPr>
          <a:xfrm>
            <a:off x="594360" y="1325880"/>
            <a:ext cx="45720" cy="1874520"/>
          </a:xfrm>
          <a:prstGeom prst="rect">
            <a:avLst/>
          </a:prstGeom>
          <a:solidFill>
            <a:srgbClr val="C85D37"/>
          </a:solidFill>
          <a:ln w="12700">
            <a:solidFill>
              <a:srgbClr val="C85D37"/>
            </a:solidFill>
            <a:prstDash val="solid"/>
          </a:ln>
        </p:spPr>
        <p:txBody>
          <a:bodyPr/>
          <a:lstStyle/>
          <a:p>
            <a:endParaRPr/>
          </a:p>
        </p:txBody>
      </p:sp>
      <p:sp>
        <p:nvSpPr>
          <p:cNvPr id="7" name="Text 4"/>
          <p:cNvSpPr/>
          <p:nvPr/>
        </p:nvSpPr>
        <p:spPr>
          <a:xfrm>
            <a:off x="758952" y="144475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PHARMA / BIOPHARMA</a:t>
            </a:r>
            <a:endParaRPr lang="en-US" sz="1100" dirty="0"/>
          </a:p>
        </p:txBody>
      </p:sp>
      <p:sp>
        <p:nvSpPr>
          <p:cNvPr id="8" name="Text 5"/>
          <p:cNvSpPr/>
          <p:nvPr/>
        </p:nvSpPr>
        <p:spPr>
          <a:xfrm>
            <a:off x="758952" y="1764792"/>
            <a:ext cx="3182112" cy="13441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Deviation, OOS/OOT, CAPA, batch evidence</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Tradeoff: Regulatory validation burden</a:t>
            </a:r>
            <a:endParaRPr lang="en-US" sz="950" dirty="0"/>
          </a:p>
        </p:txBody>
      </p:sp>
      <p:sp>
        <p:nvSpPr>
          <p:cNvPr id="9" name="Shape 6"/>
          <p:cNvSpPr/>
          <p:nvPr/>
        </p:nvSpPr>
        <p:spPr>
          <a:xfrm>
            <a:off x="4370832" y="1325880"/>
            <a:ext cx="3456432" cy="1874520"/>
          </a:xfrm>
          <a:prstGeom prst="roundRect">
            <a:avLst>
              <a:gd name="adj" fmla="val 2439"/>
            </a:avLst>
          </a:prstGeom>
          <a:solidFill>
            <a:srgbClr val="0E1D2C"/>
          </a:solidFill>
          <a:ln w="12700">
            <a:solidFill>
              <a:srgbClr val="274052"/>
            </a:solidFill>
            <a:prstDash val="solid"/>
          </a:ln>
        </p:spPr>
        <p:txBody>
          <a:bodyPr/>
          <a:lstStyle/>
          <a:p>
            <a:endParaRPr/>
          </a:p>
        </p:txBody>
      </p:sp>
      <p:sp>
        <p:nvSpPr>
          <p:cNvPr id="10" name="Shape 7"/>
          <p:cNvSpPr/>
          <p:nvPr/>
        </p:nvSpPr>
        <p:spPr>
          <a:xfrm>
            <a:off x="4370832" y="1325880"/>
            <a:ext cx="45720" cy="1874520"/>
          </a:xfrm>
          <a:prstGeom prst="rect">
            <a:avLst/>
          </a:prstGeom>
          <a:solidFill>
            <a:srgbClr val="C85D37"/>
          </a:solidFill>
          <a:ln w="12700">
            <a:solidFill>
              <a:srgbClr val="C85D37"/>
            </a:solidFill>
            <a:prstDash val="solid"/>
          </a:ln>
        </p:spPr>
        <p:txBody>
          <a:bodyPr/>
          <a:lstStyle/>
          <a:p>
            <a:endParaRPr/>
          </a:p>
        </p:txBody>
      </p:sp>
      <p:sp>
        <p:nvSpPr>
          <p:cNvPr id="11" name="Text 8"/>
          <p:cNvSpPr/>
          <p:nvPr/>
        </p:nvSpPr>
        <p:spPr>
          <a:xfrm>
            <a:off x="4535424" y="144475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SEMICONDUCTOR</a:t>
            </a:r>
            <a:endParaRPr lang="en-US" sz="1100" dirty="0"/>
          </a:p>
        </p:txBody>
      </p:sp>
      <p:sp>
        <p:nvSpPr>
          <p:cNvPr id="12" name="Text 9"/>
          <p:cNvSpPr/>
          <p:nvPr/>
        </p:nvSpPr>
        <p:spPr>
          <a:xfrm>
            <a:off x="4535424" y="1764792"/>
            <a:ext cx="3182112" cy="13441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Yield excursions, process drift, high value/hour</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Tradeoff: Sophisticated incumbent stack</a:t>
            </a:r>
            <a:endParaRPr lang="en-US" sz="950" dirty="0"/>
          </a:p>
        </p:txBody>
      </p:sp>
      <p:sp>
        <p:nvSpPr>
          <p:cNvPr id="13" name="Shape 10"/>
          <p:cNvSpPr/>
          <p:nvPr/>
        </p:nvSpPr>
        <p:spPr>
          <a:xfrm>
            <a:off x="8147304" y="1325880"/>
            <a:ext cx="3456432" cy="1874520"/>
          </a:xfrm>
          <a:prstGeom prst="roundRect">
            <a:avLst>
              <a:gd name="adj" fmla="val 2439"/>
            </a:avLst>
          </a:prstGeom>
          <a:solidFill>
            <a:srgbClr val="0E1D2C"/>
          </a:solidFill>
          <a:ln w="12700">
            <a:solidFill>
              <a:srgbClr val="274052"/>
            </a:solidFill>
            <a:prstDash val="solid"/>
          </a:ln>
        </p:spPr>
        <p:txBody>
          <a:bodyPr/>
          <a:lstStyle/>
          <a:p>
            <a:endParaRPr/>
          </a:p>
        </p:txBody>
      </p:sp>
      <p:sp>
        <p:nvSpPr>
          <p:cNvPr id="14" name="Shape 11"/>
          <p:cNvSpPr/>
          <p:nvPr/>
        </p:nvSpPr>
        <p:spPr>
          <a:xfrm>
            <a:off x="8147304" y="1325880"/>
            <a:ext cx="45720" cy="1874520"/>
          </a:xfrm>
          <a:prstGeom prst="rect">
            <a:avLst/>
          </a:prstGeom>
          <a:solidFill>
            <a:srgbClr val="C85D37"/>
          </a:solidFill>
          <a:ln w="12700">
            <a:solidFill>
              <a:srgbClr val="C85D37"/>
            </a:solidFill>
            <a:prstDash val="solid"/>
          </a:ln>
        </p:spPr>
        <p:txBody>
          <a:bodyPr/>
          <a:lstStyle/>
          <a:p>
            <a:endParaRPr/>
          </a:p>
        </p:txBody>
      </p:sp>
      <p:sp>
        <p:nvSpPr>
          <p:cNvPr id="15" name="Text 12"/>
          <p:cNvSpPr/>
          <p:nvPr/>
        </p:nvSpPr>
        <p:spPr>
          <a:xfrm>
            <a:off x="8311896" y="144475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AEROSPACE / DEFENSE</a:t>
            </a:r>
            <a:endParaRPr lang="en-US" sz="1100" dirty="0"/>
          </a:p>
        </p:txBody>
      </p:sp>
      <p:sp>
        <p:nvSpPr>
          <p:cNvPr id="16" name="Text 13"/>
          <p:cNvSpPr/>
          <p:nvPr/>
        </p:nvSpPr>
        <p:spPr>
          <a:xfrm>
            <a:off x="8311896" y="1764792"/>
            <a:ext cx="3182112" cy="13441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Restricted environments, sovereignty, long-lived assets</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Tradeoff: Long procurement/security cycles</a:t>
            </a:r>
            <a:endParaRPr lang="en-US" sz="950" dirty="0"/>
          </a:p>
        </p:txBody>
      </p:sp>
      <p:sp>
        <p:nvSpPr>
          <p:cNvPr id="17" name="Shape 14"/>
          <p:cNvSpPr/>
          <p:nvPr/>
        </p:nvSpPr>
        <p:spPr>
          <a:xfrm>
            <a:off x="594360" y="3566160"/>
            <a:ext cx="3456432" cy="1874520"/>
          </a:xfrm>
          <a:prstGeom prst="roundRect">
            <a:avLst>
              <a:gd name="adj" fmla="val 2439"/>
            </a:avLst>
          </a:prstGeom>
          <a:solidFill>
            <a:srgbClr val="0E1D2C"/>
          </a:solidFill>
          <a:ln w="12700">
            <a:solidFill>
              <a:srgbClr val="274052"/>
            </a:solidFill>
            <a:prstDash val="solid"/>
          </a:ln>
        </p:spPr>
        <p:txBody>
          <a:bodyPr/>
          <a:lstStyle/>
          <a:p>
            <a:endParaRPr/>
          </a:p>
        </p:txBody>
      </p:sp>
      <p:sp>
        <p:nvSpPr>
          <p:cNvPr id="18" name="Shape 15"/>
          <p:cNvSpPr/>
          <p:nvPr/>
        </p:nvSpPr>
        <p:spPr>
          <a:xfrm>
            <a:off x="594360" y="3566160"/>
            <a:ext cx="45720" cy="1874520"/>
          </a:xfrm>
          <a:prstGeom prst="rect">
            <a:avLst/>
          </a:prstGeom>
          <a:solidFill>
            <a:srgbClr val="4EA3D8"/>
          </a:solidFill>
          <a:ln w="12700">
            <a:solidFill>
              <a:srgbClr val="4EA3D8"/>
            </a:solidFill>
            <a:prstDash val="solid"/>
          </a:ln>
        </p:spPr>
        <p:txBody>
          <a:bodyPr/>
          <a:lstStyle/>
          <a:p>
            <a:endParaRPr/>
          </a:p>
        </p:txBody>
      </p:sp>
      <p:sp>
        <p:nvSpPr>
          <p:cNvPr id="19" name="Text 16"/>
          <p:cNvSpPr/>
          <p:nvPr/>
        </p:nvSpPr>
        <p:spPr>
          <a:xfrm>
            <a:off x="758952" y="368503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CHEMICAL / PROCESS</a:t>
            </a:r>
            <a:endParaRPr lang="en-US" sz="1100" dirty="0"/>
          </a:p>
        </p:txBody>
      </p:sp>
      <p:sp>
        <p:nvSpPr>
          <p:cNvPr id="20" name="Text 17"/>
          <p:cNvSpPr/>
          <p:nvPr/>
        </p:nvSpPr>
        <p:spPr>
          <a:xfrm>
            <a:off x="758952" y="4005072"/>
            <a:ext cx="3182112" cy="13441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Time-series RCA, upstream/downstream impact</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Tradeoff: Entrenched historian analytics</a:t>
            </a:r>
            <a:endParaRPr lang="en-US" sz="950" dirty="0"/>
          </a:p>
        </p:txBody>
      </p:sp>
      <p:sp>
        <p:nvSpPr>
          <p:cNvPr id="21" name="Shape 18"/>
          <p:cNvSpPr/>
          <p:nvPr/>
        </p:nvSpPr>
        <p:spPr>
          <a:xfrm>
            <a:off x="4370832" y="3566160"/>
            <a:ext cx="3456432" cy="1874520"/>
          </a:xfrm>
          <a:prstGeom prst="roundRect">
            <a:avLst>
              <a:gd name="adj" fmla="val 2439"/>
            </a:avLst>
          </a:prstGeom>
          <a:solidFill>
            <a:srgbClr val="0E1D2C"/>
          </a:solidFill>
          <a:ln w="12700">
            <a:solidFill>
              <a:srgbClr val="274052"/>
            </a:solidFill>
            <a:prstDash val="solid"/>
          </a:ln>
        </p:spPr>
        <p:txBody>
          <a:bodyPr/>
          <a:lstStyle/>
          <a:p>
            <a:endParaRPr/>
          </a:p>
        </p:txBody>
      </p:sp>
      <p:sp>
        <p:nvSpPr>
          <p:cNvPr id="22" name="Shape 19"/>
          <p:cNvSpPr/>
          <p:nvPr/>
        </p:nvSpPr>
        <p:spPr>
          <a:xfrm>
            <a:off x="4370832" y="3566160"/>
            <a:ext cx="45720" cy="1874520"/>
          </a:xfrm>
          <a:prstGeom prst="rect">
            <a:avLst/>
          </a:prstGeom>
          <a:solidFill>
            <a:srgbClr val="4EA3D8"/>
          </a:solidFill>
          <a:ln w="12700">
            <a:solidFill>
              <a:srgbClr val="4EA3D8"/>
            </a:solidFill>
            <a:prstDash val="solid"/>
          </a:ln>
        </p:spPr>
        <p:txBody>
          <a:bodyPr/>
          <a:lstStyle/>
          <a:p>
            <a:endParaRPr/>
          </a:p>
        </p:txBody>
      </p:sp>
      <p:sp>
        <p:nvSpPr>
          <p:cNvPr id="23" name="Text 20"/>
          <p:cNvSpPr/>
          <p:nvPr/>
        </p:nvSpPr>
        <p:spPr>
          <a:xfrm>
            <a:off x="4535424" y="368503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CRITICAL INFRASTRUCTURE</a:t>
            </a:r>
            <a:endParaRPr lang="en-US" sz="1100" dirty="0"/>
          </a:p>
        </p:txBody>
      </p:sp>
      <p:sp>
        <p:nvSpPr>
          <p:cNvPr id="24" name="Text 21"/>
          <p:cNvSpPr/>
          <p:nvPr/>
        </p:nvSpPr>
        <p:spPr>
          <a:xfrm>
            <a:off x="4535424" y="4005072"/>
            <a:ext cx="3182112" cy="13441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Continuity, isolation, strict boundaries</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Tradeoff: Highest assurance burden</a:t>
            </a:r>
            <a:endParaRPr lang="en-US" sz="950" dirty="0"/>
          </a:p>
        </p:txBody>
      </p:sp>
      <p:sp>
        <p:nvSpPr>
          <p:cNvPr id="25" name="Shape 22"/>
          <p:cNvSpPr/>
          <p:nvPr/>
        </p:nvSpPr>
        <p:spPr>
          <a:xfrm>
            <a:off x="8147304" y="3566160"/>
            <a:ext cx="3456432" cy="1874520"/>
          </a:xfrm>
          <a:prstGeom prst="roundRect">
            <a:avLst>
              <a:gd name="adj" fmla="val 2439"/>
            </a:avLst>
          </a:prstGeom>
          <a:solidFill>
            <a:srgbClr val="0E1D2C"/>
          </a:solidFill>
          <a:ln w="12700">
            <a:solidFill>
              <a:srgbClr val="274052"/>
            </a:solidFill>
            <a:prstDash val="solid"/>
          </a:ln>
        </p:spPr>
        <p:txBody>
          <a:bodyPr/>
          <a:lstStyle/>
          <a:p>
            <a:endParaRPr/>
          </a:p>
        </p:txBody>
      </p:sp>
      <p:sp>
        <p:nvSpPr>
          <p:cNvPr id="26" name="Shape 23"/>
          <p:cNvSpPr/>
          <p:nvPr/>
        </p:nvSpPr>
        <p:spPr>
          <a:xfrm>
            <a:off x="8147304" y="3566160"/>
            <a:ext cx="45720" cy="1874520"/>
          </a:xfrm>
          <a:prstGeom prst="rect">
            <a:avLst/>
          </a:prstGeom>
          <a:solidFill>
            <a:srgbClr val="4EA3D8"/>
          </a:solidFill>
          <a:ln w="12700">
            <a:solidFill>
              <a:srgbClr val="4EA3D8"/>
            </a:solidFill>
            <a:prstDash val="solid"/>
          </a:ln>
        </p:spPr>
        <p:txBody>
          <a:bodyPr/>
          <a:lstStyle/>
          <a:p>
            <a:endParaRPr/>
          </a:p>
        </p:txBody>
      </p:sp>
      <p:sp>
        <p:nvSpPr>
          <p:cNvPr id="27" name="Text 24"/>
          <p:cNvSpPr/>
          <p:nvPr/>
        </p:nvSpPr>
        <p:spPr>
          <a:xfrm>
            <a:off x="8311896" y="368503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DISCRETE / AUTOMOTIVE</a:t>
            </a:r>
            <a:endParaRPr lang="en-US" sz="1100" dirty="0"/>
          </a:p>
        </p:txBody>
      </p:sp>
      <p:sp>
        <p:nvSpPr>
          <p:cNvPr id="28" name="Text 25"/>
          <p:cNvSpPr/>
          <p:nvPr/>
        </p:nvSpPr>
        <p:spPr>
          <a:xfrm>
            <a:off x="8311896" y="4005072"/>
            <a:ext cx="3182112" cy="13441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Large brownfield base, multi-site replication</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Tradeoff: Crowded and price-sensitive</a:t>
            </a:r>
            <a:endParaRPr lang="en-US" sz="950" dirty="0"/>
          </a:p>
        </p:txBody>
      </p:sp>
      <p:sp>
        <p:nvSpPr>
          <p:cNvPr id="29" name="Text 26"/>
          <p:cNvSpPr/>
          <p:nvPr/>
        </p:nvSpPr>
        <p:spPr>
          <a:xfrm>
            <a:off x="658368" y="5760720"/>
            <a:ext cx="10789920" cy="292608"/>
          </a:xfrm>
          <a:prstGeom prst="rect">
            <a:avLst/>
          </a:prstGeom>
          <a:noFill/>
          <a:ln/>
        </p:spPr>
        <p:txBody>
          <a:bodyPr wrap="square" lIns="0" tIns="0" rIns="0" bIns="0" rtlCol="0" anchor="ctr">
            <a:normAutofit/>
          </a:bodyPr>
          <a:lstStyle/>
          <a:p>
            <a:pPr marL="0" indent="0" algn="l">
              <a:buNone/>
            </a:pPr>
            <a:r>
              <a:rPr lang="en-US" sz="1300" b="1" dirty="0">
                <a:solidFill>
                  <a:srgbClr val="F4F7FA"/>
                </a:solidFill>
                <a:latin typeface="Aptos" pitchFamily="34" charset="0"/>
                <a:ea typeface="Aptos" pitchFamily="34" charset="-122"/>
                <a:cs typeface="Aptos" pitchFamily="34" charset="-120"/>
              </a:rPr>
              <a:t>Beachhead metric: paid lighthouse plants → production conversion → sister-plant replication.</a:t>
            </a:r>
            <a:endParaRPr lang="en-US" sz="1300" dirty="0"/>
          </a:p>
        </p:txBody>
      </p:sp>
      <p:sp>
        <p:nvSpPr>
          <p:cNvPr id="30"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Brownfield first: add intelligence without replacing the plant</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DMI overlays existing controls and data systems.</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594360" y="1325880"/>
            <a:ext cx="1737360" cy="566928"/>
          </a:xfrm>
          <a:prstGeom prst="roundRect">
            <a:avLst>
              <a:gd name="adj" fmla="val 6452"/>
            </a:avLst>
          </a:prstGeom>
          <a:solidFill>
            <a:srgbClr val="122638"/>
          </a:solidFill>
          <a:ln w="12700">
            <a:solidFill>
              <a:srgbClr val="274052"/>
            </a:solidFill>
            <a:prstDash val="solid"/>
          </a:ln>
        </p:spPr>
        <p:txBody>
          <a:bodyPr/>
          <a:lstStyle/>
          <a:p>
            <a:endParaRPr/>
          </a:p>
        </p:txBody>
      </p:sp>
      <p:sp>
        <p:nvSpPr>
          <p:cNvPr id="6" name="Text 3"/>
          <p:cNvSpPr/>
          <p:nvPr/>
        </p:nvSpPr>
        <p:spPr>
          <a:xfrm>
            <a:off x="594360" y="1325880"/>
            <a:ext cx="1737360" cy="566928"/>
          </a:xfrm>
          <a:prstGeom prst="rect">
            <a:avLst/>
          </a:prstGeom>
          <a:noFill/>
          <a:ln/>
        </p:spPr>
        <p:txBody>
          <a:bodyPr wrap="square" lIns="0" tIns="0" rIns="0" bIns="0" rtlCol="0" anchor="ctr">
            <a:normAutofit/>
          </a:bodyPr>
          <a:lstStyle/>
          <a:p>
            <a:pPr marL="0" indent="0" algn="ctr">
              <a:buNone/>
            </a:pPr>
            <a:r>
              <a:rPr lang="en-US" sz="900" b="1" dirty="0">
                <a:solidFill>
                  <a:srgbClr val="F4F7FA"/>
                </a:solidFill>
                <a:latin typeface="Aptos" pitchFamily="34" charset="0"/>
                <a:ea typeface="Aptos" pitchFamily="34" charset="-122"/>
                <a:cs typeface="Aptos" pitchFamily="34" charset="-120"/>
              </a:rPr>
              <a:t>PLC / DCS</a:t>
            </a:r>
            <a:endParaRPr lang="en-US" sz="900" dirty="0"/>
          </a:p>
        </p:txBody>
      </p:sp>
      <p:sp>
        <p:nvSpPr>
          <p:cNvPr id="7" name="Shape 4"/>
          <p:cNvSpPr/>
          <p:nvPr/>
        </p:nvSpPr>
        <p:spPr>
          <a:xfrm>
            <a:off x="2331720" y="1609344"/>
            <a:ext cx="4480560" cy="1133856"/>
          </a:xfrm>
          <a:prstGeom prst="line">
            <a:avLst/>
          </a:prstGeom>
          <a:noFill/>
          <a:ln w="25400">
            <a:solidFill>
              <a:srgbClr val="8FA2B3"/>
            </a:solidFill>
            <a:prstDash val="solid"/>
            <a:headEnd type="none"/>
            <a:tailEnd type="triangle"/>
          </a:ln>
        </p:spPr>
        <p:txBody>
          <a:bodyPr/>
          <a:lstStyle/>
          <a:p>
            <a:endParaRPr/>
          </a:p>
        </p:txBody>
      </p:sp>
      <p:sp>
        <p:nvSpPr>
          <p:cNvPr id="8" name="Shape 5"/>
          <p:cNvSpPr/>
          <p:nvPr/>
        </p:nvSpPr>
        <p:spPr>
          <a:xfrm>
            <a:off x="2651760" y="1325880"/>
            <a:ext cx="1737360" cy="566928"/>
          </a:xfrm>
          <a:prstGeom prst="roundRect">
            <a:avLst>
              <a:gd name="adj" fmla="val 6452"/>
            </a:avLst>
          </a:prstGeom>
          <a:solidFill>
            <a:srgbClr val="122638"/>
          </a:solidFill>
          <a:ln w="12700">
            <a:solidFill>
              <a:srgbClr val="274052"/>
            </a:solidFill>
            <a:prstDash val="solid"/>
          </a:ln>
        </p:spPr>
        <p:txBody>
          <a:bodyPr/>
          <a:lstStyle/>
          <a:p>
            <a:endParaRPr/>
          </a:p>
        </p:txBody>
      </p:sp>
      <p:sp>
        <p:nvSpPr>
          <p:cNvPr id="9" name="Text 6"/>
          <p:cNvSpPr/>
          <p:nvPr/>
        </p:nvSpPr>
        <p:spPr>
          <a:xfrm>
            <a:off x="2651760" y="1325880"/>
            <a:ext cx="1737360" cy="566928"/>
          </a:xfrm>
          <a:prstGeom prst="rect">
            <a:avLst/>
          </a:prstGeom>
          <a:noFill/>
          <a:ln/>
        </p:spPr>
        <p:txBody>
          <a:bodyPr wrap="square" lIns="0" tIns="0" rIns="0" bIns="0" rtlCol="0" anchor="ctr">
            <a:normAutofit/>
          </a:bodyPr>
          <a:lstStyle/>
          <a:p>
            <a:pPr marL="0" indent="0" algn="ctr">
              <a:buNone/>
            </a:pPr>
            <a:r>
              <a:rPr lang="en-US" sz="900" b="1" dirty="0">
                <a:solidFill>
                  <a:srgbClr val="F4F7FA"/>
                </a:solidFill>
                <a:latin typeface="Aptos" pitchFamily="34" charset="0"/>
                <a:ea typeface="Aptos" pitchFamily="34" charset="-122"/>
                <a:cs typeface="Aptos" pitchFamily="34" charset="-120"/>
              </a:rPr>
              <a:t>SCADA</a:t>
            </a:r>
            <a:endParaRPr lang="en-US" sz="900" dirty="0"/>
          </a:p>
        </p:txBody>
      </p:sp>
      <p:sp>
        <p:nvSpPr>
          <p:cNvPr id="10" name="Shape 7"/>
          <p:cNvSpPr/>
          <p:nvPr/>
        </p:nvSpPr>
        <p:spPr>
          <a:xfrm>
            <a:off x="4389120" y="1609344"/>
            <a:ext cx="2423160" cy="1133856"/>
          </a:xfrm>
          <a:prstGeom prst="line">
            <a:avLst/>
          </a:prstGeom>
          <a:noFill/>
          <a:ln w="25400">
            <a:solidFill>
              <a:srgbClr val="8FA2B3"/>
            </a:solidFill>
            <a:prstDash val="solid"/>
            <a:headEnd type="none"/>
            <a:tailEnd type="triangle"/>
          </a:ln>
        </p:spPr>
        <p:txBody>
          <a:bodyPr/>
          <a:lstStyle/>
          <a:p>
            <a:endParaRPr/>
          </a:p>
        </p:txBody>
      </p:sp>
      <p:sp>
        <p:nvSpPr>
          <p:cNvPr id="11" name="Shape 8"/>
          <p:cNvSpPr/>
          <p:nvPr/>
        </p:nvSpPr>
        <p:spPr>
          <a:xfrm>
            <a:off x="4709160" y="1325880"/>
            <a:ext cx="1737360" cy="566928"/>
          </a:xfrm>
          <a:prstGeom prst="roundRect">
            <a:avLst>
              <a:gd name="adj" fmla="val 6452"/>
            </a:avLst>
          </a:prstGeom>
          <a:solidFill>
            <a:srgbClr val="122638"/>
          </a:solidFill>
          <a:ln w="12700">
            <a:solidFill>
              <a:srgbClr val="274052"/>
            </a:solidFill>
            <a:prstDash val="solid"/>
          </a:ln>
        </p:spPr>
        <p:txBody>
          <a:bodyPr/>
          <a:lstStyle/>
          <a:p>
            <a:endParaRPr/>
          </a:p>
        </p:txBody>
      </p:sp>
      <p:sp>
        <p:nvSpPr>
          <p:cNvPr id="12" name="Text 9"/>
          <p:cNvSpPr/>
          <p:nvPr/>
        </p:nvSpPr>
        <p:spPr>
          <a:xfrm>
            <a:off x="4709160" y="1325880"/>
            <a:ext cx="1737360" cy="566928"/>
          </a:xfrm>
          <a:prstGeom prst="rect">
            <a:avLst/>
          </a:prstGeom>
          <a:noFill/>
          <a:ln/>
        </p:spPr>
        <p:txBody>
          <a:bodyPr wrap="square" lIns="0" tIns="0" rIns="0" bIns="0" rtlCol="0" anchor="ctr">
            <a:normAutofit/>
          </a:bodyPr>
          <a:lstStyle/>
          <a:p>
            <a:pPr marL="0" indent="0" algn="ctr">
              <a:buNone/>
            </a:pPr>
            <a:r>
              <a:rPr lang="en-US" sz="900" b="1" dirty="0">
                <a:solidFill>
                  <a:srgbClr val="F4F7FA"/>
                </a:solidFill>
                <a:latin typeface="Aptos" pitchFamily="34" charset="0"/>
                <a:ea typeface="Aptos" pitchFamily="34" charset="-122"/>
                <a:cs typeface="Aptos" pitchFamily="34" charset="-120"/>
              </a:rPr>
              <a:t>Historian</a:t>
            </a:r>
            <a:endParaRPr lang="en-US" sz="900" dirty="0"/>
          </a:p>
        </p:txBody>
      </p:sp>
      <p:sp>
        <p:nvSpPr>
          <p:cNvPr id="13" name="Shape 10"/>
          <p:cNvSpPr/>
          <p:nvPr/>
        </p:nvSpPr>
        <p:spPr>
          <a:xfrm>
            <a:off x="6446520" y="1609344"/>
            <a:ext cx="365760" cy="1133856"/>
          </a:xfrm>
          <a:prstGeom prst="line">
            <a:avLst/>
          </a:prstGeom>
          <a:noFill/>
          <a:ln w="25400">
            <a:solidFill>
              <a:srgbClr val="8FA2B3"/>
            </a:solidFill>
            <a:prstDash val="solid"/>
            <a:headEnd type="none"/>
            <a:tailEnd type="triangle"/>
          </a:ln>
        </p:spPr>
        <p:txBody>
          <a:bodyPr/>
          <a:lstStyle/>
          <a:p>
            <a:endParaRPr/>
          </a:p>
        </p:txBody>
      </p:sp>
      <p:sp>
        <p:nvSpPr>
          <p:cNvPr id="14" name="Shape 11"/>
          <p:cNvSpPr/>
          <p:nvPr/>
        </p:nvSpPr>
        <p:spPr>
          <a:xfrm>
            <a:off x="594360" y="2286000"/>
            <a:ext cx="1737360" cy="566928"/>
          </a:xfrm>
          <a:prstGeom prst="roundRect">
            <a:avLst>
              <a:gd name="adj" fmla="val 6452"/>
            </a:avLst>
          </a:prstGeom>
          <a:solidFill>
            <a:srgbClr val="122638"/>
          </a:solidFill>
          <a:ln w="12700">
            <a:solidFill>
              <a:srgbClr val="274052"/>
            </a:solidFill>
            <a:prstDash val="solid"/>
          </a:ln>
        </p:spPr>
        <p:txBody>
          <a:bodyPr/>
          <a:lstStyle/>
          <a:p>
            <a:endParaRPr/>
          </a:p>
        </p:txBody>
      </p:sp>
      <p:sp>
        <p:nvSpPr>
          <p:cNvPr id="15" name="Text 12"/>
          <p:cNvSpPr/>
          <p:nvPr/>
        </p:nvSpPr>
        <p:spPr>
          <a:xfrm>
            <a:off x="594360" y="2286000"/>
            <a:ext cx="1737360" cy="566928"/>
          </a:xfrm>
          <a:prstGeom prst="rect">
            <a:avLst/>
          </a:prstGeom>
          <a:noFill/>
          <a:ln/>
        </p:spPr>
        <p:txBody>
          <a:bodyPr wrap="square" lIns="0" tIns="0" rIns="0" bIns="0" rtlCol="0" anchor="ctr">
            <a:normAutofit/>
          </a:bodyPr>
          <a:lstStyle/>
          <a:p>
            <a:pPr marL="0" indent="0" algn="ctr">
              <a:buNone/>
            </a:pPr>
            <a:r>
              <a:rPr lang="en-US" sz="900" b="1" dirty="0">
                <a:solidFill>
                  <a:srgbClr val="F4F7FA"/>
                </a:solidFill>
                <a:latin typeface="Aptos" pitchFamily="34" charset="0"/>
                <a:ea typeface="Aptos" pitchFamily="34" charset="-122"/>
                <a:cs typeface="Aptos" pitchFamily="34" charset="-120"/>
              </a:rPr>
              <a:t>MES</a:t>
            </a:r>
            <a:endParaRPr lang="en-US" sz="900" dirty="0"/>
          </a:p>
        </p:txBody>
      </p:sp>
      <p:sp>
        <p:nvSpPr>
          <p:cNvPr id="16" name="Shape 13"/>
          <p:cNvSpPr/>
          <p:nvPr/>
        </p:nvSpPr>
        <p:spPr>
          <a:xfrm>
            <a:off x="2331720" y="2569464"/>
            <a:ext cx="4480560" cy="173736"/>
          </a:xfrm>
          <a:prstGeom prst="line">
            <a:avLst/>
          </a:prstGeom>
          <a:noFill/>
          <a:ln w="25400">
            <a:solidFill>
              <a:srgbClr val="8FA2B3"/>
            </a:solidFill>
            <a:prstDash val="solid"/>
            <a:headEnd type="none"/>
            <a:tailEnd type="triangle"/>
          </a:ln>
        </p:spPr>
        <p:txBody>
          <a:bodyPr/>
          <a:lstStyle/>
          <a:p>
            <a:endParaRPr/>
          </a:p>
        </p:txBody>
      </p:sp>
      <p:sp>
        <p:nvSpPr>
          <p:cNvPr id="17" name="Shape 14"/>
          <p:cNvSpPr/>
          <p:nvPr/>
        </p:nvSpPr>
        <p:spPr>
          <a:xfrm>
            <a:off x="2651760" y="2286000"/>
            <a:ext cx="1737360" cy="566928"/>
          </a:xfrm>
          <a:prstGeom prst="roundRect">
            <a:avLst>
              <a:gd name="adj" fmla="val 6452"/>
            </a:avLst>
          </a:prstGeom>
          <a:solidFill>
            <a:srgbClr val="122638"/>
          </a:solidFill>
          <a:ln w="12700">
            <a:solidFill>
              <a:srgbClr val="274052"/>
            </a:solidFill>
            <a:prstDash val="solid"/>
          </a:ln>
        </p:spPr>
        <p:txBody>
          <a:bodyPr/>
          <a:lstStyle/>
          <a:p>
            <a:endParaRPr/>
          </a:p>
        </p:txBody>
      </p:sp>
      <p:sp>
        <p:nvSpPr>
          <p:cNvPr id="18" name="Text 15"/>
          <p:cNvSpPr/>
          <p:nvPr/>
        </p:nvSpPr>
        <p:spPr>
          <a:xfrm>
            <a:off x="2651760" y="2286000"/>
            <a:ext cx="1737360" cy="566928"/>
          </a:xfrm>
          <a:prstGeom prst="rect">
            <a:avLst/>
          </a:prstGeom>
          <a:noFill/>
          <a:ln/>
        </p:spPr>
        <p:txBody>
          <a:bodyPr wrap="square" lIns="0" tIns="0" rIns="0" bIns="0" rtlCol="0" anchor="ctr">
            <a:normAutofit/>
          </a:bodyPr>
          <a:lstStyle/>
          <a:p>
            <a:pPr marL="0" indent="0" algn="ctr">
              <a:buNone/>
            </a:pPr>
            <a:r>
              <a:rPr lang="en-US" sz="900" b="1" dirty="0">
                <a:solidFill>
                  <a:srgbClr val="F4F7FA"/>
                </a:solidFill>
                <a:latin typeface="Aptos" pitchFamily="34" charset="0"/>
                <a:ea typeface="Aptos" pitchFamily="34" charset="-122"/>
                <a:cs typeface="Aptos" pitchFamily="34" charset="-120"/>
              </a:rPr>
              <a:t>QMS</a:t>
            </a:r>
            <a:endParaRPr lang="en-US" sz="900" dirty="0"/>
          </a:p>
        </p:txBody>
      </p:sp>
      <p:sp>
        <p:nvSpPr>
          <p:cNvPr id="19" name="Shape 16"/>
          <p:cNvSpPr/>
          <p:nvPr/>
        </p:nvSpPr>
        <p:spPr>
          <a:xfrm>
            <a:off x="4389120" y="2569464"/>
            <a:ext cx="2423160" cy="173736"/>
          </a:xfrm>
          <a:prstGeom prst="line">
            <a:avLst/>
          </a:prstGeom>
          <a:noFill/>
          <a:ln w="25400">
            <a:solidFill>
              <a:srgbClr val="8FA2B3"/>
            </a:solidFill>
            <a:prstDash val="solid"/>
            <a:headEnd type="none"/>
            <a:tailEnd type="triangle"/>
          </a:ln>
        </p:spPr>
        <p:txBody>
          <a:bodyPr/>
          <a:lstStyle/>
          <a:p>
            <a:endParaRPr/>
          </a:p>
        </p:txBody>
      </p:sp>
      <p:sp>
        <p:nvSpPr>
          <p:cNvPr id="20" name="Shape 17"/>
          <p:cNvSpPr/>
          <p:nvPr/>
        </p:nvSpPr>
        <p:spPr>
          <a:xfrm>
            <a:off x="4709160" y="2286000"/>
            <a:ext cx="1737360" cy="566928"/>
          </a:xfrm>
          <a:prstGeom prst="roundRect">
            <a:avLst>
              <a:gd name="adj" fmla="val 6452"/>
            </a:avLst>
          </a:prstGeom>
          <a:solidFill>
            <a:srgbClr val="122638"/>
          </a:solidFill>
          <a:ln w="12700">
            <a:solidFill>
              <a:srgbClr val="274052"/>
            </a:solidFill>
            <a:prstDash val="solid"/>
          </a:ln>
        </p:spPr>
        <p:txBody>
          <a:bodyPr/>
          <a:lstStyle/>
          <a:p>
            <a:endParaRPr/>
          </a:p>
        </p:txBody>
      </p:sp>
      <p:sp>
        <p:nvSpPr>
          <p:cNvPr id="21" name="Text 18"/>
          <p:cNvSpPr/>
          <p:nvPr/>
        </p:nvSpPr>
        <p:spPr>
          <a:xfrm>
            <a:off x="4709160" y="2286000"/>
            <a:ext cx="1737360" cy="566928"/>
          </a:xfrm>
          <a:prstGeom prst="rect">
            <a:avLst/>
          </a:prstGeom>
          <a:noFill/>
          <a:ln/>
        </p:spPr>
        <p:txBody>
          <a:bodyPr wrap="square" lIns="0" tIns="0" rIns="0" bIns="0" rtlCol="0" anchor="ctr">
            <a:normAutofit/>
          </a:bodyPr>
          <a:lstStyle/>
          <a:p>
            <a:pPr marL="0" indent="0" algn="ctr">
              <a:buNone/>
            </a:pPr>
            <a:r>
              <a:rPr lang="en-US" sz="900" b="1" dirty="0">
                <a:solidFill>
                  <a:srgbClr val="F4F7FA"/>
                </a:solidFill>
                <a:latin typeface="Aptos" pitchFamily="34" charset="0"/>
                <a:ea typeface="Aptos" pitchFamily="34" charset="-122"/>
                <a:cs typeface="Aptos" pitchFamily="34" charset="-120"/>
              </a:rPr>
              <a:t>Databases / Files</a:t>
            </a:r>
            <a:endParaRPr lang="en-US" sz="900" dirty="0"/>
          </a:p>
        </p:txBody>
      </p:sp>
      <p:sp>
        <p:nvSpPr>
          <p:cNvPr id="22" name="Shape 19"/>
          <p:cNvSpPr/>
          <p:nvPr/>
        </p:nvSpPr>
        <p:spPr>
          <a:xfrm>
            <a:off x="6446520" y="2569464"/>
            <a:ext cx="365760" cy="173736"/>
          </a:xfrm>
          <a:prstGeom prst="line">
            <a:avLst/>
          </a:prstGeom>
          <a:noFill/>
          <a:ln w="25400">
            <a:solidFill>
              <a:srgbClr val="8FA2B3"/>
            </a:solidFill>
            <a:prstDash val="solid"/>
            <a:headEnd type="none"/>
            <a:tailEnd type="triangle"/>
          </a:ln>
        </p:spPr>
        <p:txBody>
          <a:bodyPr/>
          <a:lstStyle/>
          <a:p>
            <a:endParaRPr/>
          </a:p>
        </p:txBody>
      </p:sp>
      <p:sp>
        <p:nvSpPr>
          <p:cNvPr id="23" name="Shape 20"/>
          <p:cNvSpPr/>
          <p:nvPr/>
        </p:nvSpPr>
        <p:spPr>
          <a:xfrm>
            <a:off x="6903720" y="2057400"/>
            <a:ext cx="1874520" cy="1234440"/>
          </a:xfrm>
          <a:prstGeom prst="roundRect">
            <a:avLst>
              <a:gd name="adj" fmla="val 3704"/>
            </a:avLst>
          </a:prstGeom>
          <a:solidFill>
            <a:srgbClr val="4EA3D8"/>
          </a:solidFill>
          <a:ln w="12700">
            <a:solidFill>
              <a:srgbClr val="4EA3D8"/>
            </a:solidFill>
            <a:prstDash val="solid"/>
          </a:ln>
        </p:spPr>
        <p:txBody>
          <a:bodyPr/>
          <a:lstStyle/>
          <a:p>
            <a:endParaRPr/>
          </a:p>
        </p:txBody>
      </p:sp>
      <p:sp>
        <p:nvSpPr>
          <p:cNvPr id="24" name="Text 21"/>
          <p:cNvSpPr/>
          <p:nvPr/>
        </p:nvSpPr>
        <p:spPr>
          <a:xfrm>
            <a:off x="6903720" y="2057400"/>
            <a:ext cx="1874520" cy="1234440"/>
          </a:xfrm>
          <a:prstGeom prst="rect">
            <a:avLst/>
          </a:prstGeom>
          <a:noFill/>
          <a:ln/>
        </p:spPr>
        <p:txBody>
          <a:bodyPr wrap="square" lIns="0" tIns="0" rIns="0" bIns="0" rtlCol="0" anchor="ctr">
            <a:normAutofit/>
          </a:bodyPr>
          <a:lstStyle/>
          <a:p>
            <a:pPr marL="0" indent="0" algn="ctr">
              <a:buNone/>
            </a:pPr>
            <a:r>
              <a:rPr lang="en-US" sz="1300" b="1" dirty="0">
                <a:solidFill>
                  <a:srgbClr val="F4F7FA"/>
                </a:solidFill>
                <a:latin typeface="Aptos" pitchFamily="34" charset="0"/>
                <a:ea typeface="Aptos" pitchFamily="34" charset="-122"/>
                <a:cs typeface="Aptos" pitchFamily="34" charset="-120"/>
              </a:rPr>
              <a:t>ANYLOG</a:t>
            </a:r>
            <a:endParaRPr lang="en-US" sz="1300" dirty="0"/>
          </a:p>
          <a:p>
            <a:pPr marL="0" indent="0" algn="ctr">
              <a:buNone/>
            </a:pPr>
            <a:r>
              <a:rPr lang="en-US" sz="1300" b="1" dirty="0">
                <a:solidFill>
                  <a:srgbClr val="F4F7FA"/>
                </a:solidFill>
                <a:latin typeface="Aptos" pitchFamily="34" charset="0"/>
                <a:ea typeface="Aptos" pitchFamily="34" charset="-122"/>
                <a:cs typeface="Aptos" pitchFamily="34" charset="-120"/>
              </a:rPr>
              <a:t>DATA FABRIC</a:t>
            </a:r>
            <a:endParaRPr lang="en-US" sz="1300" dirty="0"/>
          </a:p>
        </p:txBody>
      </p:sp>
      <p:sp>
        <p:nvSpPr>
          <p:cNvPr id="25" name="Shape 22"/>
          <p:cNvSpPr/>
          <p:nvPr/>
        </p:nvSpPr>
        <p:spPr>
          <a:xfrm>
            <a:off x="8778240" y="2670048"/>
            <a:ext cx="594360" cy="0"/>
          </a:xfrm>
          <a:prstGeom prst="line">
            <a:avLst/>
          </a:prstGeom>
          <a:noFill/>
          <a:ln w="25400">
            <a:solidFill>
              <a:srgbClr val="C85D37"/>
            </a:solidFill>
            <a:prstDash val="solid"/>
            <a:headEnd type="none"/>
            <a:tailEnd type="triangle"/>
          </a:ln>
        </p:spPr>
        <p:txBody>
          <a:bodyPr/>
          <a:lstStyle/>
          <a:p>
            <a:endParaRPr/>
          </a:p>
        </p:txBody>
      </p:sp>
      <p:sp>
        <p:nvSpPr>
          <p:cNvPr id="26" name="Shape 23"/>
          <p:cNvSpPr/>
          <p:nvPr/>
        </p:nvSpPr>
        <p:spPr>
          <a:xfrm>
            <a:off x="9464040" y="1874520"/>
            <a:ext cx="2057400" cy="1600200"/>
          </a:xfrm>
          <a:prstGeom prst="roundRect">
            <a:avLst>
              <a:gd name="adj" fmla="val 2857"/>
            </a:avLst>
          </a:prstGeom>
          <a:solidFill>
            <a:srgbClr val="C85D37"/>
          </a:solidFill>
          <a:ln w="12700">
            <a:solidFill>
              <a:srgbClr val="C85D37"/>
            </a:solidFill>
            <a:prstDash val="solid"/>
          </a:ln>
        </p:spPr>
        <p:txBody>
          <a:bodyPr/>
          <a:lstStyle/>
          <a:p>
            <a:endParaRPr/>
          </a:p>
        </p:txBody>
      </p:sp>
      <p:sp>
        <p:nvSpPr>
          <p:cNvPr id="27" name="Text 24"/>
          <p:cNvSpPr/>
          <p:nvPr/>
        </p:nvSpPr>
        <p:spPr>
          <a:xfrm>
            <a:off x="9464040" y="1874520"/>
            <a:ext cx="2057400" cy="1600200"/>
          </a:xfrm>
          <a:prstGeom prst="rect">
            <a:avLst/>
          </a:prstGeom>
          <a:noFill/>
          <a:ln/>
        </p:spPr>
        <p:txBody>
          <a:bodyPr wrap="square" lIns="0" tIns="0" rIns="0" bIns="0" rtlCol="0" anchor="ctr">
            <a:normAutofit/>
          </a:bodyPr>
          <a:lstStyle/>
          <a:p>
            <a:pPr marL="0" indent="0" algn="ctr">
              <a:buNone/>
            </a:pPr>
            <a:r>
              <a:rPr lang="en-US" sz="1200" b="1" dirty="0">
                <a:solidFill>
                  <a:srgbClr val="F4F7FA"/>
                </a:solidFill>
                <a:latin typeface="Aptos" pitchFamily="34" charset="0"/>
                <a:ea typeface="Aptos" pitchFamily="34" charset="-122"/>
                <a:cs typeface="Aptos" pitchFamily="34" charset="-120"/>
              </a:rPr>
              <a:t>DMI</a:t>
            </a:r>
            <a:endParaRPr lang="en-US" sz="1200" dirty="0"/>
          </a:p>
          <a:p>
            <a:pPr marL="0" indent="0" algn="ctr">
              <a:buNone/>
            </a:pPr>
            <a:r>
              <a:rPr lang="en-US" sz="1200" b="1" dirty="0">
                <a:solidFill>
                  <a:srgbClr val="F4F7FA"/>
                </a:solidFill>
                <a:latin typeface="Aptos" pitchFamily="34" charset="0"/>
                <a:ea typeface="Aptos" pitchFamily="34" charset="-122"/>
                <a:cs typeface="Aptos" pitchFamily="34" charset="-120"/>
              </a:rPr>
              <a:t>INVESTIGATION</a:t>
            </a:r>
            <a:endParaRPr lang="en-US" sz="1200" dirty="0"/>
          </a:p>
          <a:p>
            <a:pPr marL="0" indent="0" algn="ctr">
              <a:buNone/>
            </a:pPr>
            <a:r>
              <a:rPr lang="en-US" sz="1200" b="1" dirty="0">
                <a:solidFill>
                  <a:srgbClr val="F4F7FA"/>
                </a:solidFill>
                <a:latin typeface="Aptos" pitchFamily="34" charset="0"/>
                <a:ea typeface="Aptos" pitchFamily="34" charset="-122"/>
                <a:cs typeface="Aptos" pitchFamily="34" charset="-120"/>
              </a:rPr>
              <a:t>INTELLIGENCE</a:t>
            </a:r>
            <a:endParaRPr lang="en-US" sz="1200" dirty="0"/>
          </a:p>
        </p:txBody>
      </p:sp>
      <p:sp>
        <p:nvSpPr>
          <p:cNvPr id="28" name="Shape 25"/>
          <p:cNvSpPr/>
          <p:nvPr/>
        </p:nvSpPr>
        <p:spPr>
          <a:xfrm>
            <a:off x="640080" y="4023360"/>
            <a:ext cx="3337560" cy="1234440"/>
          </a:xfrm>
          <a:prstGeom prst="roundRect">
            <a:avLst>
              <a:gd name="adj" fmla="val 3704"/>
            </a:avLst>
          </a:prstGeom>
          <a:solidFill>
            <a:srgbClr val="0E1D2C"/>
          </a:solidFill>
          <a:ln w="12700">
            <a:solidFill>
              <a:srgbClr val="274052"/>
            </a:solidFill>
            <a:prstDash val="solid"/>
          </a:ln>
        </p:spPr>
        <p:txBody>
          <a:bodyPr/>
          <a:lstStyle/>
          <a:p>
            <a:endParaRPr/>
          </a:p>
        </p:txBody>
      </p:sp>
      <p:sp>
        <p:nvSpPr>
          <p:cNvPr id="29" name="Shape 26"/>
          <p:cNvSpPr/>
          <p:nvPr/>
        </p:nvSpPr>
        <p:spPr>
          <a:xfrm>
            <a:off x="640080" y="4023360"/>
            <a:ext cx="45720" cy="1234440"/>
          </a:xfrm>
          <a:prstGeom prst="rect">
            <a:avLst/>
          </a:prstGeom>
          <a:solidFill>
            <a:srgbClr val="50B89B"/>
          </a:solidFill>
          <a:ln w="12700">
            <a:solidFill>
              <a:srgbClr val="50B89B"/>
            </a:solidFill>
            <a:prstDash val="solid"/>
          </a:ln>
        </p:spPr>
        <p:txBody>
          <a:bodyPr/>
          <a:lstStyle/>
          <a:p>
            <a:endParaRPr/>
          </a:p>
        </p:txBody>
      </p:sp>
      <p:sp>
        <p:nvSpPr>
          <p:cNvPr id="30" name="Text 27"/>
          <p:cNvSpPr/>
          <p:nvPr/>
        </p:nvSpPr>
        <p:spPr>
          <a:xfrm>
            <a:off x="804672" y="4142232"/>
            <a:ext cx="306324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READ-FIRST</a:t>
            </a:r>
            <a:endParaRPr lang="en-US" sz="1100" dirty="0"/>
          </a:p>
        </p:txBody>
      </p:sp>
      <p:sp>
        <p:nvSpPr>
          <p:cNvPr id="31" name="Text 28"/>
          <p:cNvSpPr/>
          <p:nvPr/>
        </p:nvSpPr>
        <p:spPr>
          <a:xfrm>
            <a:off x="804672" y="4462272"/>
            <a:ext cx="3063240" cy="7040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Avoid PLC/control writes in early deployments; reduce operational and validation risk.</a:t>
            </a:r>
            <a:endParaRPr lang="en-US" sz="950" dirty="0"/>
          </a:p>
        </p:txBody>
      </p:sp>
      <p:sp>
        <p:nvSpPr>
          <p:cNvPr id="32" name="Shape 29"/>
          <p:cNvSpPr/>
          <p:nvPr/>
        </p:nvSpPr>
        <p:spPr>
          <a:xfrm>
            <a:off x="4297680" y="4023360"/>
            <a:ext cx="3337560" cy="1234440"/>
          </a:xfrm>
          <a:prstGeom prst="roundRect">
            <a:avLst>
              <a:gd name="adj" fmla="val 3704"/>
            </a:avLst>
          </a:prstGeom>
          <a:solidFill>
            <a:srgbClr val="0E1D2C"/>
          </a:solidFill>
          <a:ln w="12700">
            <a:solidFill>
              <a:srgbClr val="274052"/>
            </a:solidFill>
            <a:prstDash val="solid"/>
          </a:ln>
        </p:spPr>
        <p:txBody>
          <a:bodyPr/>
          <a:lstStyle/>
          <a:p>
            <a:endParaRPr/>
          </a:p>
        </p:txBody>
      </p:sp>
      <p:sp>
        <p:nvSpPr>
          <p:cNvPr id="33" name="Shape 30"/>
          <p:cNvSpPr/>
          <p:nvPr/>
        </p:nvSpPr>
        <p:spPr>
          <a:xfrm>
            <a:off x="4297680" y="4023360"/>
            <a:ext cx="45720" cy="1234440"/>
          </a:xfrm>
          <a:prstGeom prst="rect">
            <a:avLst/>
          </a:prstGeom>
          <a:solidFill>
            <a:srgbClr val="C85D37"/>
          </a:solidFill>
          <a:ln w="12700">
            <a:solidFill>
              <a:srgbClr val="C85D37"/>
            </a:solidFill>
            <a:prstDash val="solid"/>
          </a:ln>
        </p:spPr>
        <p:txBody>
          <a:bodyPr/>
          <a:lstStyle/>
          <a:p>
            <a:endParaRPr/>
          </a:p>
        </p:txBody>
      </p:sp>
      <p:sp>
        <p:nvSpPr>
          <p:cNvPr id="34" name="Text 31"/>
          <p:cNvSpPr/>
          <p:nvPr/>
        </p:nvSpPr>
        <p:spPr>
          <a:xfrm>
            <a:off x="4462272" y="4142232"/>
            <a:ext cx="306324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NARROW WORKFLOW</a:t>
            </a:r>
            <a:endParaRPr lang="en-US" sz="1100" dirty="0"/>
          </a:p>
        </p:txBody>
      </p:sp>
      <p:sp>
        <p:nvSpPr>
          <p:cNvPr id="35" name="Text 32"/>
          <p:cNvSpPr/>
          <p:nvPr/>
        </p:nvSpPr>
        <p:spPr>
          <a:xfrm>
            <a:off x="4462272" y="4462272"/>
            <a:ext cx="3063240" cy="7040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Model only the process chain needed for the paid investigation.</a:t>
            </a:r>
            <a:endParaRPr lang="en-US" sz="950" dirty="0"/>
          </a:p>
        </p:txBody>
      </p:sp>
      <p:sp>
        <p:nvSpPr>
          <p:cNvPr id="36" name="Shape 33"/>
          <p:cNvSpPr/>
          <p:nvPr/>
        </p:nvSpPr>
        <p:spPr>
          <a:xfrm>
            <a:off x="7955280" y="4023360"/>
            <a:ext cx="3337560" cy="1234440"/>
          </a:xfrm>
          <a:prstGeom prst="roundRect">
            <a:avLst>
              <a:gd name="adj" fmla="val 3704"/>
            </a:avLst>
          </a:prstGeom>
          <a:solidFill>
            <a:srgbClr val="0E1D2C"/>
          </a:solidFill>
          <a:ln w="12700">
            <a:solidFill>
              <a:srgbClr val="274052"/>
            </a:solidFill>
            <a:prstDash val="solid"/>
          </a:ln>
        </p:spPr>
        <p:txBody>
          <a:bodyPr/>
          <a:lstStyle/>
          <a:p>
            <a:endParaRPr/>
          </a:p>
        </p:txBody>
      </p:sp>
      <p:sp>
        <p:nvSpPr>
          <p:cNvPr id="37" name="Shape 34"/>
          <p:cNvSpPr/>
          <p:nvPr/>
        </p:nvSpPr>
        <p:spPr>
          <a:xfrm>
            <a:off x="7955280" y="4023360"/>
            <a:ext cx="45720" cy="1234440"/>
          </a:xfrm>
          <a:prstGeom prst="rect">
            <a:avLst/>
          </a:prstGeom>
          <a:solidFill>
            <a:srgbClr val="4EA3D8"/>
          </a:solidFill>
          <a:ln w="12700">
            <a:solidFill>
              <a:srgbClr val="4EA3D8"/>
            </a:solidFill>
            <a:prstDash val="solid"/>
          </a:ln>
        </p:spPr>
        <p:txBody>
          <a:bodyPr/>
          <a:lstStyle/>
          <a:p>
            <a:endParaRPr/>
          </a:p>
        </p:txBody>
      </p:sp>
      <p:sp>
        <p:nvSpPr>
          <p:cNvPr id="38" name="Text 35"/>
          <p:cNvSpPr/>
          <p:nvPr/>
        </p:nvSpPr>
        <p:spPr>
          <a:xfrm>
            <a:off x="8119872" y="4142232"/>
            <a:ext cx="306324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REPLICATE</a:t>
            </a:r>
            <a:endParaRPr lang="en-US" sz="1100" dirty="0"/>
          </a:p>
        </p:txBody>
      </p:sp>
      <p:sp>
        <p:nvSpPr>
          <p:cNvPr id="39" name="Text 36"/>
          <p:cNvSpPr/>
          <p:nvPr/>
        </p:nvSpPr>
        <p:spPr>
          <a:xfrm>
            <a:off x="8119872" y="4462272"/>
            <a:ext cx="3063240" cy="7040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Turn node contracts, connectors, process templates and skills into the sister-plant expansion kit.</a:t>
            </a:r>
            <a:endParaRPr lang="en-US" sz="950" dirty="0"/>
          </a:p>
        </p:txBody>
      </p:sp>
      <p:sp>
        <p:nvSpPr>
          <p:cNvPr id="40"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Competitive matrix</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The market is crowded; DMI differentiation is a combination that must be proven.</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502920" y="1234440"/>
            <a:ext cx="1828800" cy="438912"/>
          </a:xfrm>
          <a:prstGeom prst="rect">
            <a:avLst/>
          </a:prstGeom>
          <a:solidFill>
            <a:srgbClr val="122638"/>
          </a:solidFill>
          <a:ln w="12700">
            <a:solidFill>
              <a:srgbClr val="274052"/>
            </a:solidFill>
            <a:prstDash val="solid"/>
          </a:ln>
        </p:spPr>
        <p:txBody>
          <a:bodyPr/>
          <a:lstStyle/>
          <a:p>
            <a:endParaRPr/>
          </a:p>
        </p:txBody>
      </p:sp>
      <p:sp>
        <p:nvSpPr>
          <p:cNvPr id="6" name="Text 3"/>
          <p:cNvSpPr/>
          <p:nvPr/>
        </p:nvSpPr>
        <p:spPr>
          <a:xfrm>
            <a:off x="576072" y="1234440"/>
            <a:ext cx="1682496" cy="438912"/>
          </a:xfrm>
          <a:prstGeom prst="rect">
            <a:avLst/>
          </a:prstGeom>
          <a:noFill/>
          <a:ln/>
        </p:spPr>
        <p:txBody>
          <a:bodyPr wrap="square" lIns="0" tIns="0" rIns="0" bIns="0" rtlCol="0" anchor="ctr">
            <a:normAutofit/>
          </a:bodyPr>
          <a:lstStyle/>
          <a:p>
            <a:pPr marL="0" indent="0" algn="ctr">
              <a:buNone/>
            </a:pPr>
            <a:r>
              <a:rPr lang="en-US" sz="820" b="1" dirty="0">
                <a:solidFill>
                  <a:srgbClr val="F4F7FA"/>
                </a:solidFill>
                <a:latin typeface="Aptos" pitchFamily="34" charset="0"/>
                <a:ea typeface="Aptos" pitchFamily="34" charset="-122"/>
                <a:cs typeface="Aptos" pitchFamily="34" charset="-120"/>
              </a:rPr>
              <a:t>Capability</a:t>
            </a:r>
            <a:endParaRPr lang="en-US" sz="820" dirty="0"/>
          </a:p>
        </p:txBody>
      </p:sp>
      <p:sp>
        <p:nvSpPr>
          <p:cNvPr id="7" name="Shape 4"/>
          <p:cNvSpPr/>
          <p:nvPr/>
        </p:nvSpPr>
        <p:spPr>
          <a:xfrm>
            <a:off x="2423160" y="1234440"/>
            <a:ext cx="2286000" cy="438912"/>
          </a:xfrm>
          <a:prstGeom prst="rect">
            <a:avLst/>
          </a:prstGeom>
          <a:solidFill>
            <a:srgbClr val="C85D37"/>
          </a:solidFill>
          <a:ln w="12700">
            <a:solidFill>
              <a:srgbClr val="274052"/>
            </a:solidFill>
            <a:prstDash val="solid"/>
          </a:ln>
        </p:spPr>
        <p:txBody>
          <a:bodyPr/>
          <a:lstStyle/>
          <a:p>
            <a:endParaRPr/>
          </a:p>
        </p:txBody>
      </p:sp>
      <p:sp>
        <p:nvSpPr>
          <p:cNvPr id="8" name="Text 5"/>
          <p:cNvSpPr/>
          <p:nvPr/>
        </p:nvSpPr>
        <p:spPr>
          <a:xfrm>
            <a:off x="2496312" y="1234440"/>
            <a:ext cx="2139696" cy="438912"/>
          </a:xfrm>
          <a:prstGeom prst="rect">
            <a:avLst/>
          </a:prstGeom>
          <a:noFill/>
          <a:ln/>
        </p:spPr>
        <p:txBody>
          <a:bodyPr wrap="square" lIns="0" tIns="0" rIns="0" bIns="0" rtlCol="0" anchor="ctr">
            <a:normAutofit/>
          </a:bodyPr>
          <a:lstStyle/>
          <a:p>
            <a:pPr marL="0" indent="0" algn="ctr">
              <a:buNone/>
            </a:pPr>
            <a:r>
              <a:rPr lang="en-US" sz="820" b="1" dirty="0">
                <a:solidFill>
                  <a:srgbClr val="F4F7FA"/>
                </a:solidFill>
                <a:latin typeface="Aptos" pitchFamily="34" charset="0"/>
                <a:ea typeface="Aptos" pitchFamily="34" charset="-122"/>
                <a:cs typeface="Aptos" pitchFamily="34" charset="-120"/>
              </a:rPr>
              <a:t>DMI + AnyLog</a:t>
            </a:r>
            <a:endParaRPr lang="en-US" sz="820" dirty="0"/>
          </a:p>
        </p:txBody>
      </p:sp>
      <p:sp>
        <p:nvSpPr>
          <p:cNvPr id="9" name="Shape 6"/>
          <p:cNvSpPr/>
          <p:nvPr/>
        </p:nvSpPr>
        <p:spPr>
          <a:xfrm>
            <a:off x="4800600" y="1234440"/>
            <a:ext cx="2240280" cy="438912"/>
          </a:xfrm>
          <a:prstGeom prst="rect">
            <a:avLst/>
          </a:prstGeom>
          <a:solidFill>
            <a:srgbClr val="122638"/>
          </a:solidFill>
          <a:ln w="12700">
            <a:solidFill>
              <a:srgbClr val="274052"/>
            </a:solidFill>
            <a:prstDash val="solid"/>
          </a:ln>
        </p:spPr>
        <p:txBody>
          <a:bodyPr/>
          <a:lstStyle/>
          <a:p>
            <a:endParaRPr/>
          </a:p>
        </p:txBody>
      </p:sp>
      <p:sp>
        <p:nvSpPr>
          <p:cNvPr id="10" name="Text 7"/>
          <p:cNvSpPr/>
          <p:nvPr/>
        </p:nvSpPr>
        <p:spPr>
          <a:xfrm>
            <a:off x="4873752" y="1234440"/>
            <a:ext cx="2093976" cy="438912"/>
          </a:xfrm>
          <a:prstGeom prst="rect">
            <a:avLst/>
          </a:prstGeom>
          <a:noFill/>
          <a:ln/>
        </p:spPr>
        <p:txBody>
          <a:bodyPr wrap="square" lIns="0" tIns="0" rIns="0" bIns="0" rtlCol="0" anchor="ctr">
            <a:normAutofit/>
          </a:bodyPr>
          <a:lstStyle/>
          <a:p>
            <a:pPr marL="0" indent="0" algn="ctr">
              <a:buNone/>
            </a:pPr>
            <a:r>
              <a:rPr lang="en-US" sz="820" b="1" dirty="0">
                <a:solidFill>
                  <a:srgbClr val="F4F7FA"/>
                </a:solidFill>
                <a:latin typeface="Aptos" pitchFamily="34" charset="0"/>
                <a:ea typeface="Aptos" pitchFamily="34" charset="-122"/>
                <a:cs typeface="Aptos" pitchFamily="34" charset="-120"/>
              </a:rPr>
              <a:t>Siemens / Litmus</a:t>
            </a:r>
            <a:endParaRPr lang="en-US" sz="820" dirty="0"/>
          </a:p>
        </p:txBody>
      </p:sp>
      <p:sp>
        <p:nvSpPr>
          <p:cNvPr id="11" name="Shape 8"/>
          <p:cNvSpPr/>
          <p:nvPr/>
        </p:nvSpPr>
        <p:spPr>
          <a:xfrm>
            <a:off x="7132320" y="1234440"/>
            <a:ext cx="2240280" cy="438912"/>
          </a:xfrm>
          <a:prstGeom prst="rect">
            <a:avLst/>
          </a:prstGeom>
          <a:solidFill>
            <a:srgbClr val="122638"/>
          </a:solidFill>
          <a:ln w="12700">
            <a:solidFill>
              <a:srgbClr val="274052"/>
            </a:solidFill>
            <a:prstDash val="solid"/>
          </a:ln>
        </p:spPr>
        <p:txBody>
          <a:bodyPr/>
          <a:lstStyle/>
          <a:p>
            <a:endParaRPr/>
          </a:p>
        </p:txBody>
      </p:sp>
      <p:sp>
        <p:nvSpPr>
          <p:cNvPr id="12" name="Text 9"/>
          <p:cNvSpPr/>
          <p:nvPr/>
        </p:nvSpPr>
        <p:spPr>
          <a:xfrm>
            <a:off x="7205472" y="1234440"/>
            <a:ext cx="2093976" cy="438912"/>
          </a:xfrm>
          <a:prstGeom prst="rect">
            <a:avLst/>
          </a:prstGeom>
          <a:noFill/>
          <a:ln/>
        </p:spPr>
        <p:txBody>
          <a:bodyPr wrap="square" lIns="0" tIns="0" rIns="0" bIns="0" rtlCol="0" anchor="ctr">
            <a:normAutofit/>
          </a:bodyPr>
          <a:lstStyle/>
          <a:p>
            <a:pPr marL="0" indent="0" algn="ctr">
              <a:buNone/>
            </a:pPr>
            <a:r>
              <a:rPr lang="en-US" sz="820" b="1" dirty="0">
                <a:solidFill>
                  <a:srgbClr val="F4F7FA"/>
                </a:solidFill>
                <a:latin typeface="Aptos" pitchFamily="34" charset="0"/>
                <a:ea typeface="Aptos" pitchFamily="34" charset="-122"/>
                <a:cs typeface="Aptos" pitchFamily="34" charset="-120"/>
              </a:rPr>
              <a:t>Cognite / Palantir</a:t>
            </a:r>
            <a:endParaRPr lang="en-US" sz="820" dirty="0"/>
          </a:p>
        </p:txBody>
      </p:sp>
      <p:sp>
        <p:nvSpPr>
          <p:cNvPr id="13" name="Shape 10"/>
          <p:cNvSpPr/>
          <p:nvPr/>
        </p:nvSpPr>
        <p:spPr>
          <a:xfrm>
            <a:off x="9464040" y="1234440"/>
            <a:ext cx="2194560" cy="438912"/>
          </a:xfrm>
          <a:prstGeom prst="rect">
            <a:avLst/>
          </a:prstGeom>
          <a:solidFill>
            <a:srgbClr val="122638"/>
          </a:solidFill>
          <a:ln w="12700">
            <a:solidFill>
              <a:srgbClr val="274052"/>
            </a:solidFill>
            <a:prstDash val="solid"/>
          </a:ln>
        </p:spPr>
        <p:txBody>
          <a:bodyPr/>
          <a:lstStyle/>
          <a:p>
            <a:endParaRPr/>
          </a:p>
        </p:txBody>
      </p:sp>
      <p:sp>
        <p:nvSpPr>
          <p:cNvPr id="14" name="Text 11"/>
          <p:cNvSpPr/>
          <p:nvPr/>
        </p:nvSpPr>
        <p:spPr>
          <a:xfrm>
            <a:off x="9537192" y="1234440"/>
            <a:ext cx="2048256" cy="438912"/>
          </a:xfrm>
          <a:prstGeom prst="rect">
            <a:avLst/>
          </a:prstGeom>
          <a:noFill/>
          <a:ln/>
        </p:spPr>
        <p:txBody>
          <a:bodyPr wrap="square" lIns="0" tIns="0" rIns="0" bIns="0" rtlCol="0" anchor="ctr">
            <a:normAutofit/>
          </a:bodyPr>
          <a:lstStyle/>
          <a:p>
            <a:pPr marL="0" indent="0" algn="ctr">
              <a:buNone/>
            </a:pPr>
            <a:r>
              <a:rPr lang="en-US" sz="820" b="1" dirty="0">
                <a:solidFill>
                  <a:srgbClr val="F4F7FA"/>
                </a:solidFill>
                <a:latin typeface="Aptos" pitchFamily="34" charset="0"/>
                <a:ea typeface="Aptos" pitchFamily="34" charset="-122"/>
                <a:cs typeface="Aptos" pitchFamily="34" charset="-120"/>
              </a:rPr>
              <a:t>AVEVA / HighByte / AWS</a:t>
            </a:r>
            <a:endParaRPr lang="en-US" sz="820" dirty="0"/>
          </a:p>
        </p:txBody>
      </p:sp>
      <p:sp>
        <p:nvSpPr>
          <p:cNvPr id="15" name="Shape 12"/>
          <p:cNvSpPr/>
          <p:nvPr/>
        </p:nvSpPr>
        <p:spPr>
          <a:xfrm>
            <a:off x="502920" y="1673352"/>
            <a:ext cx="1828800" cy="566928"/>
          </a:xfrm>
          <a:prstGeom prst="rect">
            <a:avLst/>
          </a:prstGeom>
          <a:solidFill>
            <a:srgbClr val="0B1926"/>
          </a:solidFill>
          <a:ln w="6350">
            <a:solidFill>
              <a:srgbClr val="274052"/>
            </a:solidFill>
            <a:prstDash val="solid"/>
          </a:ln>
        </p:spPr>
        <p:txBody>
          <a:bodyPr/>
          <a:lstStyle/>
          <a:p>
            <a:endParaRPr/>
          </a:p>
        </p:txBody>
      </p:sp>
      <p:sp>
        <p:nvSpPr>
          <p:cNvPr id="16" name="Text 13"/>
          <p:cNvSpPr/>
          <p:nvPr/>
        </p:nvSpPr>
        <p:spPr>
          <a:xfrm>
            <a:off x="576072" y="1709928"/>
            <a:ext cx="1682496" cy="493776"/>
          </a:xfrm>
          <a:prstGeom prst="rect">
            <a:avLst/>
          </a:prstGeom>
          <a:noFill/>
          <a:ln/>
        </p:spPr>
        <p:txBody>
          <a:bodyPr wrap="square" lIns="0" tIns="0" rIns="0" bIns="0" rtlCol="0" anchor="ctr">
            <a:normAutofit/>
          </a:bodyPr>
          <a:lstStyle/>
          <a:p>
            <a:pPr marL="0" indent="0" algn="l">
              <a:buNone/>
            </a:pPr>
            <a:r>
              <a:rPr lang="en-US" sz="720" b="1" dirty="0">
                <a:solidFill>
                  <a:srgbClr val="F4F7FA"/>
                </a:solidFill>
                <a:latin typeface="Aptos" pitchFamily="34" charset="0"/>
                <a:ea typeface="Aptos" pitchFamily="34" charset="-122"/>
                <a:cs typeface="Aptos" pitchFamily="34" charset="-120"/>
              </a:rPr>
              <a:t>Local AI</a:t>
            </a:r>
            <a:endParaRPr lang="en-US" sz="720" dirty="0"/>
          </a:p>
        </p:txBody>
      </p:sp>
      <p:sp>
        <p:nvSpPr>
          <p:cNvPr id="17" name="Shape 14"/>
          <p:cNvSpPr/>
          <p:nvPr/>
        </p:nvSpPr>
        <p:spPr>
          <a:xfrm>
            <a:off x="2423160" y="1673352"/>
            <a:ext cx="2286000" cy="566928"/>
          </a:xfrm>
          <a:prstGeom prst="rect">
            <a:avLst/>
          </a:prstGeom>
          <a:solidFill>
            <a:srgbClr val="0B1926"/>
          </a:solidFill>
          <a:ln w="6350">
            <a:solidFill>
              <a:srgbClr val="274052"/>
            </a:solidFill>
            <a:prstDash val="solid"/>
          </a:ln>
        </p:spPr>
        <p:txBody>
          <a:bodyPr/>
          <a:lstStyle/>
          <a:p>
            <a:endParaRPr/>
          </a:p>
        </p:txBody>
      </p:sp>
      <p:sp>
        <p:nvSpPr>
          <p:cNvPr id="18" name="Text 15"/>
          <p:cNvSpPr/>
          <p:nvPr/>
        </p:nvSpPr>
        <p:spPr>
          <a:xfrm>
            <a:off x="2496312" y="1709928"/>
            <a:ext cx="213969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Core architecture</a:t>
            </a:r>
            <a:endParaRPr lang="en-US" sz="720" dirty="0"/>
          </a:p>
        </p:txBody>
      </p:sp>
      <p:sp>
        <p:nvSpPr>
          <p:cNvPr id="19" name="Shape 16"/>
          <p:cNvSpPr/>
          <p:nvPr/>
        </p:nvSpPr>
        <p:spPr>
          <a:xfrm>
            <a:off x="4800600" y="1673352"/>
            <a:ext cx="2240280" cy="566928"/>
          </a:xfrm>
          <a:prstGeom prst="rect">
            <a:avLst/>
          </a:prstGeom>
          <a:solidFill>
            <a:srgbClr val="0B1926"/>
          </a:solidFill>
          <a:ln w="6350">
            <a:solidFill>
              <a:srgbClr val="274052"/>
            </a:solidFill>
            <a:prstDash val="solid"/>
          </a:ln>
        </p:spPr>
        <p:txBody>
          <a:bodyPr/>
          <a:lstStyle/>
          <a:p>
            <a:endParaRPr/>
          </a:p>
        </p:txBody>
      </p:sp>
      <p:sp>
        <p:nvSpPr>
          <p:cNvPr id="20" name="Text 17"/>
          <p:cNvSpPr/>
          <p:nvPr/>
        </p:nvSpPr>
        <p:spPr>
          <a:xfrm>
            <a:off x="4873752" y="1709928"/>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Strong</a:t>
            </a:r>
            <a:endParaRPr lang="en-US" sz="720" dirty="0"/>
          </a:p>
        </p:txBody>
      </p:sp>
      <p:sp>
        <p:nvSpPr>
          <p:cNvPr id="21" name="Shape 18"/>
          <p:cNvSpPr/>
          <p:nvPr/>
        </p:nvSpPr>
        <p:spPr>
          <a:xfrm>
            <a:off x="7132320" y="1673352"/>
            <a:ext cx="2240280" cy="566928"/>
          </a:xfrm>
          <a:prstGeom prst="rect">
            <a:avLst/>
          </a:prstGeom>
          <a:solidFill>
            <a:srgbClr val="0B1926"/>
          </a:solidFill>
          <a:ln w="6350">
            <a:solidFill>
              <a:srgbClr val="274052"/>
            </a:solidFill>
            <a:prstDash val="solid"/>
          </a:ln>
        </p:spPr>
        <p:txBody>
          <a:bodyPr/>
          <a:lstStyle/>
          <a:p>
            <a:endParaRPr/>
          </a:p>
        </p:txBody>
      </p:sp>
      <p:sp>
        <p:nvSpPr>
          <p:cNvPr id="22" name="Text 19"/>
          <p:cNvSpPr/>
          <p:nvPr/>
        </p:nvSpPr>
        <p:spPr>
          <a:xfrm>
            <a:off x="7205472" y="1709928"/>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Agents / varies</a:t>
            </a:r>
            <a:endParaRPr lang="en-US" sz="720" dirty="0"/>
          </a:p>
        </p:txBody>
      </p:sp>
      <p:sp>
        <p:nvSpPr>
          <p:cNvPr id="23" name="Shape 20"/>
          <p:cNvSpPr/>
          <p:nvPr/>
        </p:nvSpPr>
        <p:spPr>
          <a:xfrm>
            <a:off x="9464040" y="1673352"/>
            <a:ext cx="2194560" cy="566928"/>
          </a:xfrm>
          <a:prstGeom prst="rect">
            <a:avLst/>
          </a:prstGeom>
          <a:solidFill>
            <a:srgbClr val="0B1926"/>
          </a:solidFill>
          <a:ln w="6350">
            <a:solidFill>
              <a:srgbClr val="274052"/>
            </a:solidFill>
            <a:prstDash val="solid"/>
          </a:ln>
        </p:spPr>
        <p:txBody>
          <a:bodyPr/>
          <a:lstStyle/>
          <a:p>
            <a:endParaRPr/>
          </a:p>
        </p:txBody>
      </p:sp>
      <p:sp>
        <p:nvSpPr>
          <p:cNvPr id="24" name="Text 21"/>
          <p:cNvSpPr/>
          <p:nvPr/>
        </p:nvSpPr>
        <p:spPr>
          <a:xfrm>
            <a:off x="9537192" y="1709928"/>
            <a:ext cx="204825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Edge/local varies</a:t>
            </a:r>
            <a:endParaRPr lang="en-US" sz="720" dirty="0"/>
          </a:p>
        </p:txBody>
      </p:sp>
      <p:sp>
        <p:nvSpPr>
          <p:cNvPr id="25" name="Shape 22"/>
          <p:cNvSpPr/>
          <p:nvPr/>
        </p:nvSpPr>
        <p:spPr>
          <a:xfrm>
            <a:off x="502920" y="2240280"/>
            <a:ext cx="1828800" cy="566928"/>
          </a:xfrm>
          <a:prstGeom prst="rect">
            <a:avLst/>
          </a:prstGeom>
          <a:solidFill>
            <a:srgbClr val="0E1D2C"/>
          </a:solidFill>
          <a:ln w="6350">
            <a:solidFill>
              <a:srgbClr val="274052"/>
            </a:solidFill>
            <a:prstDash val="solid"/>
          </a:ln>
        </p:spPr>
        <p:txBody>
          <a:bodyPr/>
          <a:lstStyle/>
          <a:p>
            <a:endParaRPr/>
          </a:p>
        </p:txBody>
      </p:sp>
      <p:sp>
        <p:nvSpPr>
          <p:cNvPr id="26" name="Text 23"/>
          <p:cNvSpPr/>
          <p:nvPr/>
        </p:nvSpPr>
        <p:spPr>
          <a:xfrm>
            <a:off x="576072" y="2276856"/>
            <a:ext cx="1682496" cy="493776"/>
          </a:xfrm>
          <a:prstGeom prst="rect">
            <a:avLst/>
          </a:prstGeom>
          <a:noFill/>
          <a:ln/>
        </p:spPr>
        <p:txBody>
          <a:bodyPr wrap="square" lIns="0" tIns="0" rIns="0" bIns="0" rtlCol="0" anchor="ctr">
            <a:normAutofit/>
          </a:bodyPr>
          <a:lstStyle/>
          <a:p>
            <a:pPr marL="0" indent="0" algn="l">
              <a:buNone/>
            </a:pPr>
            <a:r>
              <a:rPr lang="en-US" sz="720" b="1" dirty="0">
                <a:solidFill>
                  <a:srgbClr val="F4F7FA"/>
                </a:solidFill>
                <a:latin typeface="Aptos" pitchFamily="34" charset="0"/>
                <a:ea typeface="Aptos" pitchFamily="34" charset="-122"/>
                <a:cs typeface="Aptos" pitchFamily="34" charset="-120"/>
              </a:rPr>
              <a:t>Plant offline</a:t>
            </a:r>
            <a:endParaRPr lang="en-US" sz="720" dirty="0"/>
          </a:p>
        </p:txBody>
      </p:sp>
      <p:sp>
        <p:nvSpPr>
          <p:cNvPr id="27" name="Shape 24"/>
          <p:cNvSpPr/>
          <p:nvPr/>
        </p:nvSpPr>
        <p:spPr>
          <a:xfrm>
            <a:off x="2423160" y="2240280"/>
            <a:ext cx="2286000" cy="566928"/>
          </a:xfrm>
          <a:prstGeom prst="rect">
            <a:avLst/>
          </a:prstGeom>
          <a:solidFill>
            <a:srgbClr val="0E1D2C"/>
          </a:solidFill>
          <a:ln w="6350">
            <a:solidFill>
              <a:srgbClr val="274052"/>
            </a:solidFill>
            <a:prstDash val="solid"/>
          </a:ln>
        </p:spPr>
        <p:txBody>
          <a:bodyPr/>
          <a:lstStyle/>
          <a:p>
            <a:endParaRPr/>
          </a:p>
        </p:txBody>
      </p:sp>
      <p:sp>
        <p:nvSpPr>
          <p:cNvPr id="28" name="Text 25"/>
          <p:cNvSpPr/>
          <p:nvPr/>
        </p:nvSpPr>
        <p:spPr>
          <a:xfrm>
            <a:off x="2496312" y="2276856"/>
            <a:ext cx="213969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Core design</a:t>
            </a:r>
            <a:endParaRPr lang="en-US" sz="720" dirty="0"/>
          </a:p>
        </p:txBody>
      </p:sp>
      <p:sp>
        <p:nvSpPr>
          <p:cNvPr id="29" name="Shape 26"/>
          <p:cNvSpPr/>
          <p:nvPr/>
        </p:nvSpPr>
        <p:spPr>
          <a:xfrm>
            <a:off x="4800600" y="2240280"/>
            <a:ext cx="2240280" cy="566928"/>
          </a:xfrm>
          <a:prstGeom prst="rect">
            <a:avLst/>
          </a:prstGeom>
          <a:solidFill>
            <a:srgbClr val="0E1D2C"/>
          </a:solidFill>
          <a:ln w="6350">
            <a:solidFill>
              <a:srgbClr val="274052"/>
            </a:solidFill>
            <a:prstDash val="solid"/>
          </a:ln>
        </p:spPr>
        <p:txBody>
          <a:bodyPr/>
          <a:lstStyle/>
          <a:p>
            <a:endParaRPr/>
          </a:p>
        </p:txBody>
      </p:sp>
      <p:sp>
        <p:nvSpPr>
          <p:cNvPr id="30" name="Text 27"/>
          <p:cNvSpPr/>
          <p:nvPr/>
        </p:nvSpPr>
        <p:spPr>
          <a:xfrm>
            <a:off x="4873752" y="2276856"/>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Strong</a:t>
            </a:r>
            <a:endParaRPr lang="en-US" sz="720" dirty="0"/>
          </a:p>
        </p:txBody>
      </p:sp>
      <p:sp>
        <p:nvSpPr>
          <p:cNvPr id="31" name="Shape 28"/>
          <p:cNvSpPr/>
          <p:nvPr/>
        </p:nvSpPr>
        <p:spPr>
          <a:xfrm>
            <a:off x="7132320" y="2240280"/>
            <a:ext cx="2240280" cy="566928"/>
          </a:xfrm>
          <a:prstGeom prst="rect">
            <a:avLst/>
          </a:prstGeom>
          <a:solidFill>
            <a:srgbClr val="0E1D2C"/>
          </a:solidFill>
          <a:ln w="6350">
            <a:solidFill>
              <a:srgbClr val="274052"/>
            </a:solidFill>
            <a:prstDash val="solid"/>
          </a:ln>
        </p:spPr>
        <p:txBody>
          <a:bodyPr/>
          <a:lstStyle/>
          <a:p>
            <a:endParaRPr/>
          </a:p>
        </p:txBody>
      </p:sp>
      <p:sp>
        <p:nvSpPr>
          <p:cNvPr id="32" name="Text 29"/>
          <p:cNvSpPr/>
          <p:nvPr/>
        </p:nvSpPr>
        <p:spPr>
          <a:xfrm>
            <a:off x="7205472" y="2276856"/>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Deployment dependent</a:t>
            </a:r>
            <a:endParaRPr lang="en-US" sz="720" dirty="0"/>
          </a:p>
        </p:txBody>
      </p:sp>
      <p:sp>
        <p:nvSpPr>
          <p:cNvPr id="33" name="Shape 30"/>
          <p:cNvSpPr/>
          <p:nvPr/>
        </p:nvSpPr>
        <p:spPr>
          <a:xfrm>
            <a:off x="9464040" y="2240280"/>
            <a:ext cx="2194560" cy="566928"/>
          </a:xfrm>
          <a:prstGeom prst="rect">
            <a:avLst/>
          </a:prstGeom>
          <a:solidFill>
            <a:srgbClr val="0E1D2C"/>
          </a:solidFill>
          <a:ln w="6350">
            <a:solidFill>
              <a:srgbClr val="274052"/>
            </a:solidFill>
            <a:prstDash val="solid"/>
          </a:ln>
        </p:spPr>
        <p:txBody>
          <a:bodyPr/>
          <a:lstStyle/>
          <a:p>
            <a:endParaRPr/>
          </a:p>
        </p:txBody>
      </p:sp>
      <p:sp>
        <p:nvSpPr>
          <p:cNvPr id="34" name="Text 31"/>
          <p:cNvSpPr/>
          <p:nvPr/>
        </p:nvSpPr>
        <p:spPr>
          <a:xfrm>
            <a:off x="9537192" y="2276856"/>
            <a:ext cx="204825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Edge options</a:t>
            </a:r>
            <a:endParaRPr lang="en-US" sz="720" dirty="0"/>
          </a:p>
        </p:txBody>
      </p:sp>
      <p:sp>
        <p:nvSpPr>
          <p:cNvPr id="35" name="Shape 32"/>
          <p:cNvSpPr/>
          <p:nvPr/>
        </p:nvSpPr>
        <p:spPr>
          <a:xfrm>
            <a:off x="502920" y="2807208"/>
            <a:ext cx="1828800" cy="566928"/>
          </a:xfrm>
          <a:prstGeom prst="rect">
            <a:avLst/>
          </a:prstGeom>
          <a:solidFill>
            <a:srgbClr val="0B1926"/>
          </a:solidFill>
          <a:ln w="6350">
            <a:solidFill>
              <a:srgbClr val="274052"/>
            </a:solidFill>
            <a:prstDash val="solid"/>
          </a:ln>
        </p:spPr>
        <p:txBody>
          <a:bodyPr/>
          <a:lstStyle/>
          <a:p>
            <a:endParaRPr/>
          </a:p>
        </p:txBody>
      </p:sp>
      <p:sp>
        <p:nvSpPr>
          <p:cNvPr id="36" name="Text 33"/>
          <p:cNvSpPr/>
          <p:nvPr/>
        </p:nvSpPr>
        <p:spPr>
          <a:xfrm>
            <a:off x="576072" y="2843784"/>
            <a:ext cx="1682496" cy="493776"/>
          </a:xfrm>
          <a:prstGeom prst="rect">
            <a:avLst/>
          </a:prstGeom>
          <a:noFill/>
          <a:ln/>
        </p:spPr>
        <p:txBody>
          <a:bodyPr wrap="square" lIns="0" tIns="0" rIns="0" bIns="0" rtlCol="0" anchor="ctr">
            <a:normAutofit/>
          </a:bodyPr>
          <a:lstStyle/>
          <a:p>
            <a:pPr marL="0" indent="0" algn="l">
              <a:buNone/>
            </a:pPr>
            <a:r>
              <a:rPr lang="en-US" sz="720" b="1" dirty="0">
                <a:solidFill>
                  <a:srgbClr val="F4F7FA"/>
                </a:solidFill>
                <a:latin typeface="Aptos" pitchFamily="34" charset="0"/>
                <a:ea typeface="Aptos" pitchFamily="34" charset="-122"/>
                <a:cs typeface="Aptos" pitchFamily="34" charset="-120"/>
              </a:rPr>
              <a:t>Federated/no-central-copy</a:t>
            </a:r>
            <a:endParaRPr lang="en-US" sz="720" dirty="0"/>
          </a:p>
        </p:txBody>
      </p:sp>
      <p:sp>
        <p:nvSpPr>
          <p:cNvPr id="37" name="Shape 34"/>
          <p:cNvSpPr/>
          <p:nvPr/>
        </p:nvSpPr>
        <p:spPr>
          <a:xfrm>
            <a:off x="2423160" y="2807208"/>
            <a:ext cx="2286000" cy="566928"/>
          </a:xfrm>
          <a:prstGeom prst="rect">
            <a:avLst/>
          </a:prstGeom>
          <a:solidFill>
            <a:srgbClr val="0B1926"/>
          </a:solidFill>
          <a:ln w="6350">
            <a:solidFill>
              <a:srgbClr val="274052"/>
            </a:solidFill>
            <a:prstDash val="solid"/>
          </a:ln>
        </p:spPr>
        <p:txBody>
          <a:bodyPr/>
          <a:lstStyle/>
          <a:p>
            <a:endParaRPr/>
          </a:p>
        </p:txBody>
      </p:sp>
      <p:sp>
        <p:nvSpPr>
          <p:cNvPr id="38" name="Text 35"/>
          <p:cNvSpPr/>
          <p:nvPr/>
        </p:nvSpPr>
        <p:spPr>
          <a:xfrm>
            <a:off x="2496312" y="2843784"/>
            <a:ext cx="213969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AnyLog core</a:t>
            </a:r>
            <a:endParaRPr lang="en-US" sz="720" dirty="0"/>
          </a:p>
        </p:txBody>
      </p:sp>
      <p:sp>
        <p:nvSpPr>
          <p:cNvPr id="39" name="Shape 36"/>
          <p:cNvSpPr/>
          <p:nvPr/>
        </p:nvSpPr>
        <p:spPr>
          <a:xfrm>
            <a:off x="4800600" y="2807208"/>
            <a:ext cx="2240280" cy="566928"/>
          </a:xfrm>
          <a:prstGeom prst="rect">
            <a:avLst/>
          </a:prstGeom>
          <a:solidFill>
            <a:srgbClr val="0B1926"/>
          </a:solidFill>
          <a:ln w="6350">
            <a:solidFill>
              <a:srgbClr val="274052"/>
            </a:solidFill>
            <a:prstDash val="solid"/>
          </a:ln>
        </p:spPr>
        <p:txBody>
          <a:bodyPr/>
          <a:lstStyle/>
          <a:p>
            <a:endParaRPr/>
          </a:p>
        </p:txBody>
      </p:sp>
      <p:sp>
        <p:nvSpPr>
          <p:cNvPr id="40" name="Text 37"/>
          <p:cNvSpPr/>
          <p:nvPr/>
        </p:nvSpPr>
        <p:spPr>
          <a:xfrm>
            <a:off x="4873752" y="2843784"/>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Ecosystem</a:t>
            </a:r>
            <a:endParaRPr lang="en-US" sz="720" dirty="0"/>
          </a:p>
        </p:txBody>
      </p:sp>
      <p:sp>
        <p:nvSpPr>
          <p:cNvPr id="41" name="Shape 38"/>
          <p:cNvSpPr/>
          <p:nvPr/>
        </p:nvSpPr>
        <p:spPr>
          <a:xfrm>
            <a:off x="7132320" y="2807208"/>
            <a:ext cx="2240280" cy="566928"/>
          </a:xfrm>
          <a:prstGeom prst="rect">
            <a:avLst/>
          </a:prstGeom>
          <a:solidFill>
            <a:srgbClr val="0B1926"/>
          </a:solidFill>
          <a:ln w="6350">
            <a:solidFill>
              <a:srgbClr val="274052"/>
            </a:solidFill>
            <a:prstDash val="solid"/>
          </a:ln>
        </p:spPr>
        <p:txBody>
          <a:bodyPr/>
          <a:lstStyle/>
          <a:p>
            <a:endParaRPr/>
          </a:p>
        </p:txBody>
      </p:sp>
      <p:sp>
        <p:nvSpPr>
          <p:cNvPr id="42" name="Text 39"/>
          <p:cNvSpPr/>
          <p:nvPr/>
        </p:nvSpPr>
        <p:spPr>
          <a:xfrm>
            <a:off x="7205472" y="2843784"/>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Ontology/context</a:t>
            </a:r>
            <a:endParaRPr lang="en-US" sz="720" dirty="0"/>
          </a:p>
        </p:txBody>
      </p:sp>
      <p:sp>
        <p:nvSpPr>
          <p:cNvPr id="43" name="Shape 40"/>
          <p:cNvSpPr/>
          <p:nvPr/>
        </p:nvSpPr>
        <p:spPr>
          <a:xfrm>
            <a:off x="9464040" y="2807208"/>
            <a:ext cx="2194560" cy="566928"/>
          </a:xfrm>
          <a:prstGeom prst="rect">
            <a:avLst/>
          </a:prstGeom>
          <a:solidFill>
            <a:srgbClr val="0B1926"/>
          </a:solidFill>
          <a:ln w="6350">
            <a:solidFill>
              <a:srgbClr val="274052"/>
            </a:solidFill>
            <a:prstDash val="solid"/>
          </a:ln>
        </p:spPr>
        <p:txBody>
          <a:bodyPr/>
          <a:lstStyle/>
          <a:p>
            <a:endParaRPr/>
          </a:p>
        </p:txBody>
      </p:sp>
      <p:sp>
        <p:nvSpPr>
          <p:cNvPr id="44" name="Text 41"/>
          <p:cNvSpPr/>
          <p:nvPr/>
        </p:nvSpPr>
        <p:spPr>
          <a:xfrm>
            <a:off x="9537192" y="2843784"/>
            <a:ext cx="204825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DataOps/edge/cloud</a:t>
            </a:r>
            <a:endParaRPr lang="en-US" sz="720" dirty="0"/>
          </a:p>
        </p:txBody>
      </p:sp>
      <p:sp>
        <p:nvSpPr>
          <p:cNvPr id="45" name="Shape 42"/>
          <p:cNvSpPr/>
          <p:nvPr/>
        </p:nvSpPr>
        <p:spPr>
          <a:xfrm>
            <a:off x="502920" y="3374136"/>
            <a:ext cx="1828800" cy="566928"/>
          </a:xfrm>
          <a:prstGeom prst="rect">
            <a:avLst/>
          </a:prstGeom>
          <a:solidFill>
            <a:srgbClr val="0E1D2C"/>
          </a:solidFill>
          <a:ln w="6350">
            <a:solidFill>
              <a:srgbClr val="274052"/>
            </a:solidFill>
            <a:prstDash val="solid"/>
          </a:ln>
        </p:spPr>
        <p:txBody>
          <a:bodyPr/>
          <a:lstStyle/>
          <a:p>
            <a:endParaRPr/>
          </a:p>
        </p:txBody>
      </p:sp>
      <p:sp>
        <p:nvSpPr>
          <p:cNvPr id="46" name="Text 43"/>
          <p:cNvSpPr/>
          <p:nvPr/>
        </p:nvSpPr>
        <p:spPr>
          <a:xfrm>
            <a:off x="576072" y="3410712"/>
            <a:ext cx="1682496" cy="493776"/>
          </a:xfrm>
          <a:prstGeom prst="rect">
            <a:avLst/>
          </a:prstGeom>
          <a:noFill/>
          <a:ln/>
        </p:spPr>
        <p:txBody>
          <a:bodyPr wrap="square" lIns="0" tIns="0" rIns="0" bIns="0" rtlCol="0" anchor="ctr">
            <a:normAutofit/>
          </a:bodyPr>
          <a:lstStyle/>
          <a:p>
            <a:pPr marL="0" indent="0" algn="l">
              <a:buNone/>
            </a:pPr>
            <a:r>
              <a:rPr lang="en-US" sz="720" b="1" dirty="0">
                <a:solidFill>
                  <a:srgbClr val="F4F7FA"/>
                </a:solidFill>
                <a:latin typeface="Aptos" pitchFamily="34" charset="0"/>
                <a:ea typeface="Aptos" pitchFamily="34" charset="-122"/>
                <a:cs typeface="Aptos" pitchFamily="34" charset="-120"/>
              </a:rPr>
              <a:t>Process graph</a:t>
            </a:r>
            <a:endParaRPr lang="en-US" sz="720" dirty="0"/>
          </a:p>
        </p:txBody>
      </p:sp>
      <p:sp>
        <p:nvSpPr>
          <p:cNvPr id="47" name="Shape 44"/>
          <p:cNvSpPr/>
          <p:nvPr/>
        </p:nvSpPr>
        <p:spPr>
          <a:xfrm>
            <a:off x="2423160" y="3374136"/>
            <a:ext cx="2286000" cy="566928"/>
          </a:xfrm>
          <a:prstGeom prst="rect">
            <a:avLst/>
          </a:prstGeom>
          <a:solidFill>
            <a:srgbClr val="0E1D2C"/>
          </a:solidFill>
          <a:ln w="6350">
            <a:solidFill>
              <a:srgbClr val="274052"/>
            </a:solidFill>
            <a:prstDash val="solid"/>
          </a:ln>
        </p:spPr>
        <p:txBody>
          <a:bodyPr/>
          <a:lstStyle/>
          <a:p>
            <a:endParaRPr/>
          </a:p>
        </p:txBody>
      </p:sp>
      <p:sp>
        <p:nvSpPr>
          <p:cNvPr id="48" name="Text 45"/>
          <p:cNvSpPr/>
          <p:nvPr/>
        </p:nvSpPr>
        <p:spPr>
          <a:xfrm>
            <a:off x="2496312" y="3410712"/>
            <a:ext cx="213969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Coordinates reasoning</a:t>
            </a:r>
            <a:endParaRPr lang="en-US" sz="720" dirty="0"/>
          </a:p>
        </p:txBody>
      </p:sp>
      <p:sp>
        <p:nvSpPr>
          <p:cNvPr id="49" name="Shape 46"/>
          <p:cNvSpPr/>
          <p:nvPr/>
        </p:nvSpPr>
        <p:spPr>
          <a:xfrm>
            <a:off x="4800600" y="3374136"/>
            <a:ext cx="2240280" cy="566928"/>
          </a:xfrm>
          <a:prstGeom prst="rect">
            <a:avLst/>
          </a:prstGeom>
          <a:solidFill>
            <a:srgbClr val="0E1D2C"/>
          </a:solidFill>
          <a:ln w="6350">
            <a:solidFill>
              <a:srgbClr val="274052"/>
            </a:solidFill>
            <a:prstDash val="solid"/>
          </a:ln>
        </p:spPr>
        <p:txBody>
          <a:bodyPr/>
          <a:lstStyle/>
          <a:p>
            <a:endParaRPr/>
          </a:p>
        </p:txBody>
      </p:sp>
      <p:sp>
        <p:nvSpPr>
          <p:cNvPr id="50" name="Text 47"/>
          <p:cNvSpPr/>
          <p:nvPr/>
        </p:nvSpPr>
        <p:spPr>
          <a:xfrm>
            <a:off x="4873752" y="3410712"/>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Automation context</a:t>
            </a:r>
            <a:endParaRPr lang="en-US" sz="720" dirty="0"/>
          </a:p>
        </p:txBody>
      </p:sp>
      <p:sp>
        <p:nvSpPr>
          <p:cNvPr id="51" name="Shape 48"/>
          <p:cNvSpPr/>
          <p:nvPr/>
        </p:nvSpPr>
        <p:spPr>
          <a:xfrm>
            <a:off x="7132320" y="3374136"/>
            <a:ext cx="2240280" cy="566928"/>
          </a:xfrm>
          <a:prstGeom prst="rect">
            <a:avLst/>
          </a:prstGeom>
          <a:solidFill>
            <a:srgbClr val="0E1D2C"/>
          </a:solidFill>
          <a:ln w="6350">
            <a:solidFill>
              <a:srgbClr val="274052"/>
            </a:solidFill>
            <a:prstDash val="solid"/>
          </a:ln>
        </p:spPr>
        <p:txBody>
          <a:bodyPr/>
          <a:lstStyle/>
          <a:p>
            <a:endParaRPr/>
          </a:p>
        </p:txBody>
      </p:sp>
      <p:sp>
        <p:nvSpPr>
          <p:cNvPr id="52" name="Text 49"/>
          <p:cNvSpPr/>
          <p:nvPr/>
        </p:nvSpPr>
        <p:spPr>
          <a:xfrm>
            <a:off x="7205472" y="3410712"/>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Knowledge graph</a:t>
            </a:r>
            <a:endParaRPr lang="en-US" sz="720" dirty="0"/>
          </a:p>
        </p:txBody>
      </p:sp>
      <p:sp>
        <p:nvSpPr>
          <p:cNvPr id="53" name="Shape 50"/>
          <p:cNvSpPr/>
          <p:nvPr/>
        </p:nvSpPr>
        <p:spPr>
          <a:xfrm>
            <a:off x="9464040" y="3374136"/>
            <a:ext cx="2194560" cy="566928"/>
          </a:xfrm>
          <a:prstGeom prst="rect">
            <a:avLst/>
          </a:prstGeom>
          <a:solidFill>
            <a:srgbClr val="0E1D2C"/>
          </a:solidFill>
          <a:ln w="6350">
            <a:solidFill>
              <a:srgbClr val="274052"/>
            </a:solidFill>
            <a:prstDash val="solid"/>
          </a:ln>
        </p:spPr>
        <p:txBody>
          <a:bodyPr/>
          <a:lstStyle/>
          <a:p>
            <a:endParaRPr/>
          </a:p>
        </p:txBody>
      </p:sp>
      <p:sp>
        <p:nvSpPr>
          <p:cNvPr id="54" name="Text 51"/>
          <p:cNvSpPr/>
          <p:nvPr/>
        </p:nvSpPr>
        <p:spPr>
          <a:xfrm>
            <a:off x="9537192" y="3410712"/>
            <a:ext cx="204825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UNS/ISA-95 varies</a:t>
            </a:r>
            <a:endParaRPr lang="en-US" sz="720" dirty="0"/>
          </a:p>
        </p:txBody>
      </p:sp>
      <p:sp>
        <p:nvSpPr>
          <p:cNvPr id="55" name="Shape 52"/>
          <p:cNvSpPr/>
          <p:nvPr/>
        </p:nvSpPr>
        <p:spPr>
          <a:xfrm>
            <a:off x="502920" y="3941064"/>
            <a:ext cx="1828800" cy="566928"/>
          </a:xfrm>
          <a:prstGeom prst="rect">
            <a:avLst/>
          </a:prstGeom>
          <a:solidFill>
            <a:srgbClr val="0B1926"/>
          </a:solidFill>
          <a:ln w="6350">
            <a:solidFill>
              <a:srgbClr val="274052"/>
            </a:solidFill>
            <a:prstDash val="solid"/>
          </a:ln>
        </p:spPr>
        <p:txBody>
          <a:bodyPr/>
          <a:lstStyle/>
          <a:p>
            <a:endParaRPr/>
          </a:p>
        </p:txBody>
      </p:sp>
      <p:sp>
        <p:nvSpPr>
          <p:cNvPr id="56" name="Text 53"/>
          <p:cNvSpPr/>
          <p:nvPr/>
        </p:nvSpPr>
        <p:spPr>
          <a:xfrm>
            <a:off x="576072" y="3977640"/>
            <a:ext cx="1682496" cy="493776"/>
          </a:xfrm>
          <a:prstGeom prst="rect">
            <a:avLst/>
          </a:prstGeom>
          <a:noFill/>
          <a:ln/>
        </p:spPr>
        <p:txBody>
          <a:bodyPr wrap="square" lIns="0" tIns="0" rIns="0" bIns="0" rtlCol="0" anchor="ctr">
            <a:normAutofit/>
          </a:bodyPr>
          <a:lstStyle/>
          <a:p>
            <a:pPr marL="0" indent="0" algn="l">
              <a:buNone/>
            </a:pPr>
            <a:r>
              <a:rPr lang="en-US" sz="720" b="1" dirty="0">
                <a:solidFill>
                  <a:srgbClr val="F4F7FA"/>
                </a:solidFill>
                <a:latin typeface="Aptos" pitchFamily="34" charset="0"/>
                <a:ea typeface="Aptos" pitchFamily="34" charset="-122"/>
                <a:cs typeface="Aptos" pitchFamily="34" charset="-120"/>
              </a:rPr>
              <a:t>Structured evidence joins</a:t>
            </a:r>
            <a:endParaRPr lang="en-US" sz="720" dirty="0"/>
          </a:p>
        </p:txBody>
      </p:sp>
      <p:sp>
        <p:nvSpPr>
          <p:cNvPr id="57" name="Shape 54"/>
          <p:cNvSpPr/>
          <p:nvPr/>
        </p:nvSpPr>
        <p:spPr>
          <a:xfrm>
            <a:off x="2423160" y="3941064"/>
            <a:ext cx="2286000" cy="566928"/>
          </a:xfrm>
          <a:prstGeom prst="rect">
            <a:avLst/>
          </a:prstGeom>
          <a:solidFill>
            <a:srgbClr val="0B1926"/>
          </a:solidFill>
          <a:ln w="6350">
            <a:solidFill>
              <a:srgbClr val="274052"/>
            </a:solidFill>
            <a:prstDash val="solid"/>
          </a:ln>
        </p:spPr>
        <p:txBody>
          <a:bodyPr/>
          <a:lstStyle/>
          <a:p>
            <a:endParaRPr/>
          </a:p>
        </p:txBody>
      </p:sp>
      <p:sp>
        <p:nvSpPr>
          <p:cNvPr id="58" name="Text 55"/>
          <p:cNvSpPr/>
          <p:nvPr/>
        </p:nvSpPr>
        <p:spPr>
          <a:xfrm>
            <a:off x="2496312" y="3977640"/>
            <a:ext cx="213969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Core thesis</a:t>
            </a:r>
            <a:endParaRPr lang="en-US" sz="720" dirty="0"/>
          </a:p>
        </p:txBody>
      </p:sp>
      <p:sp>
        <p:nvSpPr>
          <p:cNvPr id="59" name="Shape 56"/>
          <p:cNvSpPr/>
          <p:nvPr/>
        </p:nvSpPr>
        <p:spPr>
          <a:xfrm>
            <a:off x="4800600" y="3941064"/>
            <a:ext cx="2240280" cy="566928"/>
          </a:xfrm>
          <a:prstGeom prst="rect">
            <a:avLst/>
          </a:prstGeom>
          <a:solidFill>
            <a:srgbClr val="0B1926"/>
          </a:solidFill>
          <a:ln w="6350">
            <a:solidFill>
              <a:srgbClr val="274052"/>
            </a:solidFill>
            <a:prstDash val="solid"/>
          </a:ln>
        </p:spPr>
        <p:txBody>
          <a:bodyPr/>
          <a:lstStyle/>
          <a:p>
            <a:endParaRPr/>
          </a:p>
        </p:txBody>
      </p:sp>
      <p:sp>
        <p:nvSpPr>
          <p:cNvPr id="60" name="Text 57"/>
          <p:cNvSpPr/>
          <p:nvPr/>
        </p:nvSpPr>
        <p:spPr>
          <a:xfrm>
            <a:off x="4873752" y="3977640"/>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Not core message</a:t>
            </a:r>
            <a:endParaRPr lang="en-US" sz="720" dirty="0"/>
          </a:p>
        </p:txBody>
      </p:sp>
      <p:sp>
        <p:nvSpPr>
          <p:cNvPr id="61" name="Shape 58"/>
          <p:cNvSpPr/>
          <p:nvPr/>
        </p:nvSpPr>
        <p:spPr>
          <a:xfrm>
            <a:off x="7132320" y="3941064"/>
            <a:ext cx="2240280" cy="566928"/>
          </a:xfrm>
          <a:prstGeom prst="rect">
            <a:avLst/>
          </a:prstGeom>
          <a:solidFill>
            <a:srgbClr val="0B1926"/>
          </a:solidFill>
          <a:ln w="6350">
            <a:solidFill>
              <a:srgbClr val="274052"/>
            </a:solidFill>
            <a:prstDash val="solid"/>
          </a:ln>
        </p:spPr>
        <p:txBody>
          <a:bodyPr/>
          <a:lstStyle/>
          <a:p>
            <a:endParaRPr/>
          </a:p>
        </p:txBody>
      </p:sp>
      <p:sp>
        <p:nvSpPr>
          <p:cNvPr id="62" name="Text 59"/>
          <p:cNvSpPr/>
          <p:nvPr/>
        </p:nvSpPr>
        <p:spPr>
          <a:xfrm>
            <a:off x="7205472" y="3977640"/>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Agent/ontology workflows</a:t>
            </a:r>
            <a:endParaRPr lang="en-US" sz="720" dirty="0"/>
          </a:p>
        </p:txBody>
      </p:sp>
      <p:sp>
        <p:nvSpPr>
          <p:cNvPr id="63" name="Shape 60"/>
          <p:cNvSpPr/>
          <p:nvPr/>
        </p:nvSpPr>
        <p:spPr>
          <a:xfrm>
            <a:off x="9464040" y="3941064"/>
            <a:ext cx="2194560" cy="566928"/>
          </a:xfrm>
          <a:prstGeom prst="rect">
            <a:avLst/>
          </a:prstGeom>
          <a:solidFill>
            <a:srgbClr val="0B1926"/>
          </a:solidFill>
          <a:ln w="6350">
            <a:solidFill>
              <a:srgbClr val="274052"/>
            </a:solidFill>
            <a:prstDash val="solid"/>
          </a:ln>
        </p:spPr>
        <p:txBody>
          <a:bodyPr/>
          <a:lstStyle/>
          <a:p>
            <a:endParaRPr/>
          </a:p>
        </p:txBody>
      </p:sp>
      <p:sp>
        <p:nvSpPr>
          <p:cNvPr id="64" name="Text 61"/>
          <p:cNvSpPr/>
          <p:nvPr/>
        </p:nvSpPr>
        <p:spPr>
          <a:xfrm>
            <a:off x="9537192" y="3977640"/>
            <a:ext cx="204825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Data/context focus</a:t>
            </a:r>
            <a:endParaRPr lang="en-US" sz="720" dirty="0"/>
          </a:p>
        </p:txBody>
      </p:sp>
      <p:sp>
        <p:nvSpPr>
          <p:cNvPr id="65" name="Shape 62"/>
          <p:cNvSpPr/>
          <p:nvPr/>
        </p:nvSpPr>
        <p:spPr>
          <a:xfrm>
            <a:off x="502920" y="4507992"/>
            <a:ext cx="1828800" cy="566928"/>
          </a:xfrm>
          <a:prstGeom prst="rect">
            <a:avLst/>
          </a:prstGeom>
          <a:solidFill>
            <a:srgbClr val="0E1D2C"/>
          </a:solidFill>
          <a:ln w="6350">
            <a:solidFill>
              <a:srgbClr val="274052"/>
            </a:solidFill>
            <a:prstDash val="solid"/>
          </a:ln>
        </p:spPr>
        <p:txBody>
          <a:bodyPr/>
          <a:lstStyle/>
          <a:p>
            <a:endParaRPr/>
          </a:p>
        </p:txBody>
      </p:sp>
      <p:sp>
        <p:nvSpPr>
          <p:cNvPr id="66" name="Text 63"/>
          <p:cNvSpPr/>
          <p:nvPr/>
        </p:nvSpPr>
        <p:spPr>
          <a:xfrm>
            <a:off x="576072" y="4544568"/>
            <a:ext cx="1682496" cy="493776"/>
          </a:xfrm>
          <a:prstGeom prst="rect">
            <a:avLst/>
          </a:prstGeom>
          <a:noFill/>
          <a:ln/>
        </p:spPr>
        <p:txBody>
          <a:bodyPr wrap="square" lIns="0" tIns="0" rIns="0" bIns="0" rtlCol="0" anchor="ctr">
            <a:normAutofit/>
          </a:bodyPr>
          <a:lstStyle/>
          <a:p>
            <a:pPr marL="0" indent="0" algn="l">
              <a:buNone/>
            </a:pPr>
            <a:r>
              <a:rPr lang="en-US" sz="720" b="1" dirty="0">
                <a:solidFill>
                  <a:srgbClr val="F4F7FA"/>
                </a:solidFill>
                <a:latin typeface="Aptos" pitchFamily="34" charset="0"/>
                <a:ea typeface="Aptos" pitchFamily="34" charset="-122"/>
                <a:cs typeface="Aptos" pitchFamily="34" charset="-120"/>
              </a:rPr>
              <a:t>Manufacturing investigation app</a:t>
            </a:r>
            <a:endParaRPr lang="en-US" sz="720" dirty="0"/>
          </a:p>
        </p:txBody>
      </p:sp>
      <p:sp>
        <p:nvSpPr>
          <p:cNvPr id="67" name="Shape 64"/>
          <p:cNvSpPr/>
          <p:nvPr/>
        </p:nvSpPr>
        <p:spPr>
          <a:xfrm>
            <a:off x="2423160" y="4507992"/>
            <a:ext cx="2286000" cy="566928"/>
          </a:xfrm>
          <a:prstGeom prst="rect">
            <a:avLst/>
          </a:prstGeom>
          <a:solidFill>
            <a:srgbClr val="0E1D2C"/>
          </a:solidFill>
          <a:ln w="6350">
            <a:solidFill>
              <a:srgbClr val="274052"/>
            </a:solidFill>
            <a:prstDash val="solid"/>
          </a:ln>
        </p:spPr>
        <p:txBody>
          <a:bodyPr/>
          <a:lstStyle/>
          <a:p>
            <a:endParaRPr/>
          </a:p>
        </p:txBody>
      </p:sp>
      <p:sp>
        <p:nvSpPr>
          <p:cNvPr id="68" name="Text 65"/>
          <p:cNvSpPr/>
          <p:nvPr/>
        </p:nvSpPr>
        <p:spPr>
          <a:xfrm>
            <a:off x="2496312" y="4544568"/>
            <a:ext cx="213969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Initial wedge</a:t>
            </a:r>
            <a:endParaRPr lang="en-US" sz="720" dirty="0"/>
          </a:p>
        </p:txBody>
      </p:sp>
      <p:sp>
        <p:nvSpPr>
          <p:cNvPr id="69" name="Shape 66"/>
          <p:cNvSpPr/>
          <p:nvPr/>
        </p:nvSpPr>
        <p:spPr>
          <a:xfrm>
            <a:off x="4800600" y="4507992"/>
            <a:ext cx="2240280" cy="566928"/>
          </a:xfrm>
          <a:prstGeom prst="rect">
            <a:avLst/>
          </a:prstGeom>
          <a:solidFill>
            <a:srgbClr val="0E1D2C"/>
          </a:solidFill>
          <a:ln w="6350">
            <a:solidFill>
              <a:srgbClr val="274052"/>
            </a:solidFill>
            <a:prstDash val="solid"/>
          </a:ln>
        </p:spPr>
        <p:txBody>
          <a:bodyPr/>
          <a:lstStyle/>
          <a:p>
            <a:endParaRPr/>
          </a:p>
        </p:txBody>
      </p:sp>
      <p:sp>
        <p:nvSpPr>
          <p:cNvPr id="70" name="Text 67"/>
          <p:cNvSpPr/>
          <p:nvPr/>
        </p:nvSpPr>
        <p:spPr>
          <a:xfrm>
            <a:off x="4873752" y="4544568"/>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Broad suite</a:t>
            </a:r>
            <a:endParaRPr lang="en-US" sz="720" dirty="0"/>
          </a:p>
        </p:txBody>
      </p:sp>
      <p:sp>
        <p:nvSpPr>
          <p:cNvPr id="71" name="Shape 68"/>
          <p:cNvSpPr/>
          <p:nvPr/>
        </p:nvSpPr>
        <p:spPr>
          <a:xfrm>
            <a:off x="7132320" y="4507992"/>
            <a:ext cx="2240280" cy="566928"/>
          </a:xfrm>
          <a:prstGeom prst="rect">
            <a:avLst/>
          </a:prstGeom>
          <a:solidFill>
            <a:srgbClr val="0E1D2C"/>
          </a:solidFill>
          <a:ln w="6350">
            <a:solidFill>
              <a:srgbClr val="274052"/>
            </a:solidFill>
            <a:prstDash val="solid"/>
          </a:ln>
        </p:spPr>
        <p:txBody>
          <a:bodyPr/>
          <a:lstStyle/>
          <a:p>
            <a:endParaRPr/>
          </a:p>
        </p:txBody>
      </p:sp>
      <p:sp>
        <p:nvSpPr>
          <p:cNvPr id="72" name="Text 69"/>
          <p:cNvSpPr/>
          <p:nvPr/>
        </p:nvSpPr>
        <p:spPr>
          <a:xfrm>
            <a:off x="7205472" y="4544568"/>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Broad platform</a:t>
            </a:r>
            <a:endParaRPr lang="en-US" sz="720" dirty="0"/>
          </a:p>
        </p:txBody>
      </p:sp>
      <p:sp>
        <p:nvSpPr>
          <p:cNvPr id="73" name="Shape 70"/>
          <p:cNvSpPr/>
          <p:nvPr/>
        </p:nvSpPr>
        <p:spPr>
          <a:xfrm>
            <a:off x="9464040" y="4507992"/>
            <a:ext cx="2194560" cy="566928"/>
          </a:xfrm>
          <a:prstGeom prst="rect">
            <a:avLst/>
          </a:prstGeom>
          <a:solidFill>
            <a:srgbClr val="0E1D2C"/>
          </a:solidFill>
          <a:ln w="6350">
            <a:solidFill>
              <a:srgbClr val="274052"/>
            </a:solidFill>
            <a:prstDash val="solid"/>
          </a:ln>
        </p:spPr>
        <p:txBody>
          <a:bodyPr/>
          <a:lstStyle/>
          <a:p>
            <a:endParaRPr/>
          </a:p>
        </p:txBody>
      </p:sp>
      <p:sp>
        <p:nvSpPr>
          <p:cNvPr id="74" name="Text 71"/>
          <p:cNvSpPr/>
          <p:nvPr/>
        </p:nvSpPr>
        <p:spPr>
          <a:xfrm>
            <a:off x="9537192" y="4544568"/>
            <a:ext cx="204825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Analytics/data platform</a:t>
            </a:r>
            <a:endParaRPr lang="en-US" sz="720" dirty="0"/>
          </a:p>
        </p:txBody>
      </p:sp>
      <p:sp>
        <p:nvSpPr>
          <p:cNvPr id="75" name="Shape 72"/>
          <p:cNvSpPr/>
          <p:nvPr/>
        </p:nvSpPr>
        <p:spPr>
          <a:xfrm>
            <a:off x="502920" y="5074920"/>
            <a:ext cx="1828800" cy="566928"/>
          </a:xfrm>
          <a:prstGeom prst="rect">
            <a:avLst/>
          </a:prstGeom>
          <a:solidFill>
            <a:srgbClr val="0B1926"/>
          </a:solidFill>
          <a:ln w="6350">
            <a:solidFill>
              <a:srgbClr val="274052"/>
            </a:solidFill>
            <a:prstDash val="solid"/>
          </a:ln>
        </p:spPr>
        <p:txBody>
          <a:bodyPr/>
          <a:lstStyle/>
          <a:p>
            <a:endParaRPr/>
          </a:p>
        </p:txBody>
      </p:sp>
      <p:sp>
        <p:nvSpPr>
          <p:cNvPr id="76" name="Text 73"/>
          <p:cNvSpPr/>
          <p:nvPr/>
        </p:nvSpPr>
        <p:spPr>
          <a:xfrm>
            <a:off x="576072" y="5111496"/>
            <a:ext cx="1682496" cy="493776"/>
          </a:xfrm>
          <a:prstGeom prst="rect">
            <a:avLst/>
          </a:prstGeom>
          <a:noFill/>
          <a:ln/>
        </p:spPr>
        <p:txBody>
          <a:bodyPr wrap="square" lIns="0" tIns="0" rIns="0" bIns="0" rtlCol="0" anchor="ctr">
            <a:normAutofit/>
          </a:bodyPr>
          <a:lstStyle/>
          <a:p>
            <a:pPr marL="0" indent="0" algn="l">
              <a:buNone/>
            </a:pPr>
            <a:r>
              <a:rPr lang="en-US" sz="720" b="1" dirty="0">
                <a:solidFill>
                  <a:srgbClr val="F4F7FA"/>
                </a:solidFill>
                <a:latin typeface="Aptos" pitchFamily="34" charset="0"/>
                <a:ea typeface="Aptos" pitchFamily="34" charset="-122"/>
                <a:cs typeface="Aptos" pitchFamily="34" charset="-120"/>
              </a:rPr>
              <a:t>What DMI must prove</a:t>
            </a:r>
            <a:endParaRPr lang="en-US" sz="720" dirty="0"/>
          </a:p>
        </p:txBody>
      </p:sp>
      <p:sp>
        <p:nvSpPr>
          <p:cNvPr id="77" name="Shape 74"/>
          <p:cNvSpPr/>
          <p:nvPr/>
        </p:nvSpPr>
        <p:spPr>
          <a:xfrm>
            <a:off x="2423160" y="5074920"/>
            <a:ext cx="2286000" cy="566928"/>
          </a:xfrm>
          <a:prstGeom prst="rect">
            <a:avLst/>
          </a:prstGeom>
          <a:solidFill>
            <a:srgbClr val="0B1926"/>
          </a:solidFill>
          <a:ln w="6350">
            <a:solidFill>
              <a:srgbClr val="274052"/>
            </a:solidFill>
            <a:prstDash val="solid"/>
          </a:ln>
        </p:spPr>
        <p:txBody>
          <a:bodyPr/>
          <a:lstStyle/>
          <a:p>
            <a:endParaRPr/>
          </a:p>
        </p:txBody>
      </p:sp>
      <p:sp>
        <p:nvSpPr>
          <p:cNvPr id="78" name="Text 75"/>
          <p:cNvSpPr/>
          <p:nvPr/>
        </p:nvSpPr>
        <p:spPr>
          <a:xfrm>
            <a:off x="2496312" y="5111496"/>
            <a:ext cx="213969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10–100 node scale + TCO + evidence</a:t>
            </a:r>
            <a:endParaRPr lang="en-US" sz="720" dirty="0"/>
          </a:p>
        </p:txBody>
      </p:sp>
      <p:sp>
        <p:nvSpPr>
          <p:cNvPr id="79" name="Shape 76"/>
          <p:cNvSpPr/>
          <p:nvPr/>
        </p:nvSpPr>
        <p:spPr>
          <a:xfrm>
            <a:off x="4800600" y="5074920"/>
            <a:ext cx="2240280" cy="566928"/>
          </a:xfrm>
          <a:prstGeom prst="rect">
            <a:avLst/>
          </a:prstGeom>
          <a:solidFill>
            <a:srgbClr val="0B1926"/>
          </a:solidFill>
          <a:ln w="6350">
            <a:solidFill>
              <a:srgbClr val="274052"/>
            </a:solidFill>
            <a:prstDash val="solid"/>
          </a:ln>
        </p:spPr>
        <p:txBody>
          <a:bodyPr/>
          <a:lstStyle/>
          <a:p>
            <a:endParaRPr/>
          </a:p>
        </p:txBody>
      </p:sp>
      <p:sp>
        <p:nvSpPr>
          <p:cNvPr id="80" name="Text 77"/>
          <p:cNvSpPr/>
          <p:nvPr/>
        </p:nvSpPr>
        <p:spPr>
          <a:xfrm>
            <a:off x="4873752" y="5111496"/>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a:t>
            </a:r>
            <a:endParaRPr lang="en-US" sz="720" dirty="0"/>
          </a:p>
        </p:txBody>
      </p:sp>
      <p:sp>
        <p:nvSpPr>
          <p:cNvPr id="81" name="Shape 78"/>
          <p:cNvSpPr/>
          <p:nvPr/>
        </p:nvSpPr>
        <p:spPr>
          <a:xfrm>
            <a:off x="7132320" y="5074920"/>
            <a:ext cx="2240280" cy="566928"/>
          </a:xfrm>
          <a:prstGeom prst="rect">
            <a:avLst/>
          </a:prstGeom>
          <a:solidFill>
            <a:srgbClr val="0B1926"/>
          </a:solidFill>
          <a:ln w="6350">
            <a:solidFill>
              <a:srgbClr val="274052"/>
            </a:solidFill>
            <a:prstDash val="solid"/>
          </a:ln>
        </p:spPr>
        <p:txBody>
          <a:bodyPr/>
          <a:lstStyle/>
          <a:p>
            <a:endParaRPr/>
          </a:p>
        </p:txBody>
      </p:sp>
      <p:sp>
        <p:nvSpPr>
          <p:cNvPr id="82" name="Text 79"/>
          <p:cNvSpPr/>
          <p:nvPr/>
        </p:nvSpPr>
        <p:spPr>
          <a:xfrm>
            <a:off x="7205472" y="5111496"/>
            <a:ext cx="209397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a:t>
            </a:r>
            <a:endParaRPr lang="en-US" sz="720" dirty="0"/>
          </a:p>
        </p:txBody>
      </p:sp>
      <p:sp>
        <p:nvSpPr>
          <p:cNvPr id="83" name="Shape 80"/>
          <p:cNvSpPr/>
          <p:nvPr/>
        </p:nvSpPr>
        <p:spPr>
          <a:xfrm>
            <a:off x="9464040" y="5074920"/>
            <a:ext cx="2194560" cy="566928"/>
          </a:xfrm>
          <a:prstGeom prst="rect">
            <a:avLst/>
          </a:prstGeom>
          <a:solidFill>
            <a:srgbClr val="0B1926"/>
          </a:solidFill>
          <a:ln w="6350">
            <a:solidFill>
              <a:srgbClr val="274052"/>
            </a:solidFill>
            <a:prstDash val="solid"/>
          </a:ln>
        </p:spPr>
        <p:txBody>
          <a:bodyPr/>
          <a:lstStyle/>
          <a:p>
            <a:endParaRPr/>
          </a:p>
        </p:txBody>
      </p:sp>
      <p:sp>
        <p:nvSpPr>
          <p:cNvPr id="84" name="Text 81"/>
          <p:cNvSpPr/>
          <p:nvPr/>
        </p:nvSpPr>
        <p:spPr>
          <a:xfrm>
            <a:off x="9537192" y="5111496"/>
            <a:ext cx="2048256" cy="493776"/>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a:t>
            </a:r>
            <a:endParaRPr lang="en-US" sz="720" dirty="0"/>
          </a:p>
        </p:txBody>
      </p:sp>
      <p:sp>
        <p:nvSpPr>
          <p:cNvPr id="85" name="Text 82"/>
          <p:cNvSpPr/>
          <p:nvPr/>
        </p:nvSpPr>
        <p:spPr>
          <a:xfrm>
            <a:off x="530352" y="6153912"/>
            <a:ext cx="11064240" cy="228600"/>
          </a:xfrm>
          <a:prstGeom prst="rect">
            <a:avLst/>
          </a:prstGeom>
          <a:noFill/>
          <a:ln/>
        </p:spPr>
        <p:txBody>
          <a:bodyPr wrap="square" lIns="0" tIns="0" rIns="0" bIns="0" rtlCol="0" anchor="t">
            <a:normAutofit/>
          </a:bodyPr>
          <a:lstStyle/>
          <a:p>
            <a:pPr marL="0" indent="0" algn="l">
              <a:buNone/>
            </a:pPr>
            <a:r>
              <a:rPr lang="en-US" sz="730" dirty="0">
                <a:solidFill>
                  <a:srgbClr val="8FA2B3"/>
                </a:solidFill>
                <a:latin typeface="Aptos" pitchFamily="34" charset="0"/>
                <a:ea typeface="Aptos" pitchFamily="34" charset="-122"/>
                <a:cs typeface="Aptos" pitchFamily="34" charset="-120"/>
              </a:rPr>
              <a:t>Current vendor facts should be revalidated before external circulation. Sources in underlying analysis include Siemens, Litmus, Cognite, HighByte, AVEVA, Palantir, Sight Machine, Seeq, AWS and Rhize.</a:t>
            </a:r>
            <a:endParaRPr lang="en-US" sz="730" dirty="0"/>
          </a:p>
        </p:txBody>
      </p:sp>
      <p:sp>
        <p:nvSpPr>
          <p:cNvPr id="86"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Only DMI runs in the plant and reasons from the process map</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Where each product runs, and whether it reasons from process cause and effect or starts from AI and analytics.</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301" name="Map Plot Area"/>
          <p:cNvSpPr/>
          <p:nvPr/>
        </p:nvSpPr>
        <p:spPr>
          <a:xfrm>
            <a:off x="1371600" y="1463040"/>
            <a:ext cx="6263640" cy="3749040"/>
          </a:xfrm>
          <a:prstGeom prst="rect">
            <a:avLst/>
          </a:prstGeom>
          <a:solidFill>
            <a:srgbClr val="0E1D2C"/>
          </a:solidFill>
          <a:ln w="12700">
            <a:solidFill>
              <a:srgbClr val="274052"/>
            </a:solidFill>
          </a:ln>
        </p:spPr>
        <p:txBody>
          <a:bodyPr/>
          <a:lstStyle/>
          <a:p>
            <a:endParaRPr/>
          </a:p>
        </p:txBody>
      </p:sp>
      <p:sp>
        <p:nvSpPr>
          <p:cNvPr id="302" name="Map Target Quadrant"/>
          <p:cNvSpPr/>
          <p:nvPr/>
        </p:nvSpPr>
        <p:spPr>
          <a:xfrm>
            <a:off x="4503420" y="1463040"/>
            <a:ext cx="3131820" cy="1874520"/>
          </a:xfrm>
          <a:prstGeom prst="rect">
            <a:avLst/>
          </a:prstGeom>
          <a:solidFill>
            <a:srgbClr val="102C44"/>
          </a:solidFill>
          <a:ln>
            <a:noFill/>
          </a:ln>
        </p:spPr>
        <p:txBody>
          <a:bodyPr/>
          <a:lstStyle/>
          <a:p>
            <a:endParaRPr/>
          </a:p>
        </p:txBody>
      </p:sp>
      <p:sp>
        <p:nvSpPr>
          <p:cNvPr id="303" name="Map Plot Border"/>
          <p:cNvSpPr/>
          <p:nvPr/>
        </p:nvSpPr>
        <p:spPr>
          <a:xfrm>
            <a:off x="1371600" y="1463040"/>
            <a:ext cx="6263640" cy="3749040"/>
          </a:xfrm>
          <a:prstGeom prst="rect">
            <a:avLst/>
          </a:prstGeom>
          <a:noFill/>
          <a:ln w="12700">
            <a:solidFill>
              <a:srgbClr val="274052"/>
            </a:solidFill>
          </a:ln>
        </p:spPr>
        <p:txBody>
          <a:bodyPr/>
          <a:lstStyle/>
          <a:p>
            <a:endParaRPr/>
          </a:p>
        </p:txBody>
      </p:sp>
      <p:cxnSp>
        <p:nvCxnSpPr>
          <p:cNvPr id="304" name="Map Vertical Midline"/>
          <p:cNvCxnSpPr/>
          <p:nvPr/>
        </p:nvCxnSpPr>
        <p:spPr>
          <a:xfrm>
            <a:off x="4503420" y="1463040"/>
            <a:ext cx="0" cy="3749040"/>
          </a:xfrm>
          <a:prstGeom prst="line">
            <a:avLst/>
          </a:prstGeom>
          <a:ln w="9525">
            <a:solidFill>
              <a:srgbClr val="3A5468"/>
            </a:solidFill>
            <a:prstDash val="dash"/>
          </a:ln>
        </p:spPr>
      </p:cxnSp>
      <p:cxnSp>
        <p:nvCxnSpPr>
          <p:cNvPr id="305" name="Map Horizontal Midline"/>
          <p:cNvCxnSpPr/>
          <p:nvPr/>
        </p:nvCxnSpPr>
        <p:spPr>
          <a:xfrm>
            <a:off x="1371600" y="3337560"/>
            <a:ext cx="6263640" cy="0"/>
          </a:xfrm>
          <a:prstGeom prst="line">
            <a:avLst/>
          </a:prstGeom>
          <a:ln w="9525">
            <a:solidFill>
              <a:srgbClr val="3A5468"/>
            </a:solidFill>
            <a:prstDash val="dash"/>
          </a:ln>
        </p:spPr>
      </p:cxnSp>
      <p:sp>
        <p:nvSpPr>
          <p:cNvPr id="306" name="Map Axis Top"/>
          <p:cNvSpPr txBox="1"/>
          <p:nvPr/>
        </p:nvSpPr>
        <p:spPr>
          <a:xfrm>
            <a:off x="594360" y="1463040"/>
            <a:ext cx="713232" cy="411480"/>
          </a:xfrm>
          <a:prstGeom prst="rect">
            <a:avLst/>
          </a:prstGeom>
          <a:noFill/>
          <a:ln/>
        </p:spPr>
        <p:txBody>
          <a:bodyPr wrap="square" lIns="0" tIns="0" rIns="0" bIns="0" rtlCol="0" anchor="t">
            <a:normAutofit/>
          </a:bodyPr>
          <a:lstStyle/>
          <a:p>
            <a:pPr marL="0" indent="0" algn="l">
              <a:buNone/>
            </a:pPr>
            <a:r>
              <a:rPr lang="en-US" sz="1000" dirty="0">
                <a:solidFill>
                  <a:srgbClr val="8FA2B3"/>
                </a:solidFill>
                <a:latin typeface="Aptos" pitchFamily="34" charset="0"/>
                <a:ea typeface="Aptos" pitchFamily="34" charset="-122"/>
                <a:cs typeface="Aptos" pitchFamily="34" charset="-120"/>
              </a:rPr>
              <a:t>Process-causal</a:t>
            </a:r>
          </a:p>
        </p:txBody>
      </p:sp>
      <p:sp>
        <p:nvSpPr>
          <p:cNvPr id="307" name="Map Axis Bottom"/>
          <p:cNvSpPr txBox="1"/>
          <p:nvPr/>
        </p:nvSpPr>
        <p:spPr>
          <a:xfrm>
            <a:off x="594360" y="4645152"/>
            <a:ext cx="713232" cy="566928"/>
          </a:xfrm>
          <a:prstGeom prst="rect">
            <a:avLst/>
          </a:prstGeom>
          <a:noFill/>
          <a:ln/>
        </p:spPr>
        <p:txBody>
          <a:bodyPr wrap="square" lIns="0" tIns="0" rIns="0" bIns="0" rtlCol="0" anchor="b">
            <a:normAutofit/>
          </a:bodyPr>
          <a:lstStyle/>
          <a:p>
            <a:pPr marL="0" indent="0" algn="l">
              <a:buNone/>
            </a:pPr>
            <a:r>
              <a:rPr lang="en-US" sz="1000" dirty="0">
                <a:solidFill>
                  <a:srgbClr val="8FA2B3"/>
                </a:solidFill>
                <a:latin typeface="Aptos" pitchFamily="34" charset="0"/>
                <a:ea typeface="Aptos" pitchFamily="34" charset="-122"/>
                <a:cs typeface="Aptos" pitchFamily="34" charset="-120"/>
              </a:rPr>
              <a:t>AI or analytics first</a:t>
            </a:r>
          </a:p>
        </p:txBody>
      </p:sp>
      <p:sp>
        <p:nvSpPr>
          <p:cNvPr id="308" name="Map Axis Left"/>
          <p:cNvSpPr txBox="1"/>
          <p:nvPr/>
        </p:nvSpPr>
        <p:spPr>
          <a:xfrm>
            <a:off x="1371600" y="5285232"/>
            <a:ext cx="2743200" cy="228600"/>
          </a:xfrm>
          <a:prstGeom prst="rect">
            <a:avLst/>
          </a:prstGeom>
          <a:noFill/>
          <a:ln/>
        </p:spPr>
        <p:txBody>
          <a:bodyPr wrap="square" lIns="0" tIns="0" rIns="0" bIns="0" rtlCol="0" anchor="t">
            <a:normAutofit/>
          </a:bodyPr>
          <a:lstStyle/>
          <a:p>
            <a:pPr marL="0" indent="0" algn="l">
              <a:buNone/>
            </a:pPr>
            <a:r>
              <a:rPr lang="en-US" sz="1000" dirty="0">
                <a:solidFill>
                  <a:srgbClr val="8FA2B3"/>
                </a:solidFill>
                <a:latin typeface="Aptos" pitchFamily="34" charset="0"/>
                <a:ea typeface="Aptos" pitchFamily="34" charset="-122"/>
                <a:cs typeface="Aptos" pitchFamily="34" charset="-120"/>
              </a:rPr>
              <a:t>Runs mostly in the cloud</a:t>
            </a:r>
          </a:p>
        </p:txBody>
      </p:sp>
      <p:sp>
        <p:nvSpPr>
          <p:cNvPr id="309" name="Map Axis Right"/>
          <p:cNvSpPr txBox="1"/>
          <p:nvPr/>
        </p:nvSpPr>
        <p:spPr>
          <a:xfrm>
            <a:off x="4892040" y="5285232"/>
            <a:ext cx="2743200" cy="228600"/>
          </a:xfrm>
          <a:prstGeom prst="rect">
            <a:avLst/>
          </a:prstGeom>
          <a:noFill/>
          <a:ln/>
        </p:spPr>
        <p:txBody>
          <a:bodyPr wrap="square" lIns="0" tIns="0" rIns="0" bIns="0" rtlCol="0" anchor="t">
            <a:normAutofit/>
          </a:bodyPr>
          <a:lstStyle/>
          <a:p>
            <a:pPr marL="0" indent="0" algn="r">
              <a:buNone/>
            </a:pPr>
            <a:r>
              <a:rPr lang="en-US" sz="1000" dirty="0">
                <a:solidFill>
                  <a:srgbClr val="8FA2B3"/>
                </a:solidFill>
                <a:latin typeface="Aptos" pitchFamily="34" charset="0"/>
                <a:ea typeface="Aptos" pitchFamily="34" charset="-122"/>
                <a:cs typeface="Aptos" pitchFamily="34" charset="-120"/>
              </a:rPr>
              <a:t>Runs in the plant</a:t>
            </a:r>
          </a:p>
        </p:txBody>
      </p:sp>
      <p:sp>
        <p:nvSpPr>
          <p:cNvPr id="310" name="Map Point Braincube"/>
          <p:cNvSpPr/>
          <p:nvPr/>
        </p:nvSpPr>
        <p:spPr>
          <a:xfrm>
            <a:off x="2419640" y="2585832"/>
            <a:ext cx="146304" cy="146304"/>
          </a:xfrm>
          <a:prstGeom prst="ellipse">
            <a:avLst/>
          </a:prstGeom>
          <a:solidFill>
            <a:srgbClr val="8FA2B3"/>
          </a:solidFill>
          <a:ln>
            <a:noFill/>
          </a:ln>
        </p:spPr>
        <p:txBody>
          <a:bodyPr/>
          <a:lstStyle/>
          <a:p>
            <a:endParaRPr/>
          </a:p>
        </p:txBody>
      </p:sp>
      <p:sp>
        <p:nvSpPr>
          <p:cNvPr id="311" name="Map Label Braincube"/>
          <p:cNvSpPr txBox="1"/>
          <p:nvPr/>
        </p:nvSpPr>
        <p:spPr>
          <a:xfrm>
            <a:off x="2629952" y="2540112"/>
            <a:ext cx="2194560" cy="237744"/>
          </a:xfrm>
          <a:prstGeom prst="rect">
            <a:avLst/>
          </a:prstGeom>
          <a:noFill/>
          <a:ln/>
        </p:spPr>
        <p:txBody>
          <a:bodyPr wrap="square" lIns="0" tIns="0" rIns="0" bIns="0" rtlCol="0" anchor="ctr">
            <a:normAutofit/>
          </a:bodyPr>
          <a:lstStyle/>
          <a:p>
            <a:pPr marL="0" indent="0" algn="l">
              <a:buNone/>
            </a:pPr>
            <a:r>
              <a:rPr lang="en-US" sz="1100" dirty="0">
                <a:solidFill>
                  <a:srgbClr val="D8E1E8"/>
                </a:solidFill>
                <a:latin typeface="Aptos" pitchFamily="34" charset="0"/>
                <a:ea typeface="Aptos" pitchFamily="34" charset="-122"/>
                <a:cs typeface="Aptos" pitchFamily="34" charset="-120"/>
              </a:rPr>
              <a:t>Braincube</a:t>
            </a:r>
          </a:p>
        </p:txBody>
      </p:sp>
      <p:sp>
        <p:nvSpPr>
          <p:cNvPr id="312" name="Map Point Sight Machine"/>
          <p:cNvSpPr/>
          <p:nvPr/>
        </p:nvSpPr>
        <p:spPr>
          <a:xfrm>
            <a:off x="2050085" y="2960736"/>
            <a:ext cx="146304" cy="146304"/>
          </a:xfrm>
          <a:prstGeom prst="ellipse">
            <a:avLst/>
          </a:prstGeom>
          <a:solidFill>
            <a:srgbClr val="8FA2B3"/>
          </a:solidFill>
          <a:ln>
            <a:noFill/>
          </a:ln>
        </p:spPr>
        <p:txBody>
          <a:bodyPr/>
          <a:lstStyle/>
          <a:p>
            <a:endParaRPr/>
          </a:p>
        </p:txBody>
      </p:sp>
      <p:sp>
        <p:nvSpPr>
          <p:cNvPr id="313" name="Map Label Sight Machine"/>
          <p:cNvSpPr txBox="1"/>
          <p:nvPr/>
        </p:nvSpPr>
        <p:spPr>
          <a:xfrm>
            <a:off x="2260397" y="2915016"/>
            <a:ext cx="2194560" cy="237744"/>
          </a:xfrm>
          <a:prstGeom prst="rect">
            <a:avLst/>
          </a:prstGeom>
          <a:noFill/>
          <a:ln/>
        </p:spPr>
        <p:txBody>
          <a:bodyPr wrap="square" lIns="0" tIns="0" rIns="0" bIns="0" rtlCol="0" anchor="ctr">
            <a:normAutofit/>
          </a:bodyPr>
          <a:lstStyle/>
          <a:p>
            <a:pPr marL="0" indent="0" algn="l">
              <a:buNone/>
            </a:pPr>
            <a:r>
              <a:rPr lang="en-US" sz="1100" dirty="0">
                <a:solidFill>
                  <a:srgbClr val="D8E1E8"/>
                </a:solidFill>
                <a:latin typeface="Aptos" pitchFamily="34" charset="0"/>
                <a:ea typeface="Aptos" pitchFamily="34" charset="-122"/>
                <a:cs typeface="Aptos" pitchFamily="34" charset="-120"/>
              </a:rPr>
              <a:t>Sight Machine</a:t>
            </a:r>
          </a:p>
        </p:txBody>
      </p:sp>
      <p:sp>
        <p:nvSpPr>
          <p:cNvPr id="314" name="Map Point TwinThread"/>
          <p:cNvSpPr/>
          <p:nvPr/>
        </p:nvSpPr>
        <p:spPr>
          <a:xfrm>
            <a:off x="3171276" y="3710544"/>
            <a:ext cx="146304" cy="146304"/>
          </a:xfrm>
          <a:prstGeom prst="ellipse">
            <a:avLst/>
          </a:prstGeom>
          <a:solidFill>
            <a:srgbClr val="8FA2B3"/>
          </a:solidFill>
          <a:ln>
            <a:noFill/>
          </a:ln>
        </p:spPr>
        <p:txBody>
          <a:bodyPr/>
          <a:lstStyle/>
          <a:p>
            <a:endParaRPr/>
          </a:p>
        </p:txBody>
      </p:sp>
      <p:sp>
        <p:nvSpPr>
          <p:cNvPr id="315" name="Map Label TwinThread"/>
          <p:cNvSpPr txBox="1"/>
          <p:nvPr/>
        </p:nvSpPr>
        <p:spPr>
          <a:xfrm>
            <a:off x="3381588" y="3664824"/>
            <a:ext cx="2194560" cy="237744"/>
          </a:xfrm>
          <a:prstGeom prst="rect">
            <a:avLst/>
          </a:prstGeom>
          <a:noFill/>
          <a:ln/>
        </p:spPr>
        <p:txBody>
          <a:bodyPr wrap="square" lIns="0" tIns="0" rIns="0" bIns="0" rtlCol="0" anchor="ctr">
            <a:normAutofit/>
          </a:bodyPr>
          <a:lstStyle/>
          <a:p>
            <a:pPr marL="0" indent="0" algn="l">
              <a:buNone/>
            </a:pPr>
            <a:r>
              <a:rPr lang="en-US" sz="1100" dirty="0">
                <a:solidFill>
                  <a:srgbClr val="D8E1E8"/>
                </a:solidFill>
                <a:latin typeface="Aptos" pitchFamily="34" charset="0"/>
                <a:ea typeface="Aptos" pitchFamily="34" charset="-122"/>
                <a:cs typeface="Aptos" pitchFamily="34" charset="-120"/>
              </a:rPr>
              <a:t>TwinThread</a:t>
            </a:r>
          </a:p>
        </p:txBody>
      </p:sp>
      <p:sp>
        <p:nvSpPr>
          <p:cNvPr id="316" name="Map Point Seeq"/>
          <p:cNvSpPr/>
          <p:nvPr/>
        </p:nvSpPr>
        <p:spPr>
          <a:xfrm>
            <a:off x="4430268" y="3646810"/>
            <a:ext cx="146304" cy="146304"/>
          </a:xfrm>
          <a:prstGeom prst="ellipse">
            <a:avLst/>
          </a:prstGeom>
          <a:solidFill>
            <a:srgbClr val="8FA2B3"/>
          </a:solidFill>
          <a:ln>
            <a:noFill/>
          </a:ln>
        </p:spPr>
        <p:txBody>
          <a:bodyPr/>
          <a:lstStyle/>
          <a:p>
            <a:endParaRPr/>
          </a:p>
        </p:txBody>
      </p:sp>
      <p:sp>
        <p:nvSpPr>
          <p:cNvPr id="317" name="Map Label Seeq"/>
          <p:cNvSpPr txBox="1"/>
          <p:nvPr/>
        </p:nvSpPr>
        <p:spPr>
          <a:xfrm>
            <a:off x="4640580" y="3601090"/>
            <a:ext cx="2194560" cy="237744"/>
          </a:xfrm>
          <a:prstGeom prst="rect">
            <a:avLst/>
          </a:prstGeom>
          <a:noFill/>
          <a:ln/>
        </p:spPr>
        <p:txBody>
          <a:bodyPr wrap="square" lIns="0" tIns="0" rIns="0" bIns="0" rtlCol="0" anchor="ctr">
            <a:normAutofit/>
          </a:bodyPr>
          <a:lstStyle/>
          <a:p>
            <a:pPr marL="0" indent="0" algn="l">
              <a:buNone/>
            </a:pPr>
            <a:r>
              <a:rPr lang="en-US" sz="1100" dirty="0">
                <a:solidFill>
                  <a:srgbClr val="D8E1E8"/>
                </a:solidFill>
                <a:latin typeface="Aptos" pitchFamily="34" charset="0"/>
                <a:ea typeface="Aptos" pitchFamily="34" charset="-122"/>
                <a:cs typeface="Aptos" pitchFamily="34" charset="-120"/>
              </a:rPr>
              <a:t>Seeq</a:t>
            </a:r>
          </a:p>
        </p:txBody>
      </p:sp>
      <p:sp>
        <p:nvSpPr>
          <p:cNvPr id="318" name="Map Point Cognite"/>
          <p:cNvSpPr/>
          <p:nvPr/>
        </p:nvSpPr>
        <p:spPr>
          <a:xfrm>
            <a:off x="2050085" y="4310390"/>
            <a:ext cx="146304" cy="146304"/>
          </a:xfrm>
          <a:prstGeom prst="ellipse">
            <a:avLst/>
          </a:prstGeom>
          <a:solidFill>
            <a:srgbClr val="8FA2B3"/>
          </a:solidFill>
          <a:ln>
            <a:noFill/>
          </a:ln>
        </p:spPr>
        <p:txBody>
          <a:bodyPr/>
          <a:lstStyle/>
          <a:p>
            <a:endParaRPr/>
          </a:p>
        </p:txBody>
      </p:sp>
      <p:sp>
        <p:nvSpPr>
          <p:cNvPr id="319" name="Map Label Cognite"/>
          <p:cNvSpPr txBox="1"/>
          <p:nvPr/>
        </p:nvSpPr>
        <p:spPr>
          <a:xfrm>
            <a:off x="2260397" y="4264670"/>
            <a:ext cx="2194560" cy="237744"/>
          </a:xfrm>
          <a:prstGeom prst="rect">
            <a:avLst/>
          </a:prstGeom>
          <a:noFill/>
          <a:ln/>
        </p:spPr>
        <p:txBody>
          <a:bodyPr wrap="square" lIns="0" tIns="0" rIns="0" bIns="0" rtlCol="0" anchor="ctr">
            <a:normAutofit/>
          </a:bodyPr>
          <a:lstStyle/>
          <a:p>
            <a:pPr marL="0" indent="0" algn="l">
              <a:buNone/>
            </a:pPr>
            <a:r>
              <a:rPr lang="en-US" sz="1100" dirty="0">
                <a:solidFill>
                  <a:srgbClr val="D8E1E8"/>
                </a:solidFill>
                <a:latin typeface="Aptos" pitchFamily="34" charset="0"/>
                <a:ea typeface="Aptos" pitchFamily="34" charset="-122"/>
                <a:cs typeface="Aptos" pitchFamily="34" charset="-120"/>
              </a:rPr>
              <a:t>Cognite</a:t>
            </a:r>
          </a:p>
        </p:txBody>
      </p:sp>
      <p:sp>
        <p:nvSpPr>
          <p:cNvPr id="320" name="Map Point Siemens Industrial Copilot"/>
          <p:cNvSpPr/>
          <p:nvPr/>
        </p:nvSpPr>
        <p:spPr>
          <a:xfrm>
            <a:off x="5551460" y="4085448"/>
            <a:ext cx="146304" cy="146304"/>
          </a:xfrm>
          <a:prstGeom prst="ellipse">
            <a:avLst/>
          </a:prstGeom>
          <a:solidFill>
            <a:srgbClr val="8FA2B3"/>
          </a:solidFill>
          <a:ln>
            <a:noFill/>
          </a:ln>
        </p:spPr>
        <p:txBody>
          <a:bodyPr/>
          <a:lstStyle/>
          <a:p>
            <a:endParaRPr/>
          </a:p>
        </p:txBody>
      </p:sp>
      <p:sp>
        <p:nvSpPr>
          <p:cNvPr id="321" name="Map Label Siemens Industrial Copilot"/>
          <p:cNvSpPr txBox="1"/>
          <p:nvPr/>
        </p:nvSpPr>
        <p:spPr>
          <a:xfrm>
            <a:off x="5761772" y="4039728"/>
            <a:ext cx="1827748" cy="237744"/>
          </a:xfrm>
          <a:prstGeom prst="rect">
            <a:avLst/>
          </a:prstGeom>
          <a:noFill/>
          <a:ln/>
        </p:spPr>
        <p:txBody>
          <a:bodyPr wrap="square" lIns="0" tIns="0" rIns="0" bIns="0" rtlCol="0" anchor="ctr">
            <a:normAutofit/>
          </a:bodyPr>
          <a:lstStyle/>
          <a:p>
            <a:pPr marL="0" indent="0" algn="l">
              <a:buNone/>
            </a:pPr>
            <a:r>
              <a:rPr lang="en-US" sz="1100" dirty="0">
                <a:solidFill>
                  <a:srgbClr val="D8E1E8"/>
                </a:solidFill>
                <a:latin typeface="Aptos" pitchFamily="34" charset="0"/>
                <a:ea typeface="Aptos" pitchFamily="34" charset="-122"/>
                <a:cs typeface="Aptos" pitchFamily="34" charset="-120"/>
              </a:rPr>
              <a:t>Siemens Industrial Copilot</a:t>
            </a:r>
          </a:p>
        </p:txBody>
      </p:sp>
      <p:sp>
        <p:nvSpPr>
          <p:cNvPr id="322" name="Map Point Rockwell FactoryTalk"/>
          <p:cNvSpPr/>
          <p:nvPr/>
        </p:nvSpPr>
        <p:spPr>
          <a:xfrm>
            <a:off x="5426187" y="4685294"/>
            <a:ext cx="146304" cy="146304"/>
          </a:xfrm>
          <a:prstGeom prst="ellipse">
            <a:avLst/>
          </a:prstGeom>
          <a:solidFill>
            <a:srgbClr val="8FA2B3"/>
          </a:solidFill>
          <a:ln>
            <a:noFill/>
          </a:ln>
        </p:spPr>
        <p:txBody>
          <a:bodyPr/>
          <a:lstStyle/>
          <a:p>
            <a:endParaRPr/>
          </a:p>
        </p:txBody>
      </p:sp>
      <p:sp>
        <p:nvSpPr>
          <p:cNvPr id="323" name="Map Label Rockwell FactoryTalk"/>
          <p:cNvSpPr txBox="1"/>
          <p:nvPr/>
        </p:nvSpPr>
        <p:spPr>
          <a:xfrm>
            <a:off x="5636499" y="4639574"/>
            <a:ext cx="1953021" cy="237744"/>
          </a:xfrm>
          <a:prstGeom prst="rect">
            <a:avLst/>
          </a:prstGeom>
          <a:noFill/>
          <a:ln/>
        </p:spPr>
        <p:txBody>
          <a:bodyPr wrap="square" lIns="0" tIns="0" rIns="0" bIns="0" rtlCol="0" anchor="ctr">
            <a:normAutofit/>
          </a:bodyPr>
          <a:lstStyle/>
          <a:p>
            <a:pPr marL="0" indent="0" algn="l">
              <a:buNone/>
            </a:pPr>
            <a:r>
              <a:rPr lang="en-US" sz="1100" dirty="0">
                <a:solidFill>
                  <a:srgbClr val="D8E1E8"/>
                </a:solidFill>
                <a:latin typeface="Aptos" pitchFamily="34" charset="0"/>
                <a:ea typeface="Aptos" pitchFamily="34" charset="-122"/>
                <a:cs typeface="Aptos" pitchFamily="34" charset="-120"/>
              </a:rPr>
              <a:t>Rockwell FactoryTalk</a:t>
            </a:r>
          </a:p>
        </p:txBody>
      </p:sp>
      <p:sp>
        <p:nvSpPr>
          <p:cNvPr id="324" name="Map Point DMI"/>
          <p:cNvSpPr/>
          <p:nvPr/>
        </p:nvSpPr>
        <p:spPr>
          <a:xfrm>
            <a:off x="6455938" y="1984522"/>
            <a:ext cx="329184" cy="329184"/>
          </a:xfrm>
          <a:prstGeom prst="ellipse">
            <a:avLst/>
          </a:prstGeom>
          <a:solidFill>
            <a:srgbClr val="4EA3D8"/>
          </a:solidFill>
          <a:ln>
            <a:noFill/>
          </a:ln>
        </p:spPr>
        <p:txBody>
          <a:bodyPr/>
          <a:lstStyle/>
          <a:p>
            <a:endParaRPr/>
          </a:p>
        </p:txBody>
      </p:sp>
      <p:sp>
        <p:nvSpPr>
          <p:cNvPr id="325" name="Map Label DMI"/>
          <p:cNvSpPr txBox="1"/>
          <p:nvPr/>
        </p:nvSpPr>
        <p:spPr>
          <a:xfrm>
            <a:off x="5889010" y="2368570"/>
            <a:ext cx="1463040" cy="274320"/>
          </a:xfrm>
          <a:prstGeom prst="rect">
            <a:avLst/>
          </a:prstGeom>
          <a:noFill/>
          <a:ln/>
        </p:spPr>
        <p:txBody>
          <a:bodyPr wrap="square" lIns="0" tIns="0" rIns="0" bIns="0" rtlCol="0" anchor="ctr">
            <a:normAutofit/>
          </a:bodyPr>
          <a:lstStyle/>
          <a:p>
            <a:pPr marL="0" indent="0" algn="ctr">
              <a:buNone/>
            </a:pPr>
            <a:r>
              <a:rPr lang="en-US" sz="1400" b="1" dirty="0">
                <a:solidFill>
                  <a:srgbClr val="4EA3D8"/>
                </a:solidFill>
                <a:latin typeface="Aptos" pitchFamily="34" charset="0"/>
                <a:ea typeface="Aptos" pitchFamily="34" charset="-122"/>
                <a:cs typeface="Aptos" pitchFamily="34" charset="-120"/>
              </a:rPr>
              <a:t>DMI</a:t>
            </a:r>
          </a:p>
        </p:txBody>
      </p:sp>
      <p:sp>
        <p:nvSpPr>
          <p:cNvPr id="326" name="Threat Card"/>
          <p:cNvSpPr/>
          <p:nvPr/>
        </p:nvSpPr>
        <p:spPr>
          <a:xfrm>
            <a:off x="8001000" y="1463040"/>
            <a:ext cx="3602736" cy="1783080"/>
          </a:xfrm>
          <a:prstGeom prst="roundRect">
            <a:avLst>
              <a:gd name="adj" fmla="val 2778"/>
            </a:avLst>
          </a:prstGeom>
          <a:solidFill>
            <a:srgbClr val="0E1D2C"/>
          </a:solidFill>
          <a:ln w="12700">
            <a:solidFill>
              <a:srgbClr val="274052"/>
            </a:solidFill>
          </a:ln>
        </p:spPr>
        <p:txBody>
          <a:bodyPr/>
          <a:lstStyle/>
          <a:p>
            <a:endParaRPr/>
          </a:p>
        </p:txBody>
      </p:sp>
      <p:sp>
        <p:nvSpPr>
          <p:cNvPr id="327" name="Threat Card Accent"/>
          <p:cNvSpPr/>
          <p:nvPr/>
        </p:nvSpPr>
        <p:spPr>
          <a:xfrm>
            <a:off x="8001000" y="1463040"/>
            <a:ext cx="45720" cy="1783080"/>
          </a:xfrm>
          <a:prstGeom prst="rect">
            <a:avLst/>
          </a:prstGeom>
          <a:solidFill>
            <a:srgbClr val="4EA3D8"/>
          </a:solidFill>
          <a:ln w="12700">
            <a:solidFill>
              <a:srgbClr val="4EA3D8"/>
            </a:solidFill>
          </a:ln>
        </p:spPr>
        <p:txBody>
          <a:bodyPr/>
          <a:lstStyle/>
          <a:p>
            <a:endParaRPr/>
          </a:p>
        </p:txBody>
      </p:sp>
      <p:sp>
        <p:nvSpPr>
          <p:cNvPr id="328" name="Threat Card Heading"/>
          <p:cNvSpPr txBox="1"/>
          <p:nvPr/>
        </p:nvSpPr>
        <p:spPr>
          <a:xfrm>
            <a:off x="8183880" y="1609344"/>
            <a:ext cx="3236976" cy="256032"/>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MAIN THREATS</a:t>
            </a:r>
          </a:p>
        </p:txBody>
      </p:sp>
      <p:sp>
        <p:nvSpPr>
          <p:cNvPr id="329" name="Threat Card Text"/>
          <p:cNvSpPr txBox="1"/>
          <p:nvPr/>
        </p:nvSpPr>
        <p:spPr>
          <a:xfrm>
            <a:off x="8183880" y="1965960"/>
            <a:ext cx="3236976" cy="1143000"/>
          </a:xfrm>
          <a:prstGeom prst="rect">
            <a:avLst/>
          </a:prstGeom>
          <a:noFill/>
          <a:ln/>
        </p:spPr>
        <p:txBody>
          <a:bodyPr wrap="square" lIns="0" tIns="0" rIns="0" bIns="0" rtlCol="0" anchor="t">
            <a:normAutofit/>
          </a:bodyPr>
          <a:lstStyle/>
          <a:p>
            <a:pPr marL="0" indent="0" algn="l">
              <a:buNone/>
            </a:pPr>
            <a:r>
              <a:rPr lang="en-US" sz="1100" dirty="0">
                <a:solidFill>
                  <a:srgbClr val="D8E1E8"/>
                </a:solidFill>
                <a:latin typeface="Aptos" pitchFamily="34" charset="0"/>
                <a:ea typeface="Aptos" pitchFamily="34" charset="-122"/>
                <a:cs typeface="Aptos" pitchFamily="34" charset="-120"/>
              </a:rPr>
              <a:t>Siemens pairs edge AI with a large installed base. Braincube shares DMI's optimization goal. Most others run in the cloud, so their cost rises with use.</a:t>
            </a:r>
          </a:p>
        </p:txBody>
      </p:sp>
      <p:sp>
        <p:nvSpPr>
          <p:cNvPr id="330" name="Partner Card"/>
          <p:cNvSpPr/>
          <p:nvPr/>
        </p:nvSpPr>
        <p:spPr>
          <a:xfrm>
            <a:off x="8001000" y="3429000"/>
            <a:ext cx="3602736" cy="1783080"/>
          </a:xfrm>
          <a:prstGeom prst="roundRect">
            <a:avLst>
              <a:gd name="adj" fmla="val 2778"/>
            </a:avLst>
          </a:prstGeom>
          <a:solidFill>
            <a:srgbClr val="0E1D2C"/>
          </a:solidFill>
          <a:ln w="12700">
            <a:solidFill>
              <a:srgbClr val="274052"/>
            </a:solidFill>
          </a:ln>
        </p:spPr>
        <p:txBody>
          <a:bodyPr/>
          <a:lstStyle/>
          <a:p>
            <a:endParaRPr/>
          </a:p>
        </p:txBody>
      </p:sp>
      <p:sp>
        <p:nvSpPr>
          <p:cNvPr id="331" name="Partner Card Accent"/>
          <p:cNvSpPr/>
          <p:nvPr/>
        </p:nvSpPr>
        <p:spPr>
          <a:xfrm>
            <a:off x="8001000" y="3429000"/>
            <a:ext cx="45720" cy="1783080"/>
          </a:xfrm>
          <a:prstGeom prst="rect">
            <a:avLst/>
          </a:prstGeom>
          <a:solidFill>
            <a:srgbClr val="4EA3D8"/>
          </a:solidFill>
          <a:ln w="12700">
            <a:solidFill>
              <a:srgbClr val="4EA3D8"/>
            </a:solidFill>
          </a:ln>
        </p:spPr>
        <p:txBody>
          <a:bodyPr/>
          <a:lstStyle/>
          <a:p>
            <a:endParaRPr/>
          </a:p>
        </p:txBody>
      </p:sp>
      <p:sp>
        <p:nvSpPr>
          <p:cNvPr id="332" name="Partner Card Heading"/>
          <p:cNvSpPr txBox="1"/>
          <p:nvPr/>
        </p:nvSpPr>
        <p:spPr>
          <a:xfrm>
            <a:off x="8183880" y="3575304"/>
            <a:ext cx="3236976" cy="256032"/>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PARTNERS THAT ALSO COMPETE</a:t>
            </a:r>
          </a:p>
        </p:txBody>
      </p:sp>
      <p:sp>
        <p:nvSpPr>
          <p:cNvPr id="333" name="Partner Card Text"/>
          <p:cNvSpPr txBox="1"/>
          <p:nvPr/>
        </p:nvSpPr>
        <p:spPr>
          <a:xfrm>
            <a:off x="8183880" y="3931920"/>
            <a:ext cx="3236976" cy="1143000"/>
          </a:xfrm>
          <a:prstGeom prst="rect">
            <a:avLst/>
          </a:prstGeom>
          <a:noFill/>
          <a:ln/>
        </p:spPr>
        <p:txBody>
          <a:bodyPr wrap="square" lIns="0" tIns="0" rIns="0" bIns="0" rtlCol="0" anchor="t">
            <a:normAutofit/>
          </a:bodyPr>
          <a:lstStyle/>
          <a:p>
            <a:pPr marL="0" indent="0" algn="l">
              <a:buNone/>
            </a:pPr>
            <a:r>
              <a:rPr lang="en-US" sz="1100" dirty="0">
                <a:solidFill>
                  <a:srgbClr val="D8E1E8"/>
                </a:solidFill>
                <a:latin typeface="Aptos" pitchFamily="34" charset="0"/>
                <a:ea typeface="Aptos" pitchFamily="34" charset="-122"/>
                <a:cs typeface="Aptos" pitchFamily="34" charset="-120"/>
              </a:rPr>
              <a:t>AVEVA PI, Litmus Edge and HighByte supply the data and naming that DMI reads, so they can act as channels. Their own analytics and AI features also overlap with DMI, so they appear as competitors on the previous slide.</a:t>
            </a:r>
          </a:p>
        </p:txBody>
      </p:sp>
      <p:sp>
        <p:nvSpPr>
          <p:cNvPr id="334" name="Source"/>
          <p:cNvSpPr txBox="1"/>
          <p:nvPr/>
        </p:nvSpPr>
        <p:spPr>
          <a:xfrm>
            <a:off x="594360" y="5623560"/>
            <a:ext cx="10881360" cy="274320"/>
          </a:xfrm>
          <a:prstGeom prst="rect">
            <a:avLst/>
          </a:prstGeom>
          <a:noFill/>
          <a:ln/>
        </p:spPr>
        <p:txBody>
          <a:bodyPr wrap="square" lIns="0" tIns="0" rIns="0" bIns="0" rtlCol="0" anchor="ctr">
            <a:normAutofit/>
          </a:bodyPr>
          <a:lstStyle/>
          <a:p>
            <a:pPr marL="0" indent="0" algn="l">
              <a:buNone/>
            </a:pPr>
            <a:r>
              <a:rPr lang="en-US" sz="900" dirty="0">
                <a:solidFill>
                  <a:srgbClr val="8FA2B3"/>
                </a:solidFill>
                <a:latin typeface="Aptos" pitchFamily="34" charset="0"/>
                <a:ea typeface="Aptos" pitchFamily="34" charset="-122"/>
                <a:cs typeface="Aptos" pitchFamily="34" charset="-120"/>
              </a:rPr>
              <a:t>Source: qualitative positioning from public product descriptions: Braincube, Sight Machine, Cognite, Seeq, Siemens, Rockwell. Positions are judgments, not measurements; revalidate before external circulation.</a:t>
            </a:r>
          </a:p>
        </p:txBody>
      </p:sp>
      <p:sp>
        <p:nvSpPr>
          <p:cNvPr id="86"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Initial product: Sovereign Investigation &amp; Quality Intelligence</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Sell the investigation outcome - not the architecture.</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411480" y="1874520"/>
            <a:ext cx="1389888" cy="1298448"/>
          </a:xfrm>
          <a:prstGeom prst="roundRect">
            <a:avLst>
              <a:gd name="adj" fmla="val 3521"/>
            </a:avLst>
          </a:prstGeom>
          <a:solidFill>
            <a:srgbClr val="C85D37"/>
          </a:solidFill>
          <a:ln w="12700">
            <a:solidFill>
              <a:srgbClr val="C85D37"/>
            </a:solidFill>
            <a:prstDash val="solid"/>
          </a:ln>
        </p:spPr>
        <p:txBody>
          <a:bodyPr/>
          <a:lstStyle/>
          <a:p>
            <a:endParaRPr/>
          </a:p>
        </p:txBody>
      </p:sp>
      <p:sp>
        <p:nvSpPr>
          <p:cNvPr id="6" name="Text 3"/>
          <p:cNvSpPr/>
          <p:nvPr/>
        </p:nvSpPr>
        <p:spPr>
          <a:xfrm>
            <a:off x="484632" y="1993392"/>
            <a:ext cx="1243584"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QUESTION</a:t>
            </a:r>
            <a:endParaRPr lang="en-US" sz="850" dirty="0"/>
          </a:p>
        </p:txBody>
      </p:sp>
      <p:sp>
        <p:nvSpPr>
          <p:cNvPr id="7" name="Text 4"/>
          <p:cNvSpPr/>
          <p:nvPr/>
        </p:nvSpPr>
        <p:spPr>
          <a:xfrm>
            <a:off x="502920" y="2331720"/>
            <a:ext cx="1207008" cy="594360"/>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What caused this quality event?</a:t>
            </a:r>
            <a:endParaRPr lang="en-US" sz="720" dirty="0"/>
          </a:p>
        </p:txBody>
      </p:sp>
      <p:sp>
        <p:nvSpPr>
          <p:cNvPr id="8" name="Shape 5"/>
          <p:cNvSpPr/>
          <p:nvPr/>
        </p:nvSpPr>
        <p:spPr>
          <a:xfrm>
            <a:off x="1810512" y="2523744"/>
            <a:ext cx="228600" cy="0"/>
          </a:xfrm>
          <a:prstGeom prst="line">
            <a:avLst/>
          </a:prstGeom>
          <a:noFill/>
          <a:ln w="25400">
            <a:solidFill>
              <a:srgbClr val="8FA2B3"/>
            </a:solidFill>
            <a:prstDash val="solid"/>
            <a:headEnd type="none"/>
            <a:tailEnd type="triangle"/>
          </a:ln>
        </p:spPr>
        <p:txBody>
          <a:bodyPr/>
          <a:lstStyle/>
          <a:p>
            <a:endParaRPr/>
          </a:p>
        </p:txBody>
      </p:sp>
      <p:sp>
        <p:nvSpPr>
          <p:cNvPr id="9" name="Shape 6"/>
          <p:cNvSpPr/>
          <p:nvPr/>
        </p:nvSpPr>
        <p:spPr>
          <a:xfrm>
            <a:off x="2075688" y="1874520"/>
            <a:ext cx="1389888" cy="1298448"/>
          </a:xfrm>
          <a:prstGeom prst="roundRect">
            <a:avLst>
              <a:gd name="adj" fmla="val 3521"/>
            </a:avLst>
          </a:prstGeom>
          <a:solidFill>
            <a:srgbClr val="122638"/>
          </a:solidFill>
          <a:ln w="12700">
            <a:solidFill>
              <a:srgbClr val="274052"/>
            </a:solidFill>
            <a:prstDash val="solid"/>
          </a:ln>
        </p:spPr>
        <p:txBody>
          <a:bodyPr/>
          <a:lstStyle/>
          <a:p>
            <a:endParaRPr/>
          </a:p>
        </p:txBody>
      </p:sp>
      <p:sp>
        <p:nvSpPr>
          <p:cNvPr id="10" name="Text 7"/>
          <p:cNvSpPr/>
          <p:nvPr/>
        </p:nvSpPr>
        <p:spPr>
          <a:xfrm>
            <a:off x="2148840" y="1993392"/>
            <a:ext cx="1243584"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GRAPH</a:t>
            </a:r>
            <a:endParaRPr lang="en-US" sz="850" dirty="0"/>
          </a:p>
        </p:txBody>
      </p:sp>
      <p:sp>
        <p:nvSpPr>
          <p:cNvPr id="11" name="Text 8"/>
          <p:cNvSpPr/>
          <p:nvPr/>
        </p:nvSpPr>
        <p:spPr>
          <a:xfrm>
            <a:off x="2167128" y="2331720"/>
            <a:ext cx="1207008" cy="594360"/>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Which upstream/downstream processes matter?</a:t>
            </a:r>
            <a:endParaRPr lang="en-US" sz="720" dirty="0"/>
          </a:p>
        </p:txBody>
      </p:sp>
      <p:sp>
        <p:nvSpPr>
          <p:cNvPr id="12" name="Shape 9"/>
          <p:cNvSpPr/>
          <p:nvPr/>
        </p:nvSpPr>
        <p:spPr>
          <a:xfrm>
            <a:off x="3474720" y="2523744"/>
            <a:ext cx="228600" cy="0"/>
          </a:xfrm>
          <a:prstGeom prst="line">
            <a:avLst/>
          </a:prstGeom>
          <a:noFill/>
          <a:ln w="25400">
            <a:solidFill>
              <a:srgbClr val="8FA2B3"/>
            </a:solidFill>
            <a:prstDash val="solid"/>
            <a:headEnd type="none"/>
            <a:tailEnd type="triangle"/>
          </a:ln>
        </p:spPr>
        <p:txBody>
          <a:bodyPr/>
          <a:lstStyle/>
          <a:p>
            <a:endParaRPr/>
          </a:p>
        </p:txBody>
      </p:sp>
      <p:sp>
        <p:nvSpPr>
          <p:cNvPr id="13" name="Shape 10"/>
          <p:cNvSpPr/>
          <p:nvPr/>
        </p:nvSpPr>
        <p:spPr>
          <a:xfrm>
            <a:off x="3739896" y="1874520"/>
            <a:ext cx="1389888" cy="1298448"/>
          </a:xfrm>
          <a:prstGeom prst="roundRect">
            <a:avLst>
              <a:gd name="adj" fmla="val 3521"/>
            </a:avLst>
          </a:prstGeom>
          <a:solidFill>
            <a:srgbClr val="122638"/>
          </a:solidFill>
          <a:ln w="12700">
            <a:solidFill>
              <a:srgbClr val="274052"/>
            </a:solidFill>
            <a:prstDash val="solid"/>
          </a:ln>
        </p:spPr>
        <p:txBody>
          <a:bodyPr/>
          <a:lstStyle/>
          <a:p>
            <a:endParaRPr/>
          </a:p>
        </p:txBody>
      </p:sp>
      <p:sp>
        <p:nvSpPr>
          <p:cNvPr id="14" name="Text 11"/>
          <p:cNvSpPr/>
          <p:nvPr/>
        </p:nvSpPr>
        <p:spPr>
          <a:xfrm>
            <a:off x="3813048" y="1993392"/>
            <a:ext cx="1243584"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FAN-OUT</a:t>
            </a:r>
            <a:endParaRPr lang="en-US" sz="850" dirty="0"/>
          </a:p>
        </p:txBody>
      </p:sp>
      <p:sp>
        <p:nvSpPr>
          <p:cNvPr id="15" name="Text 12"/>
          <p:cNvSpPr/>
          <p:nvPr/>
        </p:nvSpPr>
        <p:spPr>
          <a:xfrm>
            <a:off x="3831336" y="2331720"/>
            <a:ext cx="1207008" cy="594360"/>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Send narrow tasks to relevant local nodes</a:t>
            </a:r>
            <a:endParaRPr lang="en-US" sz="720" dirty="0"/>
          </a:p>
        </p:txBody>
      </p:sp>
      <p:sp>
        <p:nvSpPr>
          <p:cNvPr id="16" name="Shape 13"/>
          <p:cNvSpPr/>
          <p:nvPr/>
        </p:nvSpPr>
        <p:spPr>
          <a:xfrm>
            <a:off x="5138928" y="2523744"/>
            <a:ext cx="228600" cy="0"/>
          </a:xfrm>
          <a:prstGeom prst="line">
            <a:avLst/>
          </a:prstGeom>
          <a:noFill/>
          <a:ln w="25400">
            <a:solidFill>
              <a:srgbClr val="8FA2B3"/>
            </a:solidFill>
            <a:prstDash val="solid"/>
            <a:headEnd type="none"/>
            <a:tailEnd type="triangle"/>
          </a:ln>
        </p:spPr>
        <p:txBody>
          <a:bodyPr/>
          <a:lstStyle/>
          <a:p>
            <a:endParaRPr/>
          </a:p>
        </p:txBody>
      </p:sp>
      <p:sp>
        <p:nvSpPr>
          <p:cNvPr id="17" name="Shape 14"/>
          <p:cNvSpPr/>
          <p:nvPr/>
        </p:nvSpPr>
        <p:spPr>
          <a:xfrm>
            <a:off x="5404104" y="1874520"/>
            <a:ext cx="1389888" cy="1298448"/>
          </a:xfrm>
          <a:prstGeom prst="roundRect">
            <a:avLst>
              <a:gd name="adj" fmla="val 3521"/>
            </a:avLst>
          </a:prstGeom>
          <a:solidFill>
            <a:srgbClr val="122638"/>
          </a:solidFill>
          <a:ln w="12700">
            <a:solidFill>
              <a:srgbClr val="274052"/>
            </a:solidFill>
            <a:prstDash val="solid"/>
          </a:ln>
        </p:spPr>
        <p:txBody>
          <a:bodyPr/>
          <a:lstStyle/>
          <a:p>
            <a:endParaRPr/>
          </a:p>
        </p:txBody>
      </p:sp>
      <p:sp>
        <p:nvSpPr>
          <p:cNvPr id="18" name="Text 15"/>
          <p:cNvSpPr/>
          <p:nvPr/>
        </p:nvSpPr>
        <p:spPr>
          <a:xfrm>
            <a:off x="5477256" y="1993392"/>
            <a:ext cx="1243584"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EVIDENCE</a:t>
            </a:r>
            <a:endParaRPr lang="en-US" sz="850" dirty="0"/>
          </a:p>
        </p:txBody>
      </p:sp>
      <p:sp>
        <p:nvSpPr>
          <p:cNvPr id="19" name="Text 16"/>
          <p:cNvSpPr/>
          <p:nvPr/>
        </p:nvSpPr>
        <p:spPr>
          <a:xfrm>
            <a:off x="5495544" y="2331720"/>
            <a:ext cx="1207008" cy="594360"/>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Return typed local findings + lineage</a:t>
            </a:r>
            <a:endParaRPr lang="en-US" sz="720" dirty="0"/>
          </a:p>
        </p:txBody>
      </p:sp>
      <p:sp>
        <p:nvSpPr>
          <p:cNvPr id="20" name="Shape 17"/>
          <p:cNvSpPr/>
          <p:nvPr/>
        </p:nvSpPr>
        <p:spPr>
          <a:xfrm>
            <a:off x="6803136" y="2523744"/>
            <a:ext cx="228600" cy="0"/>
          </a:xfrm>
          <a:prstGeom prst="line">
            <a:avLst/>
          </a:prstGeom>
          <a:noFill/>
          <a:ln w="25400">
            <a:solidFill>
              <a:srgbClr val="8FA2B3"/>
            </a:solidFill>
            <a:prstDash val="solid"/>
            <a:headEnd type="none"/>
            <a:tailEnd type="triangle"/>
          </a:ln>
        </p:spPr>
        <p:txBody>
          <a:bodyPr/>
          <a:lstStyle/>
          <a:p>
            <a:endParaRPr/>
          </a:p>
        </p:txBody>
      </p:sp>
      <p:sp>
        <p:nvSpPr>
          <p:cNvPr id="21" name="Shape 18"/>
          <p:cNvSpPr/>
          <p:nvPr/>
        </p:nvSpPr>
        <p:spPr>
          <a:xfrm>
            <a:off x="7068312" y="1874520"/>
            <a:ext cx="1389888" cy="1298448"/>
          </a:xfrm>
          <a:prstGeom prst="roundRect">
            <a:avLst>
              <a:gd name="adj" fmla="val 3521"/>
            </a:avLst>
          </a:prstGeom>
          <a:solidFill>
            <a:srgbClr val="122638"/>
          </a:solidFill>
          <a:ln w="12700">
            <a:solidFill>
              <a:srgbClr val="274052"/>
            </a:solidFill>
            <a:prstDash val="solid"/>
          </a:ln>
        </p:spPr>
        <p:txBody>
          <a:bodyPr/>
          <a:lstStyle/>
          <a:p>
            <a:endParaRPr/>
          </a:p>
        </p:txBody>
      </p:sp>
      <p:sp>
        <p:nvSpPr>
          <p:cNvPr id="22" name="Text 19"/>
          <p:cNvSpPr/>
          <p:nvPr/>
        </p:nvSpPr>
        <p:spPr>
          <a:xfrm>
            <a:off x="7141464" y="1993392"/>
            <a:ext cx="1243584"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JOIN</a:t>
            </a:r>
            <a:endParaRPr lang="en-US" sz="850" dirty="0"/>
          </a:p>
        </p:txBody>
      </p:sp>
      <p:sp>
        <p:nvSpPr>
          <p:cNvPr id="23" name="Text 20"/>
          <p:cNvSpPr/>
          <p:nvPr/>
        </p:nvSpPr>
        <p:spPr>
          <a:xfrm>
            <a:off x="7159752" y="2331720"/>
            <a:ext cx="1207008" cy="594360"/>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Correlate time, process and quality events</a:t>
            </a:r>
            <a:endParaRPr lang="en-US" sz="720" dirty="0"/>
          </a:p>
        </p:txBody>
      </p:sp>
      <p:sp>
        <p:nvSpPr>
          <p:cNvPr id="24" name="Shape 21"/>
          <p:cNvSpPr/>
          <p:nvPr/>
        </p:nvSpPr>
        <p:spPr>
          <a:xfrm>
            <a:off x="8467344" y="2523744"/>
            <a:ext cx="228600" cy="0"/>
          </a:xfrm>
          <a:prstGeom prst="line">
            <a:avLst/>
          </a:prstGeom>
          <a:noFill/>
          <a:ln w="25400">
            <a:solidFill>
              <a:srgbClr val="8FA2B3"/>
            </a:solidFill>
            <a:prstDash val="solid"/>
            <a:headEnd type="none"/>
            <a:tailEnd type="triangle"/>
          </a:ln>
        </p:spPr>
        <p:txBody>
          <a:bodyPr/>
          <a:lstStyle/>
          <a:p>
            <a:endParaRPr/>
          </a:p>
        </p:txBody>
      </p:sp>
      <p:sp>
        <p:nvSpPr>
          <p:cNvPr id="25" name="Shape 22"/>
          <p:cNvSpPr/>
          <p:nvPr/>
        </p:nvSpPr>
        <p:spPr>
          <a:xfrm>
            <a:off x="8732520" y="1874520"/>
            <a:ext cx="1389888" cy="1298448"/>
          </a:xfrm>
          <a:prstGeom prst="roundRect">
            <a:avLst>
              <a:gd name="adj" fmla="val 3521"/>
            </a:avLst>
          </a:prstGeom>
          <a:solidFill>
            <a:srgbClr val="122638"/>
          </a:solidFill>
          <a:ln w="12700">
            <a:solidFill>
              <a:srgbClr val="274052"/>
            </a:solidFill>
            <a:prstDash val="solid"/>
          </a:ln>
        </p:spPr>
        <p:txBody>
          <a:bodyPr/>
          <a:lstStyle/>
          <a:p>
            <a:endParaRPr/>
          </a:p>
        </p:txBody>
      </p:sp>
      <p:sp>
        <p:nvSpPr>
          <p:cNvPr id="26" name="Text 23"/>
          <p:cNvSpPr/>
          <p:nvPr/>
        </p:nvSpPr>
        <p:spPr>
          <a:xfrm>
            <a:off x="8805672" y="1993392"/>
            <a:ext cx="1243584"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HYPOTHESES</a:t>
            </a:r>
            <a:endParaRPr lang="en-US" sz="850" dirty="0"/>
          </a:p>
        </p:txBody>
      </p:sp>
      <p:sp>
        <p:nvSpPr>
          <p:cNvPr id="27" name="Text 24"/>
          <p:cNvSpPr/>
          <p:nvPr/>
        </p:nvSpPr>
        <p:spPr>
          <a:xfrm>
            <a:off x="8823960" y="2331720"/>
            <a:ext cx="1207008" cy="594360"/>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Rank candidates + confidence</a:t>
            </a:r>
            <a:endParaRPr lang="en-US" sz="720" dirty="0"/>
          </a:p>
        </p:txBody>
      </p:sp>
      <p:sp>
        <p:nvSpPr>
          <p:cNvPr id="28" name="Shape 25"/>
          <p:cNvSpPr/>
          <p:nvPr/>
        </p:nvSpPr>
        <p:spPr>
          <a:xfrm>
            <a:off x="10131552" y="2523744"/>
            <a:ext cx="228600" cy="0"/>
          </a:xfrm>
          <a:prstGeom prst="line">
            <a:avLst/>
          </a:prstGeom>
          <a:noFill/>
          <a:ln w="25400">
            <a:solidFill>
              <a:srgbClr val="8FA2B3"/>
            </a:solidFill>
            <a:prstDash val="solid"/>
            <a:headEnd type="none"/>
            <a:tailEnd type="triangle"/>
          </a:ln>
        </p:spPr>
        <p:txBody>
          <a:bodyPr/>
          <a:lstStyle/>
          <a:p>
            <a:endParaRPr/>
          </a:p>
        </p:txBody>
      </p:sp>
      <p:sp>
        <p:nvSpPr>
          <p:cNvPr id="29" name="Shape 26"/>
          <p:cNvSpPr/>
          <p:nvPr/>
        </p:nvSpPr>
        <p:spPr>
          <a:xfrm>
            <a:off x="10396728" y="1874520"/>
            <a:ext cx="1389888" cy="1298448"/>
          </a:xfrm>
          <a:prstGeom prst="roundRect">
            <a:avLst>
              <a:gd name="adj" fmla="val 3521"/>
            </a:avLst>
          </a:prstGeom>
          <a:solidFill>
            <a:srgbClr val="C85D37"/>
          </a:solidFill>
          <a:ln w="12700">
            <a:solidFill>
              <a:srgbClr val="C85D37"/>
            </a:solidFill>
            <a:prstDash val="solid"/>
          </a:ln>
        </p:spPr>
        <p:txBody>
          <a:bodyPr/>
          <a:lstStyle/>
          <a:p>
            <a:endParaRPr/>
          </a:p>
        </p:txBody>
      </p:sp>
      <p:sp>
        <p:nvSpPr>
          <p:cNvPr id="30" name="Text 27"/>
          <p:cNvSpPr/>
          <p:nvPr/>
        </p:nvSpPr>
        <p:spPr>
          <a:xfrm>
            <a:off x="10469880" y="1993392"/>
            <a:ext cx="1243584"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REVIEW</a:t>
            </a:r>
            <a:endParaRPr lang="en-US" sz="850" dirty="0"/>
          </a:p>
        </p:txBody>
      </p:sp>
      <p:sp>
        <p:nvSpPr>
          <p:cNvPr id="31" name="Text 28"/>
          <p:cNvSpPr/>
          <p:nvPr/>
        </p:nvSpPr>
        <p:spPr>
          <a:xfrm>
            <a:off x="10488168" y="2331720"/>
            <a:ext cx="1207008" cy="594360"/>
          </a:xfrm>
          <a:prstGeom prst="rect">
            <a:avLst/>
          </a:prstGeom>
          <a:noFill/>
          <a:ln/>
        </p:spPr>
        <p:txBody>
          <a:bodyPr wrap="square" lIns="0" tIns="0" rIns="0" bIns="0" rtlCol="0" anchor="ctr">
            <a:normAutofit/>
          </a:bodyPr>
          <a:lstStyle/>
          <a:p>
            <a:pPr marL="0" indent="0" algn="ctr">
              <a:buNone/>
            </a:pPr>
            <a:r>
              <a:rPr lang="en-US" sz="720" dirty="0">
                <a:solidFill>
                  <a:srgbClr val="D8E1E8"/>
                </a:solidFill>
                <a:latin typeface="Aptos" pitchFamily="34" charset="0"/>
                <a:ea typeface="Aptos" pitchFamily="34" charset="-122"/>
                <a:cs typeface="Aptos" pitchFamily="34" charset="-120"/>
              </a:rPr>
              <a:t>Explain + expose source evidence</a:t>
            </a:r>
            <a:endParaRPr lang="en-US" sz="720" dirty="0"/>
          </a:p>
        </p:txBody>
      </p:sp>
      <p:sp>
        <p:nvSpPr>
          <p:cNvPr id="32" name="Shape 29"/>
          <p:cNvSpPr/>
          <p:nvPr/>
        </p:nvSpPr>
        <p:spPr>
          <a:xfrm>
            <a:off x="640080" y="3886200"/>
            <a:ext cx="3383280" cy="1234440"/>
          </a:xfrm>
          <a:prstGeom prst="roundRect">
            <a:avLst>
              <a:gd name="adj" fmla="val 3704"/>
            </a:avLst>
          </a:prstGeom>
          <a:solidFill>
            <a:srgbClr val="0E1D2C"/>
          </a:solidFill>
          <a:ln w="12700">
            <a:solidFill>
              <a:srgbClr val="274052"/>
            </a:solidFill>
            <a:prstDash val="solid"/>
          </a:ln>
        </p:spPr>
        <p:txBody>
          <a:bodyPr/>
          <a:lstStyle/>
          <a:p>
            <a:endParaRPr/>
          </a:p>
        </p:txBody>
      </p:sp>
      <p:sp>
        <p:nvSpPr>
          <p:cNvPr id="33" name="Shape 30"/>
          <p:cNvSpPr/>
          <p:nvPr/>
        </p:nvSpPr>
        <p:spPr>
          <a:xfrm>
            <a:off x="640080" y="3886200"/>
            <a:ext cx="45720" cy="1234440"/>
          </a:xfrm>
          <a:prstGeom prst="rect">
            <a:avLst/>
          </a:prstGeom>
          <a:solidFill>
            <a:srgbClr val="50B89B"/>
          </a:solidFill>
          <a:ln w="12700">
            <a:solidFill>
              <a:srgbClr val="50B89B"/>
            </a:solidFill>
            <a:prstDash val="solid"/>
          </a:ln>
        </p:spPr>
        <p:txBody>
          <a:bodyPr/>
          <a:lstStyle/>
          <a:p>
            <a:endParaRPr/>
          </a:p>
        </p:txBody>
      </p:sp>
      <p:sp>
        <p:nvSpPr>
          <p:cNvPr id="34" name="Text 31"/>
          <p:cNvSpPr/>
          <p:nvPr/>
        </p:nvSpPr>
        <p:spPr>
          <a:xfrm>
            <a:off x="804672" y="4005072"/>
            <a:ext cx="310896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CUSTOMER VALUE</a:t>
            </a:r>
            <a:endParaRPr lang="en-US" sz="1100" dirty="0"/>
          </a:p>
        </p:txBody>
      </p:sp>
      <p:sp>
        <p:nvSpPr>
          <p:cNvPr id="35" name="Text 32"/>
          <p:cNvSpPr/>
          <p:nvPr/>
        </p:nvSpPr>
        <p:spPr>
          <a:xfrm>
            <a:off x="804672" y="4325112"/>
            <a:ext cx="3108960" cy="7040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Shorter deviation/OOS/OOT/RCA cycles; less manual evidence gathering.</a:t>
            </a:r>
            <a:endParaRPr lang="en-US" sz="950" dirty="0"/>
          </a:p>
        </p:txBody>
      </p:sp>
      <p:sp>
        <p:nvSpPr>
          <p:cNvPr id="36" name="Shape 33"/>
          <p:cNvSpPr/>
          <p:nvPr/>
        </p:nvSpPr>
        <p:spPr>
          <a:xfrm>
            <a:off x="4407408" y="3886200"/>
            <a:ext cx="3383280" cy="1234440"/>
          </a:xfrm>
          <a:prstGeom prst="roundRect">
            <a:avLst>
              <a:gd name="adj" fmla="val 3704"/>
            </a:avLst>
          </a:prstGeom>
          <a:solidFill>
            <a:srgbClr val="0E1D2C"/>
          </a:solidFill>
          <a:ln w="12700">
            <a:solidFill>
              <a:srgbClr val="274052"/>
            </a:solidFill>
            <a:prstDash val="solid"/>
          </a:ln>
        </p:spPr>
        <p:txBody>
          <a:bodyPr/>
          <a:lstStyle/>
          <a:p>
            <a:endParaRPr/>
          </a:p>
        </p:txBody>
      </p:sp>
      <p:sp>
        <p:nvSpPr>
          <p:cNvPr id="37" name="Shape 34"/>
          <p:cNvSpPr/>
          <p:nvPr/>
        </p:nvSpPr>
        <p:spPr>
          <a:xfrm>
            <a:off x="4407408" y="3886200"/>
            <a:ext cx="45720" cy="1234440"/>
          </a:xfrm>
          <a:prstGeom prst="rect">
            <a:avLst/>
          </a:prstGeom>
          <a:solidFill>
            <a:srgbClr val="4EA3D8"/>
          </a:solidFill>
          <a:ln w="12700">
            <a:solidFill>
              <a:srgbClr val="4EA3D8"/>
            </a:solidFill>
            <a:prstDash val="solid"/>
          </a:ln>
        </p:spPr>
        <p:txBody>
          <a:bodyPr/>
          <a:lstStyle/>
          <a:p>
            <a:endParaRPr/>
          </a:p>
        </p:txBody>
      </p:sp>
      <p:sp>
        <p:nvSpPr>
          <p:cNvPr id="38" name="Text 35"/>
          <p:cNvSpPr/>
          <p:nvPr/>
        </p:nvSpPr>
        <p:spPr>
          <a:xfrm>
            <a:off x="4572000" y="4005072"/>
            <a:ext cx="310896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TRUST</a:t>
            </a:r>
            <a:endParaRPr lang="en-US" sz="1100" dirty="0"/>
          </a:p>
        </p:txBody>
      </p:sp>
      <p:sp>
        <p:nvSpPr>
          <p:cNvPr id="39" name="Text 36"/>
          <p:cNvSpPr/>
          <p:nvPr/>
        </p:nvSpPr>
        <p:spPr>
          <a:xfrm>
            <a:off x="4572000" y="4325112"/>
            <a:ext cx="3108960" cy="7040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Evidence → source → process → timestamp → analysis → confidence → human review.</a:t>
            </a:r>
            <a:endParaRPr lang="en-US" sz="950" dirty="0"/>
          </a:p>
        </p:txBody>
      </p:sp>
      <p:sp>
        <p:nvSpPr>
          <p:cNvPr id="40" name="Shape 37"/>
          <p:cNvSpPr/>
          <p:nvPr/>
        </p:nvSpPr>
        <p:spPr>
          <a:xfrm>
            <a:off x="8174736" y="3886200"/>
            <a:ext cx="3383280" cy="1234440"/>
          </a:xfrm>
          <a:prstGeom prst="roundRect">
            <a:avLst>
              <a:gd name="adj" fmla="val 3704"/>
            </a:avLst>
          </a:prstGeom>
          <a:solidFill>
            <a:srgbClr val="0E1D2C"/>
          </a:solidFill>
          <a:ln w="12700">
            <a:solidFill>
              <a:srgbClr val="274052"/>
            </a:solidFill>
            <a:prstDash val="solid"/>
          </a:ln>
        </p:spPr>
        <p:txBody>
          <a:bodyPr/>
          <a:lstStyle/>
          <a:p>
            <a:endParaRPr/>
          </a:p>
        </p:txBody>
      </p:sp>
      <p:sp>
        <p:nvSpPr>
          <p:cNvPr id="41" name="Shape 38"/>
          <p:cNvSpPr/>
          <p:nvPr/>
        </p:nvSpPr>
        <p:spPr>
          <a:xfrm>
            <a:off x="8174736" y="3886200"/>
            <a:ext cx="45720" cy="1234440"/>
          </a:xfrm>
          <a:prstGeom prst="rect">
            <a:avLst/>
          </a:prstGeom>
          <a:solidFill>
            <a:srgbClr val="C85D37"/>
          </a:solidFill>
          <a:ln w="12700">
            <a:solidFill>
              <a:srgbClr val="C85D37"/>
            </a:solidFill>
            <a:prstDash val="solid"/>
          </a:ln>
        </p:spPr>
        <p:txBody>
          <a:bodyPr/>
          <a:lstStyle/>
          <a:p>
            <a:endParaRPr/>
          </a:p>
        </p:txBody>
      </p:sp>
      <p:sp>
        <p:nvSpPr>
          <p:cNvPr id="42" name="Text 39"/>
          <p:cNvSpPr/>
          <p:nvPr/>
        </p:nvSpPr>
        <p:spPr>
          <a:xfrm>
            <a:off x="8339328" y="4005072"/>
            <a:ext cx="310896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EXPANSION</a:t>
            </a:r>
            <a:endParaRPr lang="en-US" sz="1100" dirty="0"/>
          </a:p>
        </p:txBody>
      </p:sp>
      <p:sp>
        <p:nvSpPr>
          <p:cNvPr id="43" name="Text 40"/>
          <p:cNvSpPr/>
          <p:nvPr/>
        </p:nvSpPr>
        <p:spPr>
          <a:xfrm>
            <a:off x="8339328" y="4325112"/>
            <a:ext cx="3108960" cy="7040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Quality → process → production → engineering → operations → enterprise.</a:t>
            </a:r>
            <a:endParaRPr lang="en-US" sz="950" dirty="0"/>
          </a:p>
        </p:txBody>
      </p:sp>
      <p:sp>
        <p:nvSpPr>
          <p:cNvPr id="44"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064240" cy="502920"/>
          </a:xfrm>
          <a:prstGeom prst="rect">
            <a:avLst/>
          </a:prstGeom>
          <a:noFill/>
        </p:spPr>
        <p:txBody>
          <a:bodyPr wrap="none">
            <a:spAutoFit/>
          </a:bodyPr>
          <a:lstStyle/>
          <a:p>
            <a:pPr>
              <a:defRPr sz="2400" b="1">
                <a:solidFill>
                  <a:srgbClr val="142B46"/>
                </a:solidFill>
                <a:latin typeface="Aptos Display"/>
              </a:defRPr>
            </a:pPr>
            <a:r>
              <a:t>Product expansion roadmap: from investigation to plant orchestration</a:t>
            </a:r>
          </a:p>
        </p:txBody>
      </p:sp>
      <p:sp>
        <p:nvSpPr>
          <p:cNvPr id="3" name="TextBox 2"/>
          <p:cNvSpPr txBox="1"/>
          <p:nvPr/>
        </p:nvSpPr>
        <p:spPr>
          <a:xfrm>
            <a:off x="530352" y="850392"/>
            <a:ext cx="10789920" cy="347472"/>
          </a:xfrm>
          <a:prstGeom prst="rect">
            <a:avLst/>
          </a:prstGeom>
          <a:noFill/>
        </p:spPr>
        <p:txBody>
          <a:bodyPr wrap="none">
            <a:spAutoFit/>
          </a:bodyPr>
          <a:lstStyle/>
          <a:p>
            <a:pPr>
              <a:defRPr sz="1050">
                <a:solidFill>
                  <a:srgbClr val="5B6C7C"/>
                </a:solidFill>
                <a:latin typeface="Aptos"/>
              </a:defRPr>
            </a:pPr>
            <a:r>
              <a:t>Each release extends the same plant-local DMI + AnyLog architecture rather than replacing manufacturing systems of record.</a:t>
            </a:r>
          </a:p>
        </p:txBody>
      </p:sp>
      <p:sp>
        <p:nvSpPr>
          <p:cNvPr id="4" name="Rectangle 3"/>
          <p:cNvSpPr/>
          <p:nvPr/>
        </p:nvSpPr>
        <p:spPr>
          <a:xfrm>
            <a:off x="502920" y="1207008"/>
            <a:ext cx="11109960" cy="22860"/>
          </a:xfrm>
          <a:prstGeom prst="rect">
            <a:avLst/>
          </a:prstGeom>
          <a:solidFill>
            <a:srgbClr val="C757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72768"/>
            <a:ext cx="2606040" cy="4315968"/>
          </a:xfrm>
          <a:prstGeom prst="roundRect">
            <a:avLst/>
          </a:prstGeom>
          <a:solidFill>
            <a:srgbClr val="F5F8FB"/>
          </a:solidFill>
          <a:ln>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76072" y="1664208"/>
            <a:ext cx="2459736" cy="749808"/>
          </a:xfrm>
          <a:prstGeom prst="roundRect">
            <a:avLst/>
          </a:prstGeom>
          <a:solidFill>
            <a:srgbClr val="C757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latin typeface="Aptos"/>
              </a:defRPr>
            </a:pPr>
            <a:r>
              <a:t>SEE &amp; UNDERSTAND</a:t>
            </a:r>
          </a:p>
          <a:p>
            <a:pPr algn="ctr">
              <a:defRPr sz="850">
                <a:solidFill>
                  <a:srgbClr val="FFFFFF"/>
                </a:solidFill>
                <a:latin typeface="Aptos"/>
              </a:defRPr>
            </a:pPr>
            <a:r>
              <a:t>2026–2027</a:t>
            </a:r>
          </a:p>
        </p:txBody>
      </p:sp>
      <p:sp>
        <p:nvSpPr>
          <p:cNvPr id="7" name="TextBox 6"/>
          <p:cNvSpPr txBox="1"/>
          <p:nvPr/>
        </p:nvSpPr>
        <p:spPr>
          <a:xfrm>
            <a:off x="667512" y="2587752"/>
            <a:ext cx="2276856" cy="2880360"/>
          </a:xfrm>
          <a:prstGeom prst="rect">
            <a:avLst/>
          </a:prstGeom>
          <a:noFill/>
        </p:spPr>
        <p:txBody>
          <a:bodyPr wrap="square">
            <a:spAutoFit/>
          </a:bodyPr>
          <a:lstStyle/>
          <a:p>
            <a:pPr>
              <a:spcAft>
                <a:spcPts val="500"/>
              </a:spcAft>
              <a:defRPr sz="910">
                <a:solidFill>
                  <a:srgbClr val="182B40"/>
                </a:solidFill>
                <a:latin typeface="Aptos"/>
              </a:defRPr>
            </a:pPr>
            <a:r>
              <a:t>• Distributed SLM investigation &amp; RCA</a:t>
            </a:r>
          </a:p>
          <a:p>
            <a:pPr>
              <a:spcAft>
                <a:spcPts val="500"/>
              </a:spcAft>
              <a:defRPr sz="910">
                <a:solidFill>
                  <a:srgbClr val="182B40"/>
                </a:solidFill>
                <a:latin typeface="Aptos"/>
              </a:defRPr>
            </a:pPr>
            <a:r>
              <a:t>• Evidence lineage + process graph</a:t>
            </a:r>
          </a:p>
          <a:p>
            <a:pPr>
              <a:spcAft>
                <a:spcPts val="500"/>
              </a:spcAft>
              <a:defRPr sz="910">
                <a:solidFill>
                  <a:srgbClr val="182B40"/>
                </a:solidFill>
                <a:latin typeface="Aptos"/>
              </a:defRPr>
            </a:pPr>
            <a:r>
              <a:t>• Process-graph digital twin + what-if simulation</a:t>
            </a:r>
          </a:p>
          <a:p>
            <a:pPr>
              <a:spcAft>
                <a:spcPts val="500"/>
              </a:spcAft>
              <a:defRPr sz="910">
                <a:solidFill>
                  <a:srgbClr val="182B40"/>
                </a:solidFill>
                <a:latin typeface="Aptos"/>
              </a:defRPr>
            </a:pPr>
            <a:r>
              <a:t>• Industrial RAG for SOPs, manuals and engineering documents</a:t>
            </a:r>
          </a:p>
          <a:p>
            <a:pPr>
              <a:spcAft>
                <a:spcPts val="500"/>
              </a:spcAft>
              <a:defRPr sz="910">
                <a:solidFill>
                  <a:srgbClr val="182B40"/>
                </a:solidFill>
                <a:latin typeface="Aptos"/>
              </a:defRPr>
            </a:pPr>
            <a:r>
              <a:t>• Asset-aware retrieval tied to live plant context</a:t>
            </a:r>
          </a:p>
          <a:p>
            <a:pPr>
              <a:spcAft>
                <a:spcPts val="500"/>
              </a:spcAft>
              <a:defRPr sz="910">
                <a:solidFill>
                  <a:srgbClr val="182B40"/>
                </a:solidFill>
                <a:latin typeface="Aptos"/>
              </a:defRPr>
            </a:pPr>
            <a:r>
              <a:t>• Anomaly, drift and quality investigation</a:t>
            </a:r>
          </a:p>
          <a:p>
            <a:pPr>
              <a:spcAft>
                <a:spcPts val="500"/>
              </a:spcAft>
              <a:defRPr sz="910">
                <a:solidFill>
                  <a:srgbClr val="182B40"/>
                </a:solidFill>
                <a:latin typeface="Aptos"/>
              </a:defRPr>
            </a:pPr>
            <a:r>
              <a:t>• BPA workflows: DMI work orders, Teams and Power Automate</a:t>
            </a:r>
          </a:p>
        </p:txBody>
      </p:sp>
      <p:sp>
        <p:nvSpPr>
          <p:cNvPr id="8" name="Rounded Rectangle 7"/>
          <p:cNvSpPr/>
          <p:nvPr/>
        </p:nvSpPr>
        <p:spPr>
          <a:xfrm>
            <a:off x="3337560" y="1572768"/>
            <a:ext cx="2606040" cy="4315968"/>
          </a:xfrm>
          <a:prstGeom prst="roundRect">
            <a:avLst/>
          </a:prstGeom>
          <a:solidFill>
            <a:srgbClr val="F5F8FB"/>
          </a:solidFill>
          <a:ln>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410712" y="1664208"/>
            <a:ext cx="2459736" cy="749808"/>
          </a:xfrm>
          <a:prstGeom prst="roundRect">
            <a:avLst/>
          </a:prstGeom>
          <a:solidFill>
            <a:srgbClr val="296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latin typeface="Aptos"/>
              </a:defRPr>
            </a:pPr>
            <a:r>
              <a:t>CONNECT THE FACTORY</a:t>
            </a:r>
          </a:p>
          <a:p>
            <a:pPr algn="ctr">
              <a:defRPr sz="850">
                <a:solidFill>
                  <a:srgbClr val="FFFFFF"/>
                </a:solidFill>
                <a:latin typeface="Aptos"/>
              </a:defRPr>
            </a:pPr>
            <a:r>
              <a:t>2027–2028</a:t>
            </a:r>
          </a:p>
        </p:txBody>
      </p:sp>
      <p:sp>
        <p:nvSpPr>
          <p:cNvPr id="10" name="TextBox 9"/>
          <p:cNvSpPr txBox="1"/>
          <p:nvPr/>
        </p:nvSpPr>
        <p:spPr>
          <a:xfrm>
            <a:off x="3502152" y="2587752"/>
            <a:ext cx="2276856" cy="2880360"/>
          </a:xfrm>
          <a:prstGeom prst="rect">
            <a:avLst/>
          </a:prstGeom>
          <a:noFill/>
        </p:spPr>
        <p:txBody>
          <a:bodyPr wrap="square">
            <a:spAutoFit/>
          </a:bodyPr>
          <a:lstStyle/>
          <a:p>
            <a:pPr>
              <a:spcAft>
                <a:spcPts val="500"/>
              </a:spcAft>
              <a:defRPr sz="910">
                <a:solidFill>
                  <a:srgbClr val="182B40"/>
                </a:solidFill>
                <a:latin typeface="Aptos"/>
              </a:defRPr>
            </a:pPr>
            <a:r>
              <a:t>• MES / MOM production context</a:t>
            </a:r>
          </a:p>
          <a:p>
            <a:pPr>
              <a:spcAft>
                <a:spcPts val="500"/>
              </a:spcAft>
              <a:defRPr sz="910">
                <a:solidFill>
                  <a:srgbClr val="182B40"/>
                </a:solidFill>
                <a:latin typeface="Aptos"/>
              </a:defRPr>
            </a:pPr>
            <a:r>
              <a:t>• QMS + LIMS quality evidence</a:t>
            </a:r>
          </a:p>
          <a:p>
            <a:pPr>
              <a:spcAft>
                <a:spcPts val="500"/>
              </a:spcAft>
              <a:defRPr sz="910">
                <a:solidFill>
                  <a:srgbClr val="182B40"/>
                </a:solidFill>
                <a:latin typeface="Aptos"/>
              </a:defRPr>
            </a:pPr>
            <a:r>
              <a:t>• CMMS / EAM maintenance history</a:t>
            </a:r>
          </a:p>
          <a:p>
            <a:pPr>
              <a:spcAft>
                <a:spcPts val="500"/>
              </a:spcAft>
              <a:defRPr sz="910">
                <a:solidFill>
                  <a:srgbClr val="182B40"/>
                </a:solidFill>
                <a:latin typeface="Aptos"/>
              </a:defRPr>
            </a:pPr>
            <a:r>
              <a:t>• ERP + WMS material / lot genealogy</a:t>
            </a:r>
          </a:p>
          <a:p>
            <a:pPr>
              <a:spcAft>
                <a:spcPts val="500"/>
              </a:spcAft>
              <a:defRPr sz="910">
                <a:solidFill>
                  <a:srgbClr val="182B40"/>
                </a:solidFill>
                <a:latin typeface="Aptos"/>
              </a:defRPr>
            </a:pPr>
            <a:r>
              <a:t>• PLM, historian, SCADA / DCS and batch integration</a:t>
            </a:r>
          </a:p>
        </p:txBody>
      </p:sp>
      <p:sp>
        <p:nvSpPr>
          <p:cNvPr id="11" name="Rounded Rectangle 10"/>
          <p:cNvSpPr/>
          <p:nvPr/>
        </p:nvSpPr>
        <p:spPr>
          <a:xfrm>
            <a:off x="6172200" y="1572768"/>
            <a:ext cx="2606040" cy="4315968"/>
          </a:xfrm>
          <a:prstGeom prst="roundRect">
            <a:avLst/>
          </a:prstGeom>
          <a:solidFill>
            <a:srgbClr val="F5F8FB"/>
          </a:solidFill>
          <a:ln>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245352" y="1664208"/>
            <a:ext cx="2459736" cy="749808"/>
          </a:xfrm>
          <a:prstGeom prst="roundRect">
            <a:avLst/>
          </a:prstGeom>
          <a:solidFill>
            <a:srgbClr val="0F9B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latin typeface="Aptos"/>
              </a:defRPr>
            </a:pPr>
            <a:r>
              <a:t>PREDICT &amp; OPTIMIZE</a:t>
            </a:r>
          </a:p>
          <a:p>
            <a:pPr algn="ctr">
              <a:defRPr sz="850">
                <a:solidFill>
                  <a:srgbClr val="FFFFFF"/>
                </a:solidFill>
                <a:latin typeface="Aptos"/>
              </a:defRPr>
            </a:pPr>
            <a:r>
              <a:t>2028–2029</a:t>
            </a:r>
          </a:p>
        </p:txBody>
      </p:sp>
      <p:sp>
        <p:nvSpPr>
          <p:cNvPr id="13" name="TextBox 12"/>
          <p:cNvSpPr txBox="1"/>
          <p:nvPr/>
        </p:nvSpPr>
        <p:spPr>
          <a:xfrm>
            <a:off x="6336792" y="2587752"/>
            <a:ext cx="2276856" cy="2880360"/>
          </a:xfrm>
          <a:prstGeom prst="rect">
            <a:avLst/>
          </a:prstGeom>
          <a:noFill/>
        </p:spPr>
        <p:txBody>
          <a:bodyPr wrap="square">
            <a:spAutoFit/>
          </a:bodyPr>
          <a:lstStyle/>
          <a:p>
            <a:pPr>
              <a:spcAft>
                <a:spcPts val="500"/>
              </a:spcAft>
              <a:defRPr sz="910">
                <a:solidFill>
                  <a:srgbClr val="182B40"/>
                </a:solidFill>
                <a:latin typeface="Aptos"/>
              </a:defRPr>
            </a:pPr>
            <a:r>
              <a:t>• Predictive quality and maintenance</a:t>
            </a:r>
          </a:p>
          <a:p>
            <a:pPr>
              <a:spcAft>
                <a:spcPts val="500"/>
              </a:spcAft>
              <a:defRPr sz="910">
                <a:solidFill>
                  <a:srgbClr val="182B40"/>
                </a:solidFill>
                <a:latin typeface="Aptos"/>
              </a:defRPr>
            </a:pPr>
            <a:r>
              <a:t>• Yield / throughput optimization</a:t>
            </a:r>
          </a:p>
          <a:p>
            <a:pPr>
              <a:spcAft>
                <a:spcPts val="500"/>
              </a:spcAft>
              <a:defRPr sz="910">
                <a:solidFill>
                  <a:srgbClr val="182B40"/>
                </a:solidFill>
                <a:latin typeface="Aptos"/>
              </a:defRPr>
            </a:pPr>
            <a:r>
              <a:t>• Energy and process optimization</a:t>
            </a:r>
          </a:p>
          <a:p>
            <a:pPr>
              <a:spcAft>
                <a:spcPts val="500"/>
              </a:spcAft>
              <a:defRPr sz="910">
                <a:solidFill>
                  <a:srgbClr val="182B40"/>
                </a:solidFill>
                <a:latin typeface="Aptos"/>
              </a:defRPr>
            </a:pPr>
            <a:r>
              <a:t>• Engineering-change impact analysis</a:t>
            </a:r>
          </a:p>
        </p:txBody>
      </p:sp>
      <p:sp>
        <p:nvSpPr>
          <p:cNvPr id="14" name="Rounded Rectangle 13"/>
          <p:cNvSpPr/>
          <p:nvPr/>
        </p:nvSpPr>
        <p:spPr>
          <a:xfrm>
            <a:off x="9006840" y="1572768"/>
            <a:ext cx="2606040" cy="4315968"/>
          </a:xfrm>
          <a:prstGeom prst="roundRect">
            <a:avLst/>
          </a:prstGeom>
          <a:solidFill>
            <a:srgbClr val="F5F8FB"/>
          </a:solidFill>
          <a:ln>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079992" y="1664208"/>
            <a:ext cx="2459736" cy="74980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latin typeface="Aptos"/>
              </a:defRPr>
            </a:pPr>
            <a:r>
              <a:t>ACT</a:t>
            </a:r>
          </a:p>
          <a:p>
            <a:pPr algn="ctr">
              <a:defRPr sz="850">
                <a:solidFill>
                  <a:srgbClr val="FFFFFF"/>
                </a:solidFill>
                <a:latin typeface="Aptos"/>
              </a:defRPr>
            </a:pPr>
            <a:r>
              <a:t>2029+</a:t>
            </a:r>
          </a:p>
        </p:txBody>
      </p:sp>
      <p:sp>
        <p:nvSpPr>
          <p:cNvPr id="16" name="TextBox 15"/>
          <p:cNvSpPr txBox="1"/>
          <p:nvPr/>
        </p:nvSpPr>
        <p:spPr>
          <a:xfrm>
            <a:off x="9171432" y="2587752"/>
            <a:ext cx="2276856" cy="2880360"/>
          </a:xfrm>
          <a:prstGeom prst="rect">
            <a:avLst/>
          </a:prstGeom>
          <a:noFill/>
        </p:spPr>
        <p:txBody>
          <a:bodyPr wrap="square">
            <a:spAutoFit/>
          </a:bodyPr>
          <a:lstStyle/>
          <a:p>
            <a:pPr>
              <a:spcAft>
                <a:spcPts val="500"/>
              </a:spcAft>
              <a:defRPr sz="910">
                <a:solidFill>
                  <a:srgbClr val="182B40"/>
                </a:solidFill>
                <a:latin typeface="Aptos"/>
              </a:defRPr>
            </a:pPr>
            <a:r>
              <a:t>• Human-supervised manufacturing agents</a:t>
            </a:r>
          </a:p>
          <a:p>
            <a:pPr>
              <a:spcAft>
                <a:spcPts val="500"/>
              </a:spcAft>
              <a:defRPr sz="910">
                <a:solidFill>
                  <a:srgbClr val="182B40"/>
                </a:solidFill>
                <a:latin typeface="Aptos"/>
              </a:defRPr>
            </a:pPr>
            <a:r>
              <a:t>• Multi-step workflows with escalations and SLAs</a:t>
            </a:r>
          </a:p>
          <a:p>
            <a:pPr>
              <a:spcAft>
                <a:spcPts val="500"/>
              </a:spcAft>
              <a:defRPr sz="910">
                <a:solidFill>
                  <a:srgbClr val="182B40"/>
                </a:solidFill>
                <a:latin typeface="Aptos"/>
              </a:defRPr>
            </a:pPr>
            <a:r>
              <a:t>• Recommend scheduling and process actions</a:t>
            </a:r>
          </a:p>
          <a:p>
            <a:pPr>
              <a:spcAft>
                <a:spcPts val="500"/>
              </a:spcAft>
              <a:defRPr sz="910">
                <a:solidFill>
                  <a:srgbClr val="182B40"/>
                </a:solidFill>
                <a:latin typeface="Aptos"/>
              </a:defRPr>
            </a:pPr>
            <a:r>
              <a:t>• Native ERP / CMMS / QMS connectors</a:t>
            </a:r>
          </a:p>
          <a:p>
            <a:pPr>
              <a:spcAft>
                <a:spcPts val="500"/>
              </a:spcAft>
              <a:defRPr sz="910">
                <a:solidFill>
                  <a:srgbClr val="182B40"/>
                </a:solidFill>
                <a:latin typeface="Aptos"/>
              </a:defRPr>
            </a:pPr>
            <a:r>
              <a:t>• Cross-plant intelligence and reusable skills</a:t>
            </a:r>
          </a:p>
        </p:txBody>
      </p:sp>
      <p:sp>
        <p:nvSpPr>
          <p:cNvPr id="17" name="Rounded Rectangle 16"/>
          <p:cNvSpPr/>
          <p:nvPr/>
        </p:nvSpPr>
        <p:spPr>
          <a:xfrm>
            <a:off x="749808" y="6053328"/>
            <a:ext cx="10652760" cy="438912"/>
          </a:xfrm>
          <a:prstGeom prst="roundRect">
            <a:avLst/>
          </a:prstGeom>
          <a:solidFill>
            <a:srgbClr val="14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Observe  →  Investigate  →  Explain  →  Recommend  →  Simulate  →  Execute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064240" cy="502920"/>
          </a:xfrm>
          <a:prstGeom prst="rect">
            <a:avLst/>
          </a:prstGeom>
          <a:noFill/>
        </p:spPr>
        <p:txBody>
          <a:bodyPr wrap="none">
            <a:spAutoFit/>
          </a:bodyPr>
          <a:lstStyle/>
          <a:p>
            <a:pPr>
              <a:defRPr sz="2400" b="1">
                <a:solidFill>
                  <a:srgbClr val="142B46"/>
                </a:solidFill>
                <a:latin typeface="Aptos Display"/>
              </a:defRPr>
            </a:pPr>
            <a:r>
              <a:t>DMI becomes the intelligence layer across manufacturing systems</a:t>
            </a:r>
          </a:p>
        </p:txBody>
      </p:sp>
      <p:sp>
        <p:nvSpPr>
          <p:cNvPr id="3" name="TextBox 2"/>
          <p:cNvSpPr txBox="1"/>
          <p:nvPr/>
        </p:nvSpPr>
        <p:spPr>
          <a:xfrm>
            <a:off x="530352" y="850392"/>
            <a:ext cx="10789920" cy="347472"/>
          </a:xfrm>
          <a:prstGeom prst="rect">
            <a:avLst/>
          </a:prstGeom>
          <a:noFill/>
        </p:spPr>
        <p:txBody>
          <a:bodyPr wrap="none">
            <a:spAutoFit/>
          </a:bodyPr>
          <a:lstStyle/>
          <a:p>
            <a:pPr>
              <a:defRPr sz="1050">
                <a:solidFill>
                  <a:srgbClr val="5B6C7C"/>
                </a:solidFill>
                <a:latin typeface="Aptos"/>
              </a:defRPr>
            </a:pPr>
            <a:r>
              <a:t>The expansion strategy is integration, correlation and reasoning across systems of record - not replacement.</a:t>
            </a:r>
          </a:p>
        </p:txBody>
      </p:sp>
      <p:sp>
        <p:nvSpPr>
          <p:cNvPr id="4" name="Rectangle 3"/>
          <p:cNvSpPr/>
          <p:nvPr/>
        </p:nvSpPr>
        <p:spPr>
          <a:xfrm>
            <a:off x="502920" y="1207008"/>
            <a:ext cx="11109960" cy="22860"/>
          </a:xfrm>
          <a:prstGeom prst="rect">
            <a:avLst/>
          </a:prstGeom>
          <a:solidFill>
            <a:srgbClr val="C757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69080" y="2011680"/>
            <a:ext cx="4069080" cy="2423160"/>
          </a:xfrm>
          <a:prstGeom prst="roundRect">
            <a:avLst/>
          </a:prstGeom>
          <a:solidFill>
            <a:srgbClr val="14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Aptos"/>
              </a:defRPr>
            </a:pPr>
            <a:r>
              <a:t>DMI PROCESS INTELLIGENCE</a:t>
            </a:r>
          </a:p>
          <a:p>
            <a:pPr algn="ctr">
              <a:defRPr sz="1000" b="0">
                <a:solidFill>
                  <a:srgbClr val="FFFFFF"/>
                </a:solidFill>
                <a:latin typeface="Aptos"/>
              </a:defRPr>
            </a:pPr>
            <a:r>
              <a:t>Process graph • distributed SLMs • RAG • evidence joins • lineage</a:t>
            </a:r>
          </a:p>
          <a:p>
            <a:pPr algn="ctr">
              <a:defRPr sz="1200" b="1">
                <a:solidFill>
                  <a:srgbClr val="73BEFF"/>
                </a:solidFill>
                <a:latin typeface="Aptos"/>
              </a:defRPr>
            </a:pPr>
            <a:r>
              <a:t>ANYLOG DISTRIBUTED DATA FABRIC</a:t>
            </a:r>
          </a:p>
          <a:p>
            <a:pPr algn="ctr">
              <a:defRPr sz="1050" b="0">
                <a:solidFill>
                  <a:srgbClr val="FFFFFF"/>
                </a:solidFill>
                <a:latin typeface="Aptos"/>
              </a:defRPr>
            </a:pPr>
            <a:r>
              <a:t>Data stays where it is. Intelligence moves.</a:t>
            </a:r>
          </a:p>
        </p:txBody>
      </p:sp>
      <p:sp>
        <p:nvSpPr>
          <p:cNvPr id="6" name="Rounded Rectangle 5"/>
          <p:cNvSpPr/>
          <p:nvPr/>
        </p:nvSpPr>
        <p:spPr>
          <a:xfrm>
            <a:off x="548640" y="1572768"/>
            <a:ext cx="2560320" cy="713232"/>
          </a:xfrm>
          <a:prstGeom prst="roundRect">
            <a:avLst/>
          </a:prstGeom>
          <a:solidFill>
            <a:srgbClr val="F5F8FB"/>
          </a:solidFill>
          <a:ln w="19050">
            <a:solidFill>
              <a:srgbClr val="C75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19" b="1">
                <a:solidFill>
                  <a:srgbClr val="C75732"/>
                </a:solidFill>
                <a:latin typeface="Aptos"/>
              </a:defRPr>
            </a:pPr>
            <a:r>
              <a:t>DOCUMENTS / RAG</a:t>
            </a:r>
          </a:p>
          <a:p>
            <a:pPr algn="ctr">
              <a:defRPr sz="740">
                <a:solidFill>
                  <a:srgbClr val="5B6C7C"/>
                </a:solidFill>
                <a:latin typeface="Aptos"/>
              </a:defRPr>
            </a:pPr>
            <a:r>
              <a:t>SOPs • manuals • drawings • work instructions</a:t>
            </a:r>
          </a:p>
        </p:txBody>
      </p:sp>
      <p:sp>
        <p:nvSpPr>
          <p:cNvPr id="7" name="Rounded Rectangle 6"/>
          <p:cNvSpPr/>
          <p:nvPr/>
        </p:nvSpPr>
        <p:spPr>
          <a:xfrm>
            <a:off x="548640" y="2514600"/>
            <a:ext cx="2560320" cy="713232"/>
          </a:xfrm>
          <a:prstGeom prst="roundRect">
            <a:avLst/>
          </a:prstGeom>
          <a:solidFill>
            <a:srgbClr val="F5F8FB"/>
          </a:solidFill>
          <a:ln w="19050">
            <a:solidFill>
              <a:srgbClr val="296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19" b="1">
                <a:solidFill>
                  <a:srgbClr val="2964DB"/>
                </a:solidFill>
                <a:latin typeface="Aptos"/>
              </a:defRPr>
            </a:pPr>
            <a:r>
              <a:t>MES / MOM</a:t>
            </a:r>
          </a:p>
          <a:p>
            <a:pPr algn="ctr">
              <a:defRPr sz="740">
                <a:solidFill>
                  <a:srgbClr val="5B6C7C"/>
                </a:solidFill>
                <a:latin typeface="Aptos"/>
              </a:defRPr>
            </a:pPr>
            <a:r>
              <a:t>orders • batches • recipes • routing • shifts</a:t>
            </a:r>
          </a:p>
        </p:txBody>
      </p:sp>
      <p:sp>
        <p:nvSpPr>
          <p:cNvPr id="8" name="Rounded Rectangle 7"/>
          <p:cNvSpPr/>
          <p:nvPr/>
        </p:nvSpPr>
        <p:spPr>
          <a:xfrm>
            <a:off x="548640" y="3456432"/>
            <a:ext cx="2560320" cy="713232"/>
          </a:xfrm>
          <a:prstGeom prst="roundRect">
            <a:avLst/>
          </a:prstGeom>
          <a:solidFill>
            <a:srgbClr val="F5F8FB"/>
          </a:solidFill>
          <a:ln w="19050">
            <a:solidFill>
              <a:srgbClr val="0F9B9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19" b="1">
                <a:solidFill>
                  <a:srgbClr val="0F9B92"/>
                </a:solidFill>
                <a:latin typeface="Aptos"/>
              </a:defRPr>
            </a:pPr>
            <a:r>
              <a:t>QMS / LIMS</a:t>
            </a:r>
          </a:p>
          <a:p>
            <a:pPr algn="ctr">
              <a:defRPr sz="740">
                <a:solidFill>
                  <a:srgbClr val="5B6C7C"/>
                </a:solidFill>
                <a:latin typeface="Aptos"/>
              </a:defRPr>
            </a:pPr>
            <a:r>
              <a:t>deviations • CAPA • OOS/OOT • lab • SPC</a:t>
            </a:r>
          </a:p>
        </p:txBody>
      </p:sp>
      <p:sp>
        <p:nvSpPr>
          <p:cNvPr id="9" name="Rounded Rectangle 8"/>
          <p:cNvSpPr/>
          <p:nvPr/>
        </p:nvSpPr>
        <p:spPr>
          <a:xfrm>
            <a:off x="548640" y="4398264"/>
            <a:ext cx="2560320" cy="713232"/>
          </a:xfrm>
          <a:prstGeom prst="roundRect">
            <a:avLst/>
          </a:prstGeom>
          <a:solidFill>
            <a:srgbClr val="F5F8FB"/>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19" b="1">
                <a:solidFill>
                  <a:srgbClr val="7C3AED"/>
                </a:solidFill>
                <a:latin typeface="Aptos"/>
              </a:defRPr>
            </a:pPr>
            <a:r>
              <a:t>CMMS / EAM</a:t>
            </a:r>
          </a:p>
          <a:p>
            <a:pPr algn="ctr">
              <a:defRPr sz="740">
                <a:solidFill>
                  <a:srgbClr val="5B6C7C"/>
                </a:solidFill>
                <a:latin typeface="Aptos"/>
              </a:defRPr>
            </a:pPr>
            <a:r>
              <a:t>assets • failures • work orders • maintenance</a:t>
            </a:r>
          </a:p>
        </p:txBody>
      </p:sp>
      <p:sp>
        <p:nvSpPr>
          <p:cNvPr id="10" name="Rounded Rectangle 9"/>
          <p:cNvSpPr/>
          <p:nvPr/>
        </p:nvSpPr>
        <p:spPr>
          <a:xfrm>
            <a:off x="9098280" y="1572768"/>
            <a:ext cx="2560320" cy="713232"/>
          </a:xfrm>
          <a:prstGeom prst="roundRect">
            <a:avLst/>
          </a:prstGeom>
          <a:solidFill>
            <a:srgbClr val="F5F8FB"/>
          </a:solidFill>
          <a:ln w="19050">
            <a:solidFill>
              <a:srgbClr val="1E9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19" b="1">
                <a:solidFill>
                  <a:srgbClr val="1E9D5B"/>
                </a:solidFill>
                <a:latin typeface="Aptos"/>
              </a:defRPr>
            </a:pPr>
            <a:r>
              <a:t>ERP / WMS / SCM</a:t>
            </a:r>
          </a:p>
          <a:p>
            <a:pPr algn="ctr">
              <a:defRPr sz="740">
                <a:solidFill>
                  <a:srgbClr val="5B6C7C"/>
                </a:solidFill>
                <a:latin typeface="Aptos"/>
              </a:defRPr>
            </a:pPr>
            <a:r>
              <a:t>materials • lots • suppliers • inventory</a:t>
            </a:r>
          </a:p>
        </p:txBody>
      </p:sp>
      <p:sp>
        <p:nvSpPr>
          <p:cNvPr id="11" name="Rounded Rectangle 10"/>
          <p:cNvSpPr/>
          <p:nvPr/>
        </p:nvSpPr>
        <p:spPr>
          <a:xfrm>
            <a:off x="9098280" y="2514600"/>
            <a:ext cx="2560320" cy="713232"/>
          </a:xfrm>
          <a:prstGeom prst="roundRect">
            <a:avLst/>
          </a:prstGeom>
          <a:solidFill>
            <a:srgbClr val="F5F8FB"/>
          </a:solidFill>
          <a:ln w="19050">
            <a:solidFill>
              <a:srgbClr val="C75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19" b="1">
                <a:solidFill>
                  <a:srgbClr val="C75732"/>
                </a:solidFill>
                <a:latin typeface="Aptos"/>
              </a:defRPr>
            </a:pPr>
            <a:r>
              <a:t>PLM / ENGINEERING</a:t>
            </a:r>
          </a:p>
          <a:p>
            <a:pPr algn="ctr">
              <a:defRPr sz="740">
                <a:solidFill>
                  <a:srgbClr val="5B6C7C"/>
                </a:solidFill>
                <a:latin typeface="Aptos"/>
              </a:defRPr>
            </a:pPr>
            <a:r>
              <a:t>BOM/BOP • ECN/ECO • configuration</a:t>
            </a:r>
          </a:p>
        </p:txBody>
      </p:sp>
      <p:sp>
        <p:nvSpPr>
          <p:cNvPr id="12" name="Rounded Rectangle 11"/>
          <p:cNvSpPr/>
          <p:nvPr/>
        </p:nvSpPr>
        <p:spPr>
          <a:xfrm>
            <a:off x="9098280" y="3456432"/>
            <a:ext cx="2560320" cy="713232"/>
          </a:xfrm>
          <a:prstGeom prst="roundRect">
            <a:avLst/>
          </a:prstGeom>
          <a:solidFill>
            <a:srgbClr val="F5F8FB"/>
          </a:solidFill>
          <a:ln w="19050">
            <a:solidFill>
              <a:srgbClr val="296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19" b="1">
                <a:solidFill>
                  <a:srgbClr val="2964DB"/>
                </a:solidFill>
                <a:latin typeface="Aptos"/>
              </a:defRPr>
            </a:pPr>
            <a:r>
              <a:t>HISTORIAN / SCADA / DCS</a:t>
            </a:r>
          </a:p>
          <a:p>
            <a:pPr algn="ctr">
              <a:defRPr sz="740">
                <a:solidFill>
                  <a:srgbClr val="5B6C7C"/>
                </a:solidFill>
                <a:latin typeface="Aptos"/>
              </a:defRPr>
            </a:pPr>
            <a:r>
              <a:t>time series • alarms • events • controls</a:t>
            </a:r>
          </a:p>
        </p:txBody>
      </p:sp>
      <p:sp>
        <p:nvSpPr>
          <p:cNvPr id="13" name="Rounded Rectangle 12"/>
          <p:cNvSpPr/>
          <p:nvPr/>
        </p:nvSpPr>
        <p:spPr>
          <a:xfrm>
            <a:off x="9098280" y="4398264"/>
            <a:ext cx="2560320" cy="713232"/>
          </a:xfrm>
          <a:prstGeom prst="roundRect">
            <a:avLst/>
          </a:prstGeom>
          <a:solidFill>
            <a:srgbClr val="F5F8FB"/>
          </a:solidFill>
          <a:ln w="19050">
            <a:solidFill>
              <a:srgbClr val="0F9B9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19" b="1">
                <a:solidFill>
                  <a:srgbClr val="0F9B92"/>
                </a:solidFill>
                <a:latin typeface="Aptos"/>
              </a:defRPr>
            </a:pPr>
            <a:r>
              <a:t>PLC / OPC UA / MQTT</a:t>
            </a:r>
          </a:p>
          <a:p>
            <a:pPr algn="ctr">
              <a:defRPr sz="740">
                <a:solidFill>
                  <a:srgbClr val="5B6C7C"/>
                </a:solidFill>
                <a:latin typeface="Aptos"/>
              </a:defRPr>
            </a:pPr>
            <a:r>
              <a:t>machines • sensors • process signals</a:t>
            </a:r>
          </a:p>
        </p:txBody>
      </p:sp>
      <p:cxnSp>
        <p:nvCxnSpPr>
          <p:cNvPr id="14" name="Connector 13"/>
          <p:cNvCxnSpPr/>
          <p:nvPr/>
        </p:nvCxnSpPr>
        <p:spPr>
          <a:xfrm>
            <a:off x="3108960" y="1929384"/>
            <a:ext cx="960120" cy="1289304"/>
          </a:xfrm>
          <a:prstGeom prst="line">
            <a:avLst/>
          </a:prstGeom>
          <a:ln w="19050">
            <a:solidFill>
              <a:srgbClr val="DBE2E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138160" y="1929384"/>
            <a:ext cx="960120" cy="1289304"/>
          </a:xfrm>
          <a:prstGeom prst="line">
            <a:avLst/>
          </a:prstGeom>
          <a:ln w="19050">
            <a:solidFill>
              <a:srgbClr val="DBE2E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108960" y="2871216"/>
            <a:ext cx="960120" cy="347472"/>
          </a:xfrm>
          <a:prstGeom prst="line">
            <a:avLst/>
          </a:prstGeom>
          <a:ln w="19050">
            <a:solidFill>
              <a:srgbClr val="DBE2E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138160" y="2871216"/>
            <a:ext cx="960120" cy="347472"/>
          </a:xfrm>
          <a:prstGeom prst="line">
            <a:avLst/>
          </a:prstGeom>
          <a:ln w="19050">
            <a:solidFill>
              <a:srgbClr val="DBE2E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108960" y="3218688"/>
            <a:ext cx="960120" cy="594360"/>
          </a:xfrm>
          <a:prstGeom prst="line">
            <a:avLst/>
          </a:prstGeom>
          <a:ln w="19050">
            <a:solidFill>
              <a:srgbClr val="DBE2E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138160" y="3218688"/>
            <a:ext cx="960120" cy="594360"/>
          </a:xfrm>
          <a:prstGeom prst="line">
            <a:avLst/>
          </a:prstGeom>
          <a:ln w="19050">
            <a:solidFill>
              <a:srgbClr val="DBE2E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108960" y="3218688"/>
            <a:ext cx="960120" cy="1536192"/>
          </a:xfrm>
          <a:prstGeom prst="line">
            <a:avLst/>
          </a:prstGeom>
          <a:ln w="19050">
            <a:solidFill>
              <a:srgbClr val="DBE2E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138160" y="3218688"/>
            <a:ext cx="960120" cy="1536192"/>
          </a:xfrm>
          <a:prstGeom prst="line">
            <a:avLst/>
          </a:prstGeom>
          <a:ln w="19050">
            <a:solidFill>
              <a:srgbClr val="DBE2E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85800" y="5559552"/>
            <a:ext cx="10835640" cy="777240"/>
          </a:xfrm>
          <a:prstGeom prst="roundRect">
            <a:avLst/>
          </a:prstGeom>
          <a:solidFill>
            <a:srgbClr val="F5F8FB"/>
          </a:solidFill>
          <a:ln>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2B46"/>
                </a:solidFill>
                <a:latin typeface="Aptos"/>
              </a:defRPr>
            </a:pPr>
            <a:r>
              <a:t>Future DMI questions span systems:</a:t>
            </a:r>
          </a:p>
          <a:p>
            <a:pPr algn="ctr">
              <a:defRPr sz="880">
                <a:solidFill>
                  <a:srgbClr val="182B40"/>
                </a:solidFill>
                <a:latin typeface="Aptos"/>
              </a:defRPr>
            </a:pPr>
            <a:r>
              <a:t>“Which batches were affected?”   •   “Did ECO-2487 reduce first-pass yield?”   •   “Is this failure linked to a supplier lot?”   •   “What maintenance action is supported by the evidence?”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064240" cy="502920"/>
          </a:xfrm>
          <a:prstGeom prst="rect">
            <a:avLst/>
          </a:prstGeom>
          <a:noFill/>
        </p:spPr>
        <p:txBody>
          <a:bodyPr wrap="square" lIns="0" tIns="0" rIns="0" bIns="0" anchor="t">
            <a:spAutoFit/>
          </a:bodyPr>
          <a:lstStyle/>
          <a:p>
            <a:pPr algn="l">
              <a:spcAft>
                <a:spcPts val="0"/>
              </a:spcAft>
            </a:pPr>
            <a:r>
              <a:rPr sz="2400" b="1">
                <a:solidFill>
                  <a:srgbClr val="142B46"/>
                </a:solidFill>
                <a:latin typeface="Aptos Display"/>
              </a:rPr>
              <a:t>Business Process Automation: from insight to approved action</a:t>
            </a:r>
          </a:p>
        </p:txBody>
      </p:sp>
      <p:sp>
        <p:nvSpPr>
          <p:cNvPr id="3" name="TextBox 2"/>
          <p:cNvSpPr txBox="1"/>
          <p:nvPr/>
        </p:nvSpPr>
        <p:spPr>
          <a:xfrm>
            <a:off x="530352" y="850392"/>
            <a:ext cx="10789920" cy="347472"/>
          </a:xfrm>
          <a:prstGeom prst="rect">
            <a:avLst/>
          </a:prstGeom>
          <a:noFill/>
        </p:spPr>
        <p:txBody>
          <a:bodyPr wrap="square" lIns="0" tIns="0" rIns="0" bIns="0" anchor="t">
            <a:spAutoFit/>
          </a:bodyPr>
          <a:lstStyle/>
          <a:p>
            <a:pPr algn="l">
              <a:spcAft>
                <a:spcPts val="0"/>
              </a:spcAft>
            </a:pPr>
            <a:r>
              <a:rPr sz="1050" b="0">
                <a:solidFill>
                  <a:srgbClr val="5B6C7C"/>
                </a:solidFill>
                <a:latin typeface="Aptos"/>
              </a:rPr>
              <a:t>DMI does not just automate predefined workflows. It understands plant conditions, investigates problems, recommends responses and orchestrates approved actions.</a:t>
            </a:r>
          </a:p>
        </p:txBody>
      </p:sp>
      <p:sp>
        <p:nvSpPr>
          <p:cNvPr id="4" name="Rectangle 3"/>
          <p:cNvSpPr/>
          <p:nvPr/>
        </p:nvSpPr>
        <p:spPr>
          <a:xfrm>
            <a:off x="502920" y="1207008"/>
            <a:ext cx="11109960" cy="27432"/>
          </a:xfrm>
          <a:prstGeom prst="rect">
            <a:avLst/>
          </a:prstGeom>
          <a:solidFill>
            <a:srgbClr val="C757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unded Rectangle 4"/>
          <p:cNvSpPr/>
          <p:nvPr/>
        </p:nvSpPr>
        <p:spPr>
          <a:xfrm>
            <a:off x="502920" y="1481328"/>
            <a:ext cx="2286000" cy="3794760"/>
          </a:xfrm>
          <a:prstGeom prst="roundRect">
            <a:avLst>
              <a:gd name="adj" fmla="val 6000"/>
            </a:avLst>
          </a:prstGeom>
          <a:solidFill>
            <a:srgbClr val="F5F8FB"/>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76072" y="1554480"/>
            <a:ext cx="2139696" cy="566928"/>
          </a:xfrm>
          <a:prstGeom prst="roundRect">
            <a:avLst>
              <a:gd name="adj" fmla="val 6000"/>
            </a:avLst>
          </a:prstGeom>
          <a:solidFill>
            <a:srgbClr val="C757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0"/>
              </a:spcAft>
            </a:pPr>
            <a:r>
              <a:rPr sz="1050" b="1">
                <a:solidFill>
                  <a:srgbClr val="FFFFFF"/>
                </a:solidFill>
                <a:latin typeface="Aptos"/>
              </a:rPr>
              <a:t>1  BUSINESS PROCESS</a:t>
            </a:r>
          </a:p>
          <a:p>
            <a:pPr algn="ctr">
              <a:spcAft>
                <a:spcPts val="0"/>
              </a:spcAft>
            </a:pPr>
            <a:r>
              <a:rPr sz="1050" b="1">
                <a:solidFill>
                  <a:srgbClr val="FFFFFF"/>
                </a:solidFill>
                <a:latin typeface="Aptos"/>
              </a:rPr>
              <a:t>ANALYSIS</a:t>
            </a:r>
          </a:p>
        </p:txBody>
      </p:sp>
      <p:sp>
        <p:nvSpPr>
          <p:cNvPr id="7" name="TextBox 6"/>
          <p:cNvSpPr txBox="1"/>
          <p:nvPr/>
        </p:nvSpPr>
        <p:spPr>
          <a:xfrm>
            <a:off x="667512" y="2286000"/>
            <a:ext cx="1975104" cy="2880360"/>
          </a:xfrm>
          <a:prstGeom prst="rect">
            <a:avLst/>
          </a:prstGeom>
          <a:noFill/>
        </p:spPr>
        <p:txBody>
          <a:bodyPr wrap="square" lIns="0" tIns="0" rIns="0" bIns="0" anchor="t">
            <a:spAutoFit/>
          </a:bodyPr>
          <a:lstStyle/>
          <a:p>
            <a:pPr algn="l">
              <a:spcAft>
                <a:spcPts val="900"/>
              </a:spcAft>
            </a:pPr>
            <a:r>
              <a:rPr sz="1150" b="0">
                <a:solidFill>
                  <a:srgbClr val="182B40"/>
                </a:solidFill>
                <a:latin typeface="Aptos"/>
              </a:rPr>
              <a:t>•  Discover manufacturing processes from operational data</a:t>
            </a:r>
          </a:p>
          <a:p>
            <a:pPr algn="l">
              <a:spcAft>
                <a:spcPts val="900"/>
              </a:spcAft>
            </a:pPr>
            <a:r>
              <a:rPr sz="1150" b="0">
                <a:solidFill>
                  <a:srgbClr val="182B40"/>
                </a:solidFill>
                <a:latin typeface="Aptos"/>
              </a:rPr>
              <a:t>•  Construct the process graph</a:t>
            </a:r>
          </a:p>
          <a:p>
            <a:pPr algn="l">
              <a:spcAft>
                <a:spcPts val="900"/>
              </a:spcAft>
            </a:pPr>
            <a:r>
              <a:rPr sz="1150" b="0">
                <a:solidFill>
                  <a:srgbClr val="182B40"/>
                </a:solidFill>
                <a:latin typeface="Aptos"/>
              </a:rPr>
              <a:t>•  Find bottlenecks, quality issues and inefficiencies</a:t>
            </a:r>
          </a:p>
          <a:p>
            <a:pPr algn="l">
              <a:spcAft>
                <a:spcPts val="900"/>
              </a:spcAft>
            </a:pPr>
            <a:r>
              <a:rPr sz="1150" b="0">
                <a:solidFill>
                  <a:srgbClr val="182B40"/>
                </a:solidFill>
                <a:latin typeface="Aptos"/>
              </a:rPr>
              <a:t>•  Calculate financial impact</a:t>
            </a:r>
          </a:p>
        </p:txBody>
      </p:sp>
      <p:sp>
        <p:nvSpPr>
          <p:cNvPr id="8" name="Rounded Rectangle 7"/>
          <p:cNvSpPr/>
          <p:nvPr/>
        </p:nvSpPr>
        <p:spPr>
          <a:xfrm>
            <a:off x="612648" y="4617720"/>
            <a:ext cx="2066543" cy="548640"/>
          </a:xfrm>
          <a:prstGeom prst="roundRect">
            <a:avLst>
              <a:gd name="adj" fmla="val 6000"/>
            </a:avLst>
          </a:prstGeom>
          <a:solidFill>
            <a:srgbClr val="FFFFFF"/>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sz="1000" b="1">
                <a:solidFill>
                  <a:srgbClr val="C75732"/>
                </a:solidFill>
                <a:latin typeface="Aptos"/>
              </a:rPr>
              <a:t>Process graph + $ impact</a:t>
            </a:r>
          </a:p>
        </p:txBody>
      </p:sp>
      <p:sp>
        <p:nvSpPr>
          <p:cNvPr id="9" name="Rounded Rectangle 8"/>
          <p:cNvSpPr/>
          <p:nvPr/>
        </p:nvSpPr>
        <p:spPr>
          <a:xfrm>
            <a:off x="2953512" y="1481328"/>
            <a:ext cx="2286000" cy="3794760"/>
          </a:xfrm>
          <a:prstGeom prst="roundRect">
            <a:avLst>
              <a:gd name="adj" fmla="val 6000"/>
            </a:avLst>
          </a:prstGeom>
          <a:solidFill>
            <a:srgbClr val="F5F8FB"/>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3026664" y="1554480"/>
            <a:ext cx="2139696" cy="566928"/>
          </a:xfrm>
          <a:prstGeom prst="roundRect">
            <a:avLst>
              <a:gd name="adj" fmla="val 6000"/>
            </a:avLst>
          </a:prstGeom>
          <a:solidFill>
            <a:srgbClr val="2964D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0"/>
              </a:spcAft>
            </a:pPr>
            <a:r>
              <a:rPr sz="1050" b="1">
                <a:solidFill>
                  <a:srgbClr val="FFFFFF"/>
                </a:solidFill>
                <a:latin typeface="Aptos"/>
              </a:rPr>
              <a:t>2  BUSINESS PROCESS</a:t>
            </a:r>
          </a:p>
          <a:p>
            <a:pPr algn="ctr">
              <a:spcAft>
                <a:spcPts val="0"/>
              </a:spcAft>
            </a:pPr>
            <a:r>
              <a:rPr sz="1050" b="1">
                <a:solidFill>
                  <a:srgbClr val="FFFFFF"/>
                </a:solidFill>
                <a:latin typeface="Aptos"/>
              </a:rPr>
              <a:t>INTELLIGENCE</a:t>
            </a:r>
          </a:p>
        </p:txBody>
      </p:sp>
      <p:sp>
        <p:nvSpPr>
          <p:cNvPr id="11" name="TextBox 10"/>
          <p:cNvSpPr txBox="1"/>
          <p:nvPr/>
        </p:nvSpPr>
        <p:spPr>
          <a:xfrm>
            <a:off x="3118104" y="2286000"/>
            <a:ext cx="1975104" cy="2880360"/>
          </a:xfrm>
          <a:prstGeom prst="rect">
            <a:avLst/>
          </a:prstGeom>
          <a:noFill/>
        </p:spPr>
        <p:txBody>
          <a:bodyPr wrap="square" lIns="0" tIns="0" rIns="0" bIns="0" anchor="t">
            <a:spAutoFit/>
          </a:bodyPr>
          <a:lstStyle/>
          <a:p>
            <a:pPr algn="l">
              <a:spcAft>
                <a:spcPts val="900"/>
              </a:spcAft>
            </a:pPr>
            <a:r>
              <a:rPr sz="1150" b="0">
                <a:solidFill>
                  <a:srgbClr val="182B40"/>
                </a:solidFill>
                <a:latin typeface="Aptos"/>
              </a:rPr>
              <a:t>•  Distributed SLMs investigate manufacturing events</a:t>
            </a:r>
          </a:p>
          <a:p>
            <a:pPr algn="l">
              <a:spcAft>
                <a:spcPts val="900"/>
              </a:spcAft>
            </a:pPr>
            <a:r>
              <a:rPr sz="1150" b="0">
                <a:solidFill>
                  <a:srgbClr val="182B40"/>
                </a:solidFill>
                <a:latin typeface="Aptos"/>
              </a:rPr>
              <a:t>•  Correlate machines, lines and business systems</a:t>
            </a:r>
          </a:p>
          <a:p>
            <a:pPr algn="l">
              <a:spcAft>
                <a:spcPts val="900"/>
              </a:spcAft>
            </a:pPr>
            <a:r>
              <a:rPr sz="1150" b="0">
                <a:solidFill>
                  <a:srgbClr val="182B40"/>
                </a:solidFill>
                <a:latin typeface="Aptos"/>
              </a:rPr>
              <a:t>•  Identify root causes</a:t>
            </a:r>
          </a:p>
          <a:p>
            <a:pPr algn="l">
              <a:spcAft>
                <a:spcPts val="900"/>
              </a:spcAft>
            </a:pPr>
            <a:r>
              <a:rPr sz="1150" b="0">
                <a:solidFill>
                  <a:srgbClr val="182B40"/>
                </a:solidFill>
                <a:latin typeface="Aptos"/>
              </a:rPr>
              <a:t>•  Recommend corrective actions</a:t>
            </a:r>
          </a:p>
        </p:txBody>
      </p:sp>
      <p:sp>
        <p:nvSpPr>
          <p:cNvPr id="12" name="Rounded Rectangle 11"/>
          <p:cNvSpPr/>
          <p:nvPr/>
        </p:nvSpPr>
        <p:spPr>
          <a:xfrm>
            <a:off x="3063240" y="4617720"/>
            <a:ext cx="2066543" cy="548640"/>
          </a:xfrm>
          <a:prstGeom prst="roundRect">
            <a:avLst>
              <a:gd name="adj" fmla="val 6000"/>
            </a:avLst>
          </a:prstGeom>
          <a:solidFill>
            <a:srgbClr val="FFFFFF"/>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sz="1000" b="1">
                <a:solidFill>
                  <a:srgbClr val="2964DB"/>
                </a:solidFill>
                <a:latin typeface="Aptos"/>
              </a:rPr>
              <a:t>Root cause + next action</a:t>
            </a:r>
          </a:p>
        </p:txBody>
      </p:sp>
      <p:sp>
        <p:nvSpPr>
          <p:cNvPr id="13" name="Rounded Rectangle 12"/>
          <p:cNvSpPr/>
          <p:nvPr/>
        </p:nvSpPr>
        <p:spPr>
          <a:xfrm>
            <a:off x="5404104" y="1481328"/>
            <a:ext cx="2286000" cy="3794760"/>
          </a:xfrm>
          <a:prstGeom prst="roundRect">
            <a:avLst>
              <a:gd name="adj" fmla="val 6000"/>
            </a:avLst>
          </a:prstGeom>
          <a:solidFill>
            <a:srgbClr val="F5F8FB"/>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5477256" y="1554480"/>
            <a:ext cx="2139696" cy="566928"/>
          </a:xfrm>
          <a:prstGeom prst="roundRect">
            <a:avLst>
              <a:gd name="adj" fmla="val 6000"/>
            </a:avLst>
          </a:prstGeom>
          <a:solidFill>
            <a:srgbClr val="0F9B9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0"/>
              </a:spcAft>
            </a:pPr>
            <a:r>
              <a:rPr sz="1050" b="1">
                <a:solidFill>
                  <a:srgbClr val="FFFFFF"/>
                </a:solidFill>
                <a:latin typeface="Aptos"/>
              </a:rPr>
              <a:t>3  BUSINESS PROCESS</a:t>
            </a:r>
          </a:p>
          <a:p>
            <a:pPr algn="ctr">
              <a:spcAft>
                <a:spcPts val="0"/>
              </a:spcAft>
            </a:pPr>
            <a:r>
              <a:rPr sz="1050" b="1">
                <a:solidFill>
                  <a:srgbClr val="FFFFFF"/>
                </a:solidFill>
                <a:latin typeface="Aptos"/>
              </a:rPr>
              <a:t>AUTOMATION</a:t>
            </a:r>
          </a:p>
        </p:txBody>
      </p:sp>
      <p:sp>
        <p:nvSpPr>
          <p:cNvPr id="15" name="TextBox 14"/>
          <p:cNvSpPr txBox="1"/>
          <p:nvPr/>
        </p:nvSpPr>
        <p:spPr>
          <a:xfrm>
            <a:off x="5568696" y="2286000"/>
            <a:ext cx="1975104" cy="2880360"/>
          </a:xfrm>
          <a:prstGeom prst="rect">
            <a:avLst/>
          </a:prstGeom>
          <a:noFill/>
        </p:spPr>
        <p:txBody>
          <a:bodyPr wrap="square" lIns="0" tIns="0" rIns="0" bIns="0" anchor="t">
            <a:spAutoFit/>
          </a:bodyPr>
          <a:lstStyle/>
          <a:p>
            <a:pPr algn="l">
              <a:spcAft>
                <a:spcPts val="900"/>
              </a:spcAft>
            </a:pPr>
            <a:r>
              <a:rPr sz="1150" b="0">
                <a:solidFill>
                  <a:srgbClr val="182B40"/>
                </a:solidFill>
                <a:latin typeface="Aptos"/>
              </a:rPr>
              <a:t>•  Initiate maintenance requests</a:t>
            </a:r>
          </a:p>
          <a:p>
            <a:pPr algn="l">
              <a:spcAft>
                <a:spcPts val="900"/>
              </a:spcAft>
            </a:pPr>
            <a:r>
              <a:rPr sz="1150" b="0">
                <a:solidFill>
                  <a:srgbClr val="182B40"/>
                </a:solidFill>
                <a:latin typeface="Aptos"/>
              </a:rPr>
              <a:t>•  Trigger quality investigations</a:t>
            </a:r>
          </a:p>
          <a:p>
            <a:pPr algn="l">
              <a:spcAft>
                <a:spcPts val="900"/>
              </a:spcAft>
            </a:pPr>
            <a:r>
              <a:rPr sz="1150" b="0">
                <a:solidFill>
                  <a:srgbClr val="182B40"/>
                </a:solidFill>
                <a:latin typeface="Aptos"/>
              </a:rPr>
              <a:t>•  Generate production optimization recommendations</a:t>
            </a:r>
          </a:p>
          <a:p>
            <a:pPr algn="l">
              <a:spcAft>
                <a:spcPts val="900"/>
              </a:spcAft>
            </a:pPr>
            <a:r>
              <a:rPr sz="1150" b="0">
                <a:solidFill>
                  <a:srgbClr val="182B40"/>
                </a:solidFill>
                <a:latin typeface="Aptos"/>
              </a:rPr>
              <a:t>•  Run via DMI, Teams or Power Automate</a:t>
            </a:r>
          </a:p>
          <a:p>
            <a:pPr algn="l">
              <a:spcAft>
                <a:spcPts val="900"/>
              </a:spcAft>
            </a:pPr>
            <a:r>
              <a:rPr sz="1150" b="0">
                <a:solidFill>
                  <a:srgbClr val="182B40"/>
                </a:solidFill>
                <a:latin typeface="Aptos"/>
              </a:rPr>
              <a:t>•  Execute approved corrective actions</a:t>
            </a:r>
          </a:p>
        </p:txBody>
      </p:sp>
      <p:sp>
        <p:nvSpPr>
          <p:cNvPr id="16" name="Rounded Rectangle 15"/>
          <p:cNvSpPr/>
          <p:nvPr/>
        </p:nvSpPr>
        <p:spPr>
          <a:xfrm>
            <a:off x="5513832" y="4617720"/>
            <a:ext cx="2066543" cy="548640"/>
          </a:xfrm>
          <a:prstGeom prst="roundRect">
            <a:avLst>
              <a:gd name="adj" fmla="val 6000"/>
            </a:avLst>
          </a:prstGeom>
          <a:solidFill>
            <a:srgbClr val="FFFFFF"/>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sz="1000" b="1">
                <a:solidFill>
                  <a:srgbClr val="0F9B92"/>
                </a:solidFill>
                <a:latin typeface="Aptos"/>
              </a:rPr>
              <a:t>Approved action, verified</a:t>
            </a:r>
          </a:p>
        </p:txBody>
      </p:sp>
      <p:sp>
        <p:nvSpPr>
          <p:cNvPr id="17" name="Rounded Rectangle 16"/>
          <p:cNvSpPr/>
          <p:nvPr/>
        </p:nvSpPr>
        <p:spPr>
          <a:xfrm>
            <a:off x="7818120" y="1481328"/>
            <a:ext cx="3794760" cy="3794760"/>
          </a:xfrm>
          <a:prstGeom prst="roundRect">
            <a:avLst>
              <a:gd name="adj" fmla="val 6000"/>
            </a:avLst>
          </a:prstGeom>
          <a:solidFill>
            <a:srgbClr val="FFFFFF"/>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7891272" y="1554480"/>
            <a:ext cx="3648456" cy="566928"/>
          </a:xfrm>
          <a:prstGeom prst="roundRect">
            <a:avLst>
              <a:gd name="adj" fmla="val 6000"/>
            </a:avLst>
          </a:prstGeom>
          <a:solidFill>
            <a:srgbClr val="142B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0"/>
              </a:spcAft>
            </a:pPr>
            <a:r>
              <a:rPr sz="1050" b="1">
                <a:solidFill>
                  <a:srgbClr val="FFFFFF"/>
                </a:solidFill>
                <a:latin typeface="Aptos"/>
              </a:rPr>
              <a:t>EXAMPLE  ·  Filling line throughput drops 15%</a:t>
            </a:r>
          </a:p>
        </p:txBody>
      </p:sp>
      <p:sp>
        <p:nvSpPr>
          <p:cNvPr id="19" name="TextBox 18"/>
          <p:cNvSpPr txBox="1"/>
          <p:nvPr/>
        </p:nvSpPr>
        <p:spPr>
          <a:xfrm>
            <a:off x="8001000" y="2249424"/>
            <a:ext cx="3429000" cy="457200"/>
          </a:xfrm>
          <a:prstGeom prst="rect">
            <a:avLst/>
          </a:prstGeom>
          <a:noFill/>
        </p:spPr>
        <p:txBody>
          <a:bodyPr wrap="square" lIns="0" tIns="0" rIns="0" bIns="0" anchor="t">
            <a:spAutoFit/>
          </a:bodyPr>
          <a:lstStyle/>
          <a:p>
            <a:pPr algn="l">
              <a:spcAft>
                <a:spcPts val="0"/>
              </a:spcAft>
            </a:pPr>
            <a:r>
              <a:rPr sz="1050" b="1" dirty="0">
                <a:solidFill>
                  <a:srgbClr val="5B6C7C"/>
                </a:solidFill>
                <a:latin typeface="Aptos"/>
              </a:rPr>
              <a:t>Traditional BPA:  </a:t>
            </a:r>
            <a:r>
              <a:rPr sz="1050" b="0" dirty="0">
                <a:solidFill>
                  <a:srgbClr val="5B6C7C"/>
                </a:solidFill>
                <a:latin typeface="Aptos"/>
              </a:rPr>
              <a:t>threshold exceeded → alert or work order.</a:t>
            </a:r>
          </a:p>
        </p:txBody>
      </p:sp>
      <p:sp>
        <p:nvSpPr>
          <p:cNvPr id="20" name="TextBox 19"/>
          <p:cNvSpPr txBox="1"/>
          <p:nvPr/>
        </p:nvSpPr>
        <p:spPr>
          <a:xfrm>
            <a:off x="8001000" y="2670048"/>
            <a:ext cx="3429000" cy="228600"/>
          </a:xfrm>
          <a:prstGeom prst="rect">
            <a:avLst/>
          </a:prstGeom>
          <a:noFill/>
        </p:spPr>
        <p:txBody>
          <a:bodyPr wrap="square" lIns="0" tIns="0" rIns="0" bIns="0" anchor="t">
            <a:spAutoFit/>
          </a:bodyPr>
          <a:lstStyle/>
          <a:p>
            <a:pPr algn="l">
              <a:spcAft>
                <a:spcPts val="0"/>
              </a:spcAft>
            </a:pPr>
            <a:r>
              <a:rPr sz="1000" b="1">
                <a:solidFill>
                  <a:srgbClr val="0F9B92"/>
                </a:solidFill>
                <a:latin typeface="Aptos"/>
              </a:rPr>
              <a:t>DMI-enabled BPA</a:t>
            </a:r>
          </a:p>
        </p:txBody>
      </p:sp>
      <p:sp>
        <p:nvSpPr>
          <p:cNvPr id="21" name="TextBox 20"/>
          <p:cNvSpPr txBox="1"/>
          <p:nvPr/>
        </p:nvSpPr>
        <p:spPr>
          <a:xfrm>
            <a:off x="8001000" y="2926080"/>
            <a:ext cx="3429000" cy="2286000"/>
          </a:xfrm>
          <a:prstGeom prst="rect">
            <a:avLst/>
          </a:prstGeom>
          <a:noFill/>
        </p:spPr>
        <p:txBody>
          <a:bodyPr wrap="square" lIns="0" tIns="0" rIns="0" bIns="0" anchor="t">
            <a:spAutoFit/>
          </a:bodyPr>
          <a:lstStyle/>
          <a:p>
            <a:pPr algn="l">
              <a:spcAft>
                <a:spcPts val="250"/>
              </a:spcAft>
            </a:pPr>
            <a:r>
              <a:rPr sz="1050" b="1">
                <a:solidFill>
                  <a:srgbClr val="0F9B92"/>
                </a:solidFill>
                <a:latin typeface="Aptos"/>
              </a:rPr>
              <a:t>1  </a:t>
            </a:r>
            <a:r>
              <a:rPr sz="1050" b="0">
                <a:solidFill>
                  <a:srgbClr val="182B40"/>
                </a:solidFill>
                <a:latin typeface="Aptos"/>
              </a:rPr>
              <a:t>Detects the throughput reduction</a:t>
            </a:r>
          </a:p>
          <a:p>
            <a:pPr algn="l">
              <a:spcAft>
                <a:spcPts val="250"/>
              </a:spcAft>
            </a:pPr>
            <a:r>
              <a:rPr sz="1050" b="1">
                <a:solidFill>
                  <a:srgbClr val="0F9B92"/>
                </a:solidFill>
                <a:latin typeface="Aptos"/>
              </a:rPr>
              <a:t>2  </a:t>
            </a:r>
            <a:r>
              <a:rPr sz="1050" b="0">
                <a:solidFill>
                  <a:srgbClr val="182B40"/>
                </a:solidFill>
                <a:latin typeface="Aptos"/>
              </a:rPr>
              <a:t>Investigates equipment and process data</a:t>
            </a:r>
          </a:p>
          <a:p>
            <a:pPr algn="l">
              <a:spcAft>
                <a:spcPts val="250"/>
              </a:spcAft>
            </a:pPr>
            <a:r>
              <a:rPr sz="1050" b="1">
                <a:solidFill>
                  <a:srgbClr val="0F9B92"/>
                </a:solidFill>
                <a:latin typeface="Aptos"/>
              </a:rPr>
              <a:t>3  </a:t>
            </a:r>
            <a:r>
              <a:rPr sz="1050" b="0">
                <a:solidFill>
                  <a:srgbClr val="182B40"/>
                </a:solidFill>
                <a:latin typeface="Aptos"/>
              </a:rPr>
              <a:t>Finds an upstream temperature variation</a:t>
            </a:r>
          </a:p>
          <a:p>
            <a:pPr algn="l">
              <a:spcAft>
                <a:spcPts val="250"/>
              </a:spcAft>
            </a:pPr>
            <a:r>
              <a:rPr sz="1050" b="1">
                <a:solidFill>
                  <a:srgbClr val="0F9B92"/>
                </a:solidFill>
                <a:latin typeface="Aptos"/>
              </a:rPr>
              <a:t>4  </a:t>
            </a:r>
            <a:r>
              <a:rPr sz="1050" b="0">
                <a:solidFill>
                  <a:srgbClr val="182B40"/>
                </a:solidFill>
                <a:latin typeface="Aptos"/>
              </a:rPr>
              <a:t>Confirms it is affecting filling performance</a:t>
            </a:r>
          </a:p>
          <a:p>
            <a:pPr algn="l">
              <a:spcAft>
                <a:spcPts val="250"/>
              </a:spcAft>
            </a:pPr>
            <a:r>
              <a:rPr sz="1050" b="1">
                <a:solidFill>
                  <a:srgbClr val="0F9B92"/>
                </a:solidFill>
                <a:latin typeface="Aptos"/>
              </a:rPr>
              <a:t>5  </a:t>
            </a:r>
            <a:r>
              <a:rPr sz="1050" b="0">
                <a:solidFill>
                  <a:srgbClr val="182B40"/>
                </a:solidFill>
                <a:latin typeface="Aptos"/>
              </a:rPr>
              <a:t>Calculates the financial impact</a:t>
            </a:r>
          </a:p>
          <a:p>
            <a:pPr algn="l">
              <a:spcAft>
                <a:spcPts val="250"/>
              </a:spcAft>
            </a:pPr>
            <a:r>
              <a:rPr sz="1050" b="1">
                <a:solidFill>
                  <a:srgbClr val="0F9B92"/>
                </a:solidFill>
                <a:latin typeface="Aptos"/>
              </a:rPr>
              <a:t>6  </a:t>
            </a:r>
            <a:r>
              <a:rPr sz="1050" b="0">
                <a:solidFill>
                  <a:srgbClr val="182B40"/>
                </a:solidFill>
                <a:latin typeface="Aptos"/>
              </a:rPr>
              <a:t>Recommends corrective action</a:t>
            </a:r>
          </a:p>
          <a:p>
            <a:pPr algn="l">
              <a:spcAft>
                <a:spcPts val="250"/>
              </a:spcAft>
            </a:pPr>
            <a:r>
              <a:rPr sz="1050" b="1">
                <a:solidFill>
                  <a:srgbClr val="0F9B92"/>
                </a:solidFill>
                <a:latin typeface="Aptos"/>
              </a:rPr>
              <a:t>7  </a:t>
            </a:r>
            <a:r>
              <a:rPr sz="1050" b="0">
                <a:solidFill>
                  <a:srgbClr val="182B40"/>
                </a:solidFill>
                <a:latin typeface="Aptos"/>
              </a:rPr>
              <a:t>Starts an approved work order (DMI / Teams)</a:t>
            </a:r>
          </a:p>
          <a:p>
            <a:pPr algn="l">
              <a:spcAft>
                <a:spcPts val="250"/>
              </a:spcAft>
            </a:pPr>
            <a:r>
              <a:rPr sz="1050" b="1">
                <a:solidFill>
                  <a:srgbClr val="0F9B92"/>
                </a:solidFill>
                <a:latin typeface="Aptos"/>
              </a:rPr>
              <a:t>8  </a:t>
            </a:r>
            <a:r>
              <a:rPr sz="1050" b="0">
                <a:solidFill>
                  <a:srgbClr val="182B40"/>
                </a:solidFill>
                <a:latin typeface="Aptos"/>
              </a:rPr>
              <a:t>Measures whether performance was restored</a:t>
            </a:r>
          </a:p>
        </p:txBody>
      </p:sp>
      <p:sp>
        <p:nvSpPr>
          <p:cNvPr id="22" name="Rounded Rectangle 21"/>
          <p:cNvSpPr/>
          <p:nvPr/>
        </p:nvSpPr>
        <p:spPr>
          <a:xfrm>
            <a:off x="7927848" y="4617720"/>
            <a:ext cx="3575304" cy="548640"/>
          </a:xfrm>
          <a:prstGeom prst="roundRect">
            <a:avLst>
              <a:gd name="adj" fmla="val 6000"/>
            </a:avLst>
          </a:prstGeom>
          <a:solidFill>
            <a:srgbClr val="FFFFFF"/>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sz="950" b="1">
                <a:solidFill>
                  <a:srgbClr val="142B46"/>
                </a:solidFill>
                <a:latin typeface="Aptos"/>
              </a:rPr>
              <a:t>Closed loop: detect → act → verify</a:t>
            </a:r>
          </a:p>
        </p:txBody>
      </p:sp>
      <p:sp>
        <p:nvSpPr>
          <p:cNvPr id="23" name="Rounded Rectangle 22"/>
          <p:cNvSpPr/>
          <p:nvPr/>
        </p:nvSpPr>
        <p:spPr>
          <a:xfrm>
            <a:off x="502920" y="5458968"/>
            <a:ext cx="11109960" cy="475488"/>
          </a:xfrm>
          <a:prstGeom prst="roundRect">
            <a:avLst>
              <a:gd name="adj" fmla="val 6000"/>
            </a:avLst>
          </a:prstGeom>
          <a:solidFill>
            <a:srgbClr val="142B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0"/>
              </a:spcAft>
            </a:pPr>
            <a:r>
              <a:rPr sz="1100" b="1">
                <a:solidFill>
                  <a:srgbClr val="FFFFFF"/>
                </a:solidFill>
                <a:latin typeface="Aptos"/>
              </a:rPr>
              <a:t>Process Discovery</a:t>
            </a:r>
            <a:r>
              <a:rPr sz="1100" b="0">
                <a:solidFill>
                  <a:srgbClr val="8FA2B3"/>
                </a:solidFill>
                <a:latin typeface="Aptos"/>
              </a:rPr>
              <a:t>   →   </a:t>
            </a:r>
            <a:r>
              <a:rPr sz="1100" b="1">
                <a:solidFill>
                  <a:srgbClr val="FFFFFF"/>
                </a:solidFill>
                <a:latin typeface="Aptos"/>
              </a:rPr>
              <a:t>Process Intelligence</a:t>
            </a:r>
            <a:r>
              <a:rPr sz="1100" b="0">
                <a:solidFill>
                  <a:srgbClr val="8FA2B3"/>
                </a:solidFill>
                <a:latin typeface="Aptos"/>
              </a:rPr>
              <a:t>   →   </a:t>
            </a:r>
            <a:r>
              <a:rPr sz="1100" b="1">
                <a:solidFill>
                  <a:srgbClr val="FFFFFF"/>
                </a:solidFill>
                <a:latin typeface="Aptos"/>
              </a:rPr>
              <a:t>Root Cause Analysis</a:t>
            </a:r>
            <a:r>
              <a:rPr sz="1100" b="0">
                <a:solidFill>
                  <a:srgbClr val="8FA2B3"/>
                </a:solidFill>
                <a:latin typeface="Aptos"/>
              </a:rPr>
              <a:t>   →   </a:t>
            </a:r>
            <a:r>
              <a:rPr sz="1100" b="1">
                <a:solidFill>
                  <a:srgbClr val="FFFFFF"/>
                </a:solidFill>
                <a:latin typeface="Aptos"/>
              </a:rPr>
              <a:t>Decision Support</a:t>
            </a:r>
            <a:r>
              <a:rPr sz="1100" b="0">
                <a:solidFill>
                  <a:srgbClr val="8FA2B3"/>
                </a:solidFill>
                <a:latin typeface="Aptos"/>
              </a:rPr>
              <a:t>   →   </a:t>
            </a:r>
            <a:r>
              <a:rPr sz="1100" b="1">
                <a:solidFill>
                  <a:srgbClr val="FFFFFF"/>
                </a:solidFill>
                <a:latin typeface="Aptos"/>
              </a:rPr>
              <a:t>Business Process Automation</a:t>
            </a:r>
            <a:r>
              <a:rPr sz="1100" b="0">
                <a:solidFill>
                  <a:srgbClr val="8FA2B3"/>
                </a:solidFill>
                <a:latin typeface="Aptos"/>
              </a:rPr>
              <a:t>   →   </a:t>
            </a:r>
            <a:r>
              <a:rPr sz="1100" b="1">
                <a:solidFill>
                  <a:srgbClr val="C9B8F7"/>
                </a:solidFill>
                <a:latin typeface="Aptos"/>
              </a:rPr>
              <a:t>Continuous Optimization</a:t>
            </a:r>
          </a:p>
        </p:txBody>
      </p:sp>
      <p:sp>
        <p:nvSpPr>
          <p:cNvPr id="24" name="TextBox 23"/>
          <p:cNvSpPr txBox="1"/>
          <p:nvPr/>
        </p:nvSpPr>
        <p:spPr>
          <a:xfrm>
            <a:off x="530352" y="6035040"/>
            <a:ext cx="11064240" cy="457200"/>
          </a:xfrm>
          <a:prstGeom prst="rect">
            <a:avLst/>
          </a:prstGeom>
          <a:noFill/>
        </p:spPr>
        <p:txBody>
          <a:bodyPr wrap="square" lIns="0" tIns="0" rIns="0" bIns="0" anchor="t">
            <a:spAutoFit/>
          </a:bodyPr>
          <a:lstStyle/>
          <a:p>
            <a:pPr algn="l">
              <a:spcAft>
                <a:spcPts val="0"/>
              </a:spcAft>
            </a:pPr>
            <a:r>
              <a:rPr sz="1050" b="1">
                <a:solidFill>
                  <a:srgbClr val="142B46"/>
                </a:solidFill>
                <a:latin typeface="Aptos"/>
              </a:rPr>
              <a:t>Positioning: </a:t>
            </a:r>
            <a:r>
              <a:rPr sz="1050" b="0">
                <a:solidFill>
                  <a:srgbClr val="5B6C7C"/>
                </a:solidFill>
                <a:latin typeface="Aptos"/>
              </a:rPr>
              <a:t>Manufacturing Process Intelligence &amp; Automation for SMEs without sophisticated MES or analytics. BPA ships now with DMI work orders, Teams and Power Automate; every action is human-approved.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064240" cy="502920"/>
          </a:xfrm>
          <a:prstGeom prst="rect">
            <a:avLst/>
          </a:prstGeom>
          <a:noFill/>
        </p:spPr>
        <p:txBody>
          <a:bodyPr wrap="square" lIns="0" tIns="0" rIns="0" bIns="0" anchor="t">
            <a:spAutoFit/>
          </a:bodyPr>
          <a:lstStyle/>
          <a:p>
            <a:pPr algn="l">
              <a:spcAft>
                <a:spcPts val="0"/>
              </a:spcAft>
            </a:pPr>
            <a:r>
              <a:rPr sz="2400" b="1">
                <a:solidFill>
                  <a:srgbClr val="142B46"/>
                </a:solidFill>
                <a:latin typeface="Aptos Display"/>
              </a:rPr>
              <a:t>Digital twin: simulate the change before it reaches the line</a:t>
            </a:r>
          </a:p>
        </p:txBody>
      </p:sp>
      <p:sp>
        <p:nvSpPr>
          <p:cNvPr id="3" name="TextBox 2"/>
          <p:cNvSpPr txBox="1"/>
          <p:nvPr/>
        </p:nvSpPr>
        <p:spPr>
          <a:xfrm>
            <a:off x="530352" y="850392"/>
            <a:ext cx="10789920" cy="347472"/>
          </a:xfrm>
          <a:prstGeom prst="rect">
            <a:avLst/>
          </a:prstGeom>
          <a:noFill/>
        </p:spPr>
        <p:txBody>
          <a:bodyPr wrap="square" lIns="0" tIns="0" rIns="0" bIns="0" anchor="t">
            <a:spAutoFit/>
          </a:bodyPr>
          <a:lstStyle/>
          <a:p>
            <a:pPr algn="l">
              <a:spcAft>
                <a:spcPts val="0"/>
              </a:spcAft>
            </a:pPr>
            <a:r>
              <a:rPr sz="1050" b="0">
                <a:solidFill>
                  <a:srgbClr val="5B6C7C"/>
                </a:solidFill>
                <a:latin typeface="Aptos"/>
              </a:rPr>
              <a:t>DMI's twin is the process graph itself: built from the plant's own namespace and live data, it shows what a setpoint or rate change does downstream, and when not to make it.</a:t>
            </a:r>
          </a:p>
        </p:txBody>
      </p:sp>
      <p:sp>
        <p:nvSpPr>
          <p:cNvPr id="4" name="Rectangle 3"/>
          <p:cNvSpPr/>
          <p:nvPr/>
        </p:nvSpPr>
        <p:spPr>
          <a:xfrm>
            <a:off x="502920" y="1207008"/>
            <a:ext cx="11109960" cy="27432"/>
          </a:xfrm>
          <a:prstGeom prst="rect">
            <a:avLst/>
          </a:prstGeom>
          <a:solidFill>
            <a:srgbClr val="C757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unded Rectangle 4"/>
          <p:cNvSpPr/>
          <p:nvPr/>
        </p:nvSpPr>
        <p:spPr>
          <a:xfrm>
            <a:off x="502920" y="1481328"/>
            <a:ext cx="2286000" cy="3794760"/>
          </a:xfrm>
          <a:prstGeom prst="roundRect">
            <a:avLst>
              <a:gd name="adj" fmla="val 6000"/>
            </a:avLst>
          </a:prstGeom>
          <a:solidFill>
            <a:srgbClr val="F5F8FB"/>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76072" y="1554480"/>
            <a:ext cx="2139696" cy="566928"/>
          </a:xfrm>
          <a:prstGeom prst="roundRect">
            <a:avLst>
              <a:gd name="adj" fmla="val 6000"/>
            </a:avLst>
          </a:prstGeom>
          <a:solidFill>
            <a:srgbClr val="C757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0"/>
              </a:spcAft>
            </a:pPr>
            <a:r>
              <a:rPr sz="1050" b="1">
                <a:solidFill>
                  <a:srgbClr val="FFFFFF"/>
                </a:solidFill>
                <a:latin typeface="Aptos"/>
              </a:rPr>
              <a:t>1  BUILD</a:t>
            </a:r>
          </a:p>
          <a:p>
            <a:pPr algn="ctr">
              <a:spcAft>
                <a:spcPts val="0"/>
              </a:spcAft>
            </a:pPr>
            <a:r>
              <a:rPr sz="1050" b="1">
                <a:solidFill>
                  <a:srgbClr val="FFFFFF"/>
                </a:solidFill>
                <a:latin typeface="Aptos"/>
              </a:rPr>
              <a:t>THE TWIN</a:t>
            </a:r>
          </a:p>
        </p:txBody>
      </p:sp>
      <p:sp>
        <p:nvSpPr>
          <p:cNvPr id="7" name="TextBox 6"/>
          <p:cNvSpPr txBox="1"/>
          <p:nvPr/>
        </p:nvSpPr>
        <p:spPr>
          <a:xfrm>
            <a:off x="667512" y="2286000"/>
            <a:ext cx="1975104" cy="2880360"/>
          </a:xfrm>
          <a:prstGeom prst="rect">
            <a:avLst/>
          </a:prstGeom>
          <a:noFill/>
        </p:spPr>
        <p:txBody>
          <a:bodyPr wrap="square" lIns="0" tIns="0" rIns="0" bIns="0" anchor="t">
            <a:spAutoFit/>
          </a:bodyPr>
          <a:lstStyle/>
          <a:p>
            <a:pPr algn="l">
              <a:spcAft>
                <a:spcPts val="900"/>
              </a:spcAft>
            </a:pPr>
            <a:r>
              <a:rPr sz="1150" b="0">
                <a:solidFill>
                  <a:srgbClr val="182B40"/>
                </a:solidFill>
                <a:latin typeface="Aptos"/>
              </a:rPr>
              <a:t>•  Generated from the reviewed UNS and ISA-95 process graph</a:t>
            </a:r>
          </a:p>
          <a:p>
            <a:pPr algn="l">
              <a:spcAft>
                <a:spcPts val="900"/>
              </a:spcAft>
            </a:pPr>
            <a:r>
              <a:rPr sz="1150" b="0">
                <a:solidFill>
                  <a:srgbClr val="182B40"/>
                </a:solidFill>
                <a:latin typeface="Aptos"/>
              </a:rPr>
              <a:t>•  Real units and tags, bound to live tables</a:t>
            </a:r>
          </a:p>
          <a:p>
            <a:pPr algn="l">
              <a:spcAft>
                <a:spcPts val="900"/>
              </a:spcAft>
            </a:pPr>
            <a:r>
              <a:rPr sz="1150" b="0">
                <a:solidFill>
                  <a:srgbClr val="182B40"/>
                </a:solidFill>
                <a:latin typeface="Aptos"/>
              </a:rPr>
              <a:t>•  Stage order and who feeds whom</a:t>
            </a:r>
          </a:p>
          <a:p>
            <a:pPr algn="l">
              <a:spcAft>
                <a:spcPts val="900"/>
              </a:spcAft>
            </a:pPr>
            <a:r>
              <a:rPr sz="1150" b="0">
                <a:solidFill>
                  <a:srgbClr val="182B40"/>
                </a:solidFill>
                <a:latin typeface="Aptos"/>
              </a:rPr>
              <a:t>•  No CAD import or calibration project</a:t>
            </a:r>
          </a:p>
        </p:txBody>
      </p:sp>
      <p:sp>
        <p:nvSpPr>
          <p:cNvPr id="8" name="Rounded Rectangle 7"/>
          <p:cNvSpPr/>
          <p:nvPr/>
        </p:nvSpPr>
        <p:spPr>
          <a:xfrm>
            <a:off x="612648" y="4617720"/>
            <a:ext cx="2066543" cy="548640"/>
          </a:xfrm>
          <a:prstGeom prst="roundRect">
            <a:avLst>
              <a:gd name="adj" fmla="val 6000"/>
            </a:avLst>
          </a:prstGeom>
          <a:solidFill>
            <a:srgbClr val="FFFFFF"/>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sz="1000" b="1">
                <a:solidFill>
                  <a:srgbClr val="C75732"/>
                </a:solidFill>
                <a:latin typeface="Aptos"/>
              </a:rPr>
              <a:t>Ready in days, not months</a:t>
            </a:r>
          </a:p>
        </p:txBody>
      </p:sp>
      <p:sp>
        <p:nvSpPr>
          <p:cNvPr id="9" name="Rounded Rectangle 8"/>
          <p:cNvSpPr/>
          <p:nvPr/>
        </p:nvSpPr>
        <p:spPr>
          <a:xfrm>
            <a:off x="2953512" y="1481328"/>
            <a:ext cx="2286000" cy="3794760"/>
          </a:xfrm>
          <a:prstGeom prst="roundRect">
            <a:avLst>
              <a:gd name="adj" fmla="val 6000"/>
            </a:avLst>
          </a:prstGeom>
          <a:solidFill>
            <a:srgbClr val="F5F8FB"/>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3026664" y="1554480"/>
            <a:ext cx="2139696" cy="566928"/>
          </a:xfrm>
          <a:prstGeom prst="roundRect">
            <a:avLst>
              <a:gd name="adj" fmla="val 6000"/>
            </a:avLst>
          </a:prstGeom>
          <a:solidFill>
            <a:srgbClr val="2964D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0"/>
              </a:spcAft>
            </a:pPr>
            <a:r>
              <a:rPr sz="1050" b="1">
                <a:solidFill>
                  <a:srgbClr val="FFFFFF"/>
                </a:solidFill>
                <a:latin typeface="Aptos"/>
              </a:rPr>
              <a:t>2  SIMULATE</a:t>
            </a:r>
          </a:p>
          <a:p>
            <a:pPr algn="ctr">
              <a:spcAft>
                <a:spcPts val="0"/>
              </a:spcAft>
            </a:pPr>
            <a:r>
              <a:rPr sz="1050" b="1">
                <a:solidFill>
                  <a:srgbClr val="FFFFFF"/>
                </a:solidFill>
                <a:latin typeface="Aptos"/>
              </a:rPr>
              <a:t>THE CHANGE</a:t>
            </a:r>
          </a:p>
        </p:txBody>
      </p:sp>
      <p:sp>
        <p:nvSpPr>
          <p:cNvPr id="11" name="TextBox 10"/>
          <p:cNvSpPr txBox="1"/>
          <p:nvPr/>
        </p:nvSpPr>
        <p:spPr>
          <a:xfrm>
            <a:off x="3118104" y="2286000"/>
            <a:ext cx="1975104" cy="2880360"/>
          </a:xfrm>
          <a:prstGeom prst="rect">
            <a:avLst/>
          </a:prstGeom>
          <a:noFill/>
        </p:spPr>
        <p:txBody>
          <a:bodyPr wrap="square" lIns="0" tIns="0" rIns="0" bIns="0" anchor="t">
            <a:spAutoFit/>
          </a:bodyPr>
          <a:lstStyle/>
          <a:p>
            <a:pPr algn="l">
              <a:spcAft>
                <a:spcPts val="900"/>
              </a:spcAft>
            </a:pPr>
            <a:r>
              <a:rPr sz="1150" b="0">
                <a:solidFill>
                  <a:srgbClr val="182B40"/>
                </a:solidFill>
                <a:latin typeface="Aptos"/>
              </a:rPr>
              <a:t>•  Starts from the live reading</a:t>
            </a:r>
          </a:p>
          <a:p>
            <a:pPr algn="l">
              <a:spcAft>
                <a:spcPts val="900"/>
              </a:spcAft>
            </a:pPr>
            <a:r>
              <a:rPr sz="1150" b="0">
                <a:solidFill>
                  <a:srgbClr val="182B40"/>
                </a:solidFill>
                <a:latin typeface="Aptos"/>
              </a:rPr>
              <a:t>•  Walks every downstream stage on the same site</a:t>
            </a:r>
          </a:p>
          <a:p>
            <a:pPr algn="l">
              <a:spcAft>
                <a:spcPts val="900"/>
              </a:spcAft>
            </a:pPr>
            <a:r>
              <a:rPr sz="1150" b="0">
                <a:solidFill>
                  <a:srgbClr val="182B40"/>
                </a:solidFill>
                <a:latin typeface="Aptos"/>
              </a:rPr>
              <a:t>•  Nearer stages take more of the move</a:t>
            </a:r>
          </a:p>
          <a:p>
            <a:pPr algn="l">
              <a:spcAft>
                <a:spcPts val="900"/>
              </a:spcAft>
            </a:pPr>
            <a:r>
              <a:rPr sz="1150" b="0">
                <a:solidFill>
                  <a:srgbClr val="182B40"/>
                </a:solidFill>
                <a:latin typeface="Aptos"/>
              </a:rPr>
              <a:t>•  Projects rate, output and quality</a:t>
            </a:r>
          </a:p>
        </p:txBody>
      </p:sp>
      <p:sp>
        <p:nvSpPr>
          <p:cNvPr id="12" name="Rounded Rectangle 11"/>
          <p:cNvSpPr/>
          <p:nvPr/>
        </p:nvSpPr>
        <p:spPr>
          <a:xfrm>
            <a:off x="3063240" y="4617720"/>
            <a:ext cx="2066543" cy="548640"/>
          </a:xfrm>
          <a:prstGeom prst="roundRect">
            <a:avLst>
              <a:gd name="adj" fmla="val 6000"/>
            </a:avLst>
          </a:prstGeom>
          <a:solidFill>
            <a:srgbClr val="FFFFFF"/>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sz="1000" b="1">
                <a:solidFill>
                  <a:srgbClr val="2964DB"/>
                </a:solidFill>
                <a:latin typeface="Aptos"/>
              </a:rPr>
              <a:t>Downstream impact, quantified</a:t>
            </a:r>
          </a:p>
        </p:txBody>
      </p:sp>
      <p:sp>
        <p:nvSpPr>
          <p:cNvPr id="13" name="Rounded Rectangle 12"/>
          <p:cNvSpPr/>
          <p:nvPr/>
        </p:nvSpPr>
        <p:spPr>
          <a:xfrm>
            <a:off x="5404104" y="1481328"/>
            <a:ext cx="2286000" cy="3794760"/>
          </a:xfrm>
          <a:prstGeom prst="roundRect">
            <a:avLst>
              <a:gd name="adj" fmla="val 6000"/>
            </a:avLst>
          </a:prstGeom>
          <a:solidFill>
            <a:srgbClr val="F5F8FB"/>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5477256" y="1554480"/>
            <a:ext cx="2139696" cy="566928"/>
          </a:xfrm>
          <a:prstGeom prst="roundRect">
            <a:avLst>
              <a:gd name="adj" fmla="val 6000"/>
            </a:avLst>
          </a:prstGeom>
          <a:solidFill>
            <a:srgbClr val="0F9B9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0"/>
              </a:spcAft>
            </a:pPr>
            <a:r>
              <a:rPr sz="1050" b="1">
                <a:solidFill>
                  <a:srgbClr val="FFFFFF"/>
                </a:solidFill>
                <a:latin typeface="Aptos"/>
              </a:rPr>
              <a:t>3  DECIDE</a:t>
            </a:r>
          </a:p>
          <a:p>
            <a:pPr algn="ctr">
              <a:spcAft>
                <a:spcPts val="0"/>
              </a:spcAft>
            </a:pPr>
            <a:r>
              <a:rPr sz="1050" b="1">
                <a:solidFill>
                  <a:srgbClr val="FFFFFF"/>
                </a:solidFill>
                <a:latin typeface="Aptos"/>
              </a:rPr>
              <a:t>AND VERIFY</a:t>
            </a:r>
          </a:p>
        </p:txBody>
      </p:sp>
      <p:sp>
        <p:nvSpPr>
          <p:cNvPr id="15" name="TextBox 14"/>
          <p:cNvSpPr txBox="1"/>
          <p:nvPr/>
        </p:nvSpPr>
        <p:spPr>
          <a:xfrm>
            <a:off x="5568696" y="2286000"/>
            <a:ext cx="1975104" cy="2880360"/>
          </a:xfrm>
          <a:prstGeom prst="rect">
            <a:avLst/>
          </a:prstGeom>
          <a:noFill/>
        </p:spPr>
        <p:txBody>
          <a:bodyPr wrap="square" lIns="0" tIns="0" rIns="0" bIns="0" anchor="t">
            <a:spAutoFit/>
          </a:bodyPr>
          <a:lstStyle/>
          <a:p>
            <a:pPr algn="l">
              <a:spcAft>
                <a:spcPts val="900"/>
              </a:spcAft>
            </a:pPr>
            <a:r>
              <a:rPr sz="1150" b="0">
                <a:solidFill>
                  <a:srgbClr val="182B40"/>
                </a:solidFill>
                <a:latin typeface="Aptos"/>
              </a:rPr>
              <a:t>•  Verdict: local, review, or do not change now</a:t>
            </a:r>
          </a:p>
          <a:p>
            <a:pPr algn="l">
              <a:spcAft>
                <a:spcPts val="900"/>
              </a:spcAft>
            </a:pPr>
            <a:r>
              <a:rPr sz="1150" b="0">
                <a:solidFill>
                  <a:srgbClr val="182B40"/>
                </a:solidFill>
                <a:latin typeface="Aptos"/>
              </a:rPr>
              <a:t>•  The graph decides; the AI only explains</a:t>
            </a:r>
          </a:p>
          <a:p>
            <a:pPr algn="l">
              <a:spcAft>
                <a:spcPts val="900"/>
              </a:spcAft>
            </a:pPr>
            <a:r>
              <a:rPr sz="1150" b="0">
                <a:solidFill>
                  <a:srgbClr val="182B40"/>
                </a:solidFill>
                <a:latin typeface="Aptos"/>
              </a:rPr>
              <a:t>•  Approve and run as a BPA workflow</a:t>
            </a:r>
          </a:p>
          <a:p>
            <a:pPr algn="l">
              <a:spcAft>
                <a:spcPts val="900"/>
              </a:spcAft>
            </a:pPr>
            <a:r>
              <a:rPr sz="1150" b="0">
                <a:solidFill>
                  <a:srgbClr val="182B40"/>
                </a:solidFill>
                <a:latin typeface="Aptos"/>
              </a:rPr>
              <a:t>•  Measure the result against the baseline</a:t>
            </a:r>
          </a:p>
        </p:txBody>
      </p:sp>
      <p:sp>
        <p:nvSpPr>
          <p:cNvPr id="16" name="Rounded Rectangle 15"/>
          <p:cNvSpPr/>
          <p:nvPr/>
        </p:nvSpPr>
        <p:spPr>
          <a:xfrm>
            <a:off x="5513832" y="4617720"/>
            <a:ext cx="2066543" cy="548640"/>
          </a:xfrm>
          <a:prstGeom prst="roundRect">
            <a:avLst>
              <a:gd name="adj" fmla="val 6000"/>
            </a:avLst>
          </a:prstGeom>
          <a:solidFill>
            <a:srgbClr val="FFFFFF"/>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sz="1000" b="1">
                <a:solidFill>
                  <a:srgbClr val="0F9B92"/>
                </a:solidFill>
                <a:latin typeface="Aptos"/>
              </a:rPr>
              <a:t>Predicted, approved, verified</a:t>
            </a:r>
          </a:p>
        </p:txBody>
      </p:sp>
      <p:sp>
        <p:nvSpPr>
          <p:cNvPr id="17" name="Rounded Rectangle 16"/>
          <p:cNvSpPr/>
          <p:nvPr/>
        </p:nvSpPr>
        <p:spPr>
          <a:xfrm>
            <a:off x="7818120" y="1481328"/>
            <a:ext cx="3794760" cy="3794760"/>
          </a:xfrm>
          <a:prstGeom prst="roundRect">
            <a:avLst>
              <a:gd name="adj" fmla="val 6000"/>
            </a:avLst>
          </a:prstGeom>
          <a:solidFill>
            <a:srgbClr val="FFFFFF"/>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7891272" y="1554480"/>
            <a:ext cx="3648456" cy="566928"/>
          </a:xfrm>
          <a:prstGeom prst="roundRect">
            <a:avLst>
              <a:gd name="adj" fmla="val 6000"/>
            </a:avLst>
          </a:prstGeom>
          <a:solidFill>
            <a:srgbClr val="142B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0"/>
              </a:spcAft>
            </a:pPr>
            <a:r>
              <a:rPr sz="1050" b="1">
                <a:solidFill>
                  <a:srgbClr val="FFFFFF"/>
                </a:solidFill>
                <a:latin typeface="Aptos"/>
              </a:rPr>
              <a:t>WHY DMI'S TWIN IS DIFFERENT</a:t>
            </a:r>
          </a:p>
        </p:txBody>
      </p:sp>
      <p:sp>
        <p:nvSpPr>
          <p:cNvPr id="19" name="TextBox 18"/>
          <p:cNvSpPr txBox="1"/>
          <p:nvPr/>
        </p:nvSpPr>
        <p:spPr>
          <a:xfrm>
            <a:off x="8001000" y="2249424"/>
            <a:ext cx="3429000" cy="457200"/>
          </a:xfrm>
          <a:prstGeom prst="rect">
            <a:avLst/>
          </a:prstGeom>
          <a:noFill/>
        </p:spPr>
        <p:txBody>
          <a:bodyPr wrap="square" lIns="0" tIns="0" rIns="0" bIns="0" anchor="t">
            <a:spAutoFit/>
          </a:bodyPr>
          <a:lstStyle/>
          <a:p>
            <a:pPr algn="l">
              <a:spcAft>
                <a:spcPts val="0"/>
              </a:spcAft>
            </a:pPr>
            <a:r>
              <a:rPr sz="1050" b="1" dirty="0">
                <a:solidFill>
                  <a:srgbClr val="5B6C7C"/>
                </a:solidFill>
                <a:latin typeface="Aptos"/>
              </a:rPr>
              <a:t>Typical twins:  </a:t>
            </a:r>
            <a:r>
              <a:rPr sz="1050" b="0" dirty="0">
                <a:solidFill>
                  <a:srgbClr val="5B6C7C"/>
                </a:solidFill>
                <a:latin typeface="Aptos"/>
              </a:rPr>
              <a:t>3D or physics models of one machine, built over months, often in the cloud.</a:t>
            </a:r>
          </a:p>
        </p:txBody>
      </p:sp>
      <p:sp>
        <p:nvSpPr>
          <p:cNvPr id="20" name="TextBox 19"/>
          <p:cNvSpPr txBox="1"/>
          <p:nvPr/>
        </p:nvSpPr>
        <p:spPr>
          <a:xfrm>
            <a:off x="8001000" y="2670048"/>
            <a:ext cx="3429000" cy="228600"/>
          </a:xfrm>
          <a:prstGeom prst="rect">
            <a:avLst/>
          </a:prstGeom>
          <a:noFill/>
        </p:spPr>
        <p:txBody>
          <a:bodyPr wrap="square" lIns="0" tIns="0" rIns="0" bIns="0" anchor="t">
            <a:spAutoFit/>
          </a:bodyPr>
          <a:lstStyle/>
          <a:p>
            <a:pPr algn="l">
              <a:spcAft>
                <a:spcPts val="0"/>
              </a:spcAft>
            </a:pPr>
            <a:r>
              <a:rPr sz="1000" b="1">
                <a:solidFill>
                  <a:srgbClr val="0F9B92"/>
                </a:solidFill>
                <a:latin typeface="Aptos"/>
              </a:rPr>
              <a:t>DMI's process twin</a:t>
            </a:r>
          </a:p>
        </p:txBody>
      </p:sp>
      <p:sp>
        <p:nvSpPr>
          <p:cNvPr id="21" name="TextBox 20"/>
          <p:cNvSpPr txBox="1"/>
          <p:nvPr/>
        </p:nvSpPr>
        <p:spPr>
          <a:xfrm>
            <a:off x="8001000" y="2926080"/>
            <a:ext cx="3429000" cy="2286000"/>
          </a:xfrm>
          <a:prstGeom prst="rect">
            <a:avLst/>
          </a:prstGeom>
          <a:noFill/>
        </p:spPr>
        <p:txBody>
          <a:bodyPr wrap="square" lIns="0" tIns="0" rIns="0" bIns="0" anchor="t">
            <a:spAutoFit/>
          </a:bodyPr>
          <a:lstStyle/>
          <a:p>
            <a:pPr algn="l">
              <a:spcAft>
                <a:spcPts val="250"/>
              </a:spcAft>
            </a:pPr>
            <a:r>
              <a:rPr sz="1050" b="1">
                <a:solidFill>
                  <a:srgbClr val="0F9B92"/>
                </a:solidFill>
                <a:latin typeface="Aptos"/>
              </a:rPr>
              <a:t>1  </a:t>
            </a:r>
            <a:r>
              <a:rPr sz="1050" b="0">
                <a:solidFill>
                  <a:srgbClr val="182B40"/>
                </a:solidFill>
                <a:latin typeface="Aptos"/>
              </a:rPr>
              <a:t>Models the process, not just the equipment</a:t>
            </a:r>
          </a:p>
          <a:p>
            <a:pPr algn="l">
              <a:spcAft>
                <a:spcPts val="250"/>
              </a:spcAft>
            </a:pPr>
            <a:r>
              <a:rPr sz="1050" b="1">
                <a:solidFill>
                  <a:srgbClr val="0F9B92"/>
                </a:solidFill>
                <a:latin typeface="Aptos"/>
              </a:rPr>
              <a:t>2  </a:t>
            </a:r>
            <a:r>
              <a:rPr sz="1050" b="0">
                <a:solidFill>
                  <a:srgbClr val="182B40"/>
                </a:solidFill>
                <a:latin typeface="Aptos"/>
              </a:rPr>
              <a:t>Same graph answers root cause and what-if</a:t>
            </a:r>
          </a:p>
          <a:p>
            <a:pPr algn="l">
              <a:spcAft>
                <a:spcPts val="250"/>
              </a:spcAft>
            </a:pPr>
            <a:r>
              <a:rPr sz="1050" b="1">
                <a:solidFill>
                  <a:srgbClr val="0F9B92"/>
                </a:solidFill>
                <a:latin typeface="Aptos"/>
              </a:rPr>
              <a:t>3  </a:t>
            </a:r>
            <a:r>
              <a:rPr sz="1050" b="0">
                <a:solidFill>
                  <a:srgbClr val="182B40"/>
                </a:solidFill>
                <a:latin typeface="Aptos"/>
              </a:rPr>
              <a:t>Stays inside the site; no sister-line noise</a:t>
            </a:r>
          </a:p>
          <a:p>
            <a:pPr algn="l">
              <a:spcAft>
                <a:spcPts val="250"/>
              </a:spcAft>
            </a:pPr>
            <a:r>
              <a:rPr sz="1050" b="1">
                <a:solidFill>
                  <a:srgbClr val="0F9B92"/>
                </a:solidFill>
                <a:latin typeface="Aptos"/>
              </a:rPr>
              <a:t>4  </a:t>
            </a:r>
            <a:r>
              <a:rPr sz="1050" b="0">
                <a:solidFill>
                  <a:srgbClr val="182B40"/>
                </a:solidFill>
                <a:latin typeface="Aptos"/>
              </a:rPr>
              <a:t>Predicts only on a stable process (Deming)</a:t>
            </a:r>
          </a:p>
          <a:p>
            <a:pPr algn="l">
              <a:spcAft>
                <a:spcPts val="250"/>
              </a:spcAft>
            </a:pPr>
            <a:r>
              <a:rPr sz="1050" b="1">
                <a:solidFill>
                  <a:srgbClr val="0F9B92"/>
                </a:solidFill>
                <a:latin typeface="Aptos"/>
              </a:rPr>
              <a:t>5  </a:t>
            </a:r>
            <a:r>
              <a:rPr sz="1050" b="0">
                <a:solidFill>
                  <a:srgbClr val="182B40"/>
                </a:solidFill>
                <a:latin typeface="Aptos"/>
              </a:rPr>
              <a:t>Runs in the plant; no per-query cloud cost</a:t>
            </a:r>
          </a:p>
          <a:p>
            <a:pPr algn="l">
              <a:spcAft>
                <a:spcPts val="250"/>
              </a:spcAft>
            </a:pPr>
            <a:r>
              <a:rPr sz="1050" b="1">
                <a:solidFill>
                  <a:srgbClr val="0F9B92"/>
                </a:solidFill>
                <a:latin typeface="Aptos"/>
              </a:rPr>
              <a:t>6  </a:t>
            </a:r>
            <a:r>
              <a:rPr sz="1050" b="0">
                <a:solidFill>
                  <a:srgbClr val="182B40"/>
                </a:solidFill>
                <a:latin typeface="Aptos"/>
              </a:rPr>
              <a:t>Built from data the plant already has</a:t>
            </a:r>
          </a:p>
        </p:txBody>
      </p:sp>
      <p:sp>
        <p:nvSpPr>
          <p:cNvPr id="22" name="Rounded Rectangle 21"/>
          <p:cNvSpPr/>
          <p:nvPr/>
        </p:nvSpPr>
        <p:spPr>
          <a:xfrm>
            <a:off x="7927848" y="4617720"/>
            <a:ext cx="3575304" cy="548640"/>
          </a:xfrm>
          <a:prstGeom prst="roundRect">
            <a:avLst>
              <a:gd name="adj" fmla="val 6000"/>
            </a:avLst>
          </a:prstGeom>
          <a:solidFill>
            <a:srgbClr val="FFFFFF"/>
          </a:solidFill>
          <a:ln w="9525">
            <a:solidFill>
              <a:srgbClr val="DBE2EA"/>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0"/>
              </a:spcAft>
            </a:pPr>
            <a:r>
              <a:rPr sz="950" b="1">
                <a:solidFill>
                  <a:srgbClr val="142B46"/>
                </a:solidFill>
                <a:latin typeface="Aptos"/>
              </a:rPr>
              <a:t>Cause → change → effect, one model</a:t>
            </a:r>
          </a:p>
        </p:txBody>
      </p:sp>
      <p:sp>
        <p:nvSpPr>
          <p:cNvPr id="23" name="Rounded Rectangle 22"/>
          <p:cNvSpPr/>
          <p:nvPr/>
        </p:nvSpPr>
        <p:spPr>
          <a:xfrm>
            <a:off x="502920" y="5458968"/>
            <a:ext cx="11109960" cy="475488"/>
          </a:xfrm>
          <a:prstGeom prst="roundRect">
            <a:avLst>
              <a:gd name="adj" fmla="val 6000"/>
            </a:avLst>
          </a:prstGeom>
          <a:solidFill>
            <a:srgbClr val="142B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54864" rIns="54864" bIns="54864" rtlCol="0" anchor="ctr"/>
          <a:lstStyle/>
          <a:p>
            <a:pPr algn="ctr">
              <a:spcAft>
                <a:spcPts val="0"/>
              </a:spcAft>
            </a:pPr>
            <a:r>
              <a:rPr sz="1100" b="1">
                <a:solidFill>
                  <a:srgbClr val="FFFFFF"/>
                </a:solidFill>
                <a:latin typeface="Aptos"/>
              </a:rPr>
              <a:t>Live baseline</a:t>
            </a:r>
            <a:r>
              <a:rPr sz="1100" b="0">
                <a:solidFill>
                  <a:srgbClr val="8FA2B3"/>
                </a:solidFill>
                <a:latin typeface="Aptos"/>
              </a:rPr>
              <a:t>   →   </a:t>
            </a:r>
            <a:r>
              <a:rPr sz="1100" b="1">
                <a:solidFill>
                  <a:srgbClr val="FFFFFF"/>
                </a:solidFill>
                <a:latin typeface="Aptos"/>
              </a:rPr>
              <a:t>What-if</a:t>
            </a:r>
            <a:r>
              <a:rPr sz="1100" b="0">
                <a:solidFill>
                  <a:srgbClr val="8FA2B3"/>
                </a:solidFill>
                <a:latin typeface="Aptos"/>
              </a:rPr>
              <a:t>   →   </a:t>
            </a:r>
            <a:r>
              <a:rPr sz="1100" b="1">
                <a:solidFill>
                  <a:srgbClr val="FFFFFF"/>
                </a:solidFill>
                <a:latin typeface="Aptos"/>
              </a:rPr>
              <a:t>Graph verdict</a:t>
            </a:r>
            <a:r>
              <a:rPr sz="1100" b="0">
                <a:solidFill>
                  <a:srgbClr val="8FA2B3"/>
                </a:solidFill>
                <a:latin typeface="Aptos"/>
              </a:rPr>
              <a:t>   →   </a:t>
            </a:r>
            <a:r>
              <a:rPr sz="1100" b="1">
                <a:solidFill>
                  <a:srgbClr val="FFFFFF"/>
                </a:solidFill>
                <a:latin typeface="Aptos"/>
              </a:rPr>
              <a:t>Human approval</a:t>
            </a:r>
            <a:r>
              <a:rPr sz="1100" b="0">
                <a:solidFill>
                  <a:srgbClr val="8FA2B3"/>
                </a:solidFill>
                <a:latin typeface="Aptos"/>
              </a:rPr>
              <a:t>   →   </a:t>
            </a:r>
            <a:r>
              <a:rPr sz="1100" b="1">
                <a:solidFill>
                  <a:srgbClr val="FFFFFF"/>
                </a:solidFill>
                <a:latin typeface="Aptos"/>
              </a:rPr>
              <a:t>BPA workflow</a:t>
            </a:r>
            <a:r>
              <a:rPr sz="1100" b="0">
                <a:solidFill>
                  <a:srgbClr val="8FA2B3"/>
                </a:solidFill>
                <a:latin typeface="Aptos"/>
              </a:rPr>
              <a:t>   →   </a:t>
            </a:r>
            <a:r>
              <a:rPr sz="1100" b="1">
                <a:solidFill>
                  <a:srgbClr val="C9B8F7"/>
                </a:solidFill>
                <a:latin typeface="Aptos"/>
              </a:rPr>
              <a:t>Measured result</a:t>
            </a:r>
          </a:p>
        </p:txBody>
      </p:sp>
      <p:sp>
        <p:nvSpPr>
          <p:cNvPr id="24" name="TextBox 23"/>
          <p:cNvSpPr txBox="1"/>
          <p:nvPr/>
        </p:nvSpPr>
        <p:spPr>
          <a:xfrm>
            <a:off x="530352" y="6035040"/>
            <a:ext cx="11064240" cy="457200"/>
          </a:xfrm>
          <a:prstGeom prst="rect">
            <a:avLst/>
          </a:prstGeom>
          <a:noFill/>
        </p:spPr>
        <p:txBody>
          <a:bodyPr wrap="square" lIns="0" tIns="0" rIns="0" bIns="0" anchor="t">
            <a:spAutoFit/>
          </a:bodyPr>
          <a:lstStyle/>
          <a:p>
            <a:pPr algn="l">
              <a:spcAft>
                <a:spcPts val="0"/>
              </a:spcAft>
            </a:pPr>
            <a:r>
              <a:rPr sz="1050" b="1">
                <a:solidFill>
                  <a:srgbClr val="142B46"/>
                </a:solidFill>
                <a:latin typeface="Aptos"/>
              </a:rPr>
              <a:t>Status: </a:t>
            </a:r>
            <a:r>
              <a:rPr sz="1050" b="0">
                <a:solidFill>
                  <a:srgbClr val="5B6C7C"/>
                </a:solidFill>
                <a:latin typeface="Aptos"/>
              </a:rPr>
              <a:t>the process-graph twin and what-if simulation ship now. It is a process-level decision-support model, not a first-principles physics simulator, and complements CFD and asset models.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064240" cy="502920"/>
          </a:xfrm>
          <a:prstGeom prst="rect">
            <a:avLst/>
          </a:prstGeom>
          <a:noFill/>
        </p:spPr>
        <p:txBody>
          <a:bodyPr wrap="none">
            <a:spAutoFit/>
          </a:bodyPr>
          <a:lstStyle/>
          <a:p>
            <a:pPr>
              <a:defRPr sz="2400" b="1">
                <a:solidFill>
                  <a:srgbClr val="142B46"/>
                </a:solidFill>
                <a:latin typeface="Aptos Display"/>
              </a:defRPr>
            </a:pPr>
            <a:r>
              <a:t>Roadmap expansion: Edge Vision Intelligence for OEE and Quality</a:t>
            </a:r>
          </a:p>
        </p:txBody>
      </p:sp>
      <p:sp>
        <p:nvSpPr>
          <p:cNvPr id="3" name="TextBox 2"/>
          <p:cNvSpPr txBox="1"/>
          <p:nvPr/>
        </p:nvSpPr>
        <p:spPr>
          <a:xfrm>
            <a:off x="530352" y="850392"/>
            <a:ext cx="10789920" cy="365760"/>
          </a:xfrm>
          <a:prstGeom prst="rect">
            <a:avLst/>
          </a:prstGeom>
          <a:noFill/>
        </p:spPr>
        <p:txBody>
          <a:bodyPr wrap="none">
            <a:spAutoFit/>
          </a:bodyPr>
          <a:lstStyle/>
          <a:p>
            <a:pPr>
              <a:defRPr sz="1050">
                <a:solidFill>
                  <a:srgbClr val="5B6C7C"/>
                </a:solidFill>
                <a:latin typeface="Aptos"/>
              </a:defRPr>
            </a:pPr>
            <a:r>
              <a:t>Add camera-based vision processing to DMI edge nodes so visual production evidence can be analyzed locally and correlated with operational data.</a:t>
            </a:r>
          </a:p>
        </p:txBody>
      </p:sp>
      <p:sp>
        <p:nvSpPr>
          <p:cNvPr id="4" name="Rectangle 3"/>
          <p:cNvSpPr/>
          <p:nvPr/>
        </p:nvSpPr>
        <p:spPr>
          <a:xfrm>
            <a:off x="502920" y="1207008"/>
            <a:ext cx="11109960" cy="22860"/>
          </a:xfrm>
          <a:prstGeom prst="rect">
            <a:avLst/>
          </a:prstGeom>
          <a:solidFill>
            <a:srgbClr val="C757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572768"/>
            <a:ext cx="3474720" cy="4315968"/>
          </a:xfrm>
          <a:prstGeom prst="roundRect">
            <a:avLst/>
          </a:prstGeom>
          <a:solidFill>
            <a:srgbClr val="F5F8FB"/>
          </a:solidFill>
          <a:ln w="19050">
            <a:solidFill>
              <a:srgbClr val="C757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39" y="1746504"/>
            <a:ext cx="3108961" cy="557784"/>
          </a:xfrm>
          <a:prstGeom prst="roundRect">
            <a:avLst/>
          </a:prstGeom>
          <a:solidFill>
            <a:srgbClr val="C757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VISION AT THE EDGE</a:t>
            </a:r>
          </a:p>
        </p:txBody>
      </p:sp>
      <p:sp>
        <p:nvSpPr>
          <p:cNvPr id="7" name="TextBox 6"/>
          <p:cNvSpPr txBox="1"/>
          <p:nvPr/>
        </p:nvSpPr>
        <p:spPr>
          <a:xfrm>
            <a:off x="777240" y="2468880"/>
            <a:ext cx="3108960" cy="3291839"/>
          </a:xfrm>
          <a:prstGeom prst="rect">
            <a:avLst/>
          </a:prstGeom>
          <a:noFill/>
        </p:spPr>
        <p:txBody>
          <a:bodyPr wrap="none">
            <a:spAutoFit/>
          </a:bodyPr>
          <a:lstStyle/>
          <a:p>
            <a:pPr>
              <a:spcAft>
                <a:spcPts val="500"/>
              </a:spcAft>
              <a:defRPr sz="919">
                <a:solidFill>
                  <a:srgbClr val="182B40"/>
                </a:solidFill>
                <a:latin typeface="Aptos"/>
              </a:defRPr>
            </a:pPr>
            <a:r>
              <a:t>• Connect industrial / IP cameras to DMI edge nodes</a:t>
            </a:r>
          </a:p>
          <a:p>
            <a:pPr>
              <a:spcAft>
                <a:spcPts val="500"/>
              </a:spcAft>
              <a:defRPr sz="919">
                <a:solidFill>
                  <a:srgbClr val="182B40"/>
                </a:solidFill>
                <a:latin typeface="Aptos"/>
              </a:defRPr>
            </a:pPr>
            <a:r>
              <a:t>• Run vision models locally using edge AI accelerators</a:t>
            </a:r>
          </a:p>
          <a:p>
            <a:pPr>
              <a:spcAft>
                <a:spcPts val="500"/>
              </a:spcAft>
              <a:defRPr sz="919">
                <a:solidFill>
                  <a:srgbClr val="182B40"/>
                </a:solidFill>
                <a:latin typeface="Aptos"/>
              </a:defRPr>
            </a:pPr>
            <a:r>
              <a:t>• Process images / video near the production process</a:t>
            </a:r>
          </a:p>
          <a:p>
            <a:pPr>
              <a:spcAft>
                <a:spcPts val="500"/>
              </a:spcAft>
              <a:defRPr sz="919">
                <a:solidFill>
                  <a:srgbClr val="182B40"/>
                </a:solidFill>
                <a:latin typeface="Aptos"/>
              </a:defRPr>
            </a:pPr>
            <a:r>
              <a:t>• Generate events, counts, classifications and quality evidence</a:t>
            </a:r>
          </a:p>
          <a:p>
            <a:pPr>
              <a:spcAft>
                <a:spcPts val="500"/>
              </a:spcAft>
              <a:defRPr sz="919">
                <a:solidFill>
                  <a:srgbClr val="182B40"/>
                </a:solidFill>
                <a:latin typeface="Aptos"/>
              </a:defRPr>
            </a:pPr>
            <a:r>
              <a:t>• Keep high-volume visual data local where appropriate</a:t>
            </a:r>
          </a:p>
        </p:txBody>
      </p:sp>
      <p:sp>
        <p:nvSpPr>
          <p:cNvPr id="8" name="Rounded Rectangle 7"/>
          <p:cNvSpPr/>
          <p:nvPr/>
        </p:nvSpPr>
        <p:spPr>
          <a:xfrm>
            <a:off x="4361688" y="1572768"/>
            <a:ext cx="3474720" cy="4315968"/>
          </a:xfrm>
          <a:prstGeom prst="roundRect">
            <a:avLst/>
          </a:prstGeom>
          <a:solidFill>
            <a:srgbClr val="F5F8FB"/>
          </a:solidFill>
          <a:ln w="19050">
            <a:solidFill>
              <a:srgbClr val="296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44567" y="1719072"/>
            <a:ext cx="3108961" cy="585216"/>
          </a:xfrm>
          <a:prstGeom prst="roundRect">
            <a:avLst>
              <a:gd name="adj" fmla="val 34028"/>
            </a:avLst>
          </a:prstGeom>
          <a:solidFill>
            <a:srgbClr val="2964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OEE INTELLIGENCE</a:t>
            </a:r>
          </a:p>
        </p:txBody>
      </p:sp>
      <p:sp>
        <p:nvSpPr>
          <p:cNvPr id="10" name="TextBox 9"/>
          <p:cNvSpPr txBox="1"/>
          <p:nvPr/>
        </p:nvSpPr>
        <p:spPr>
          <a:xfrm>
            <a:off x="4544568" y="2468880"/>
            <a:ext cx="3264897" cy="1197507"/>
          </a:xfrm>
          <a:prstGeom prst="rect">
            <a:avLst/>
          </a:prstGeom>
          <a:noFill/>
        </p:spPr>
        <p:txBody>
          <a:bodyPr wrap="square">
            <a:spAutoFit/>
          </a:bodyPr>
          <a:lstStyle/>
          <a:p>
            <a:pPr>
              <a:spcAft>
                <a:spcPts val="500"/>
              </a:spcAft>
              <a:defRPr sz="919">
                <a:solidFill>
                  <a:srgbClr val="182B40"/>
                </a:solidFill>
                <a:latin typeface="Aptos"/>
              </a:defRPr>
            </a:pPr>
            <a:r>
              <a:rPr dirty="0"/>
              <a:t>• Vision-assisted part and cycle counting</a:t>
            </a:r>
          </a:p>
          <a:p>
            <a:pPr>
              <a:spcAft>
                <a:spcPts val="500"/>
              </a:spcAft>
              <a:defRPr sz="919">
                <a:solidFill>
                  <a:srgbClr val="182B40"/>
                </a:solidFill>
                <a:latin typeface="Aptos"/>
              </a:defRPr>
            </a:pPr>
            <a:r>
              <a:rPr dirty="0"/>
              <a:t>• Detect machine running / idle / blocked / starved states</a:t>
            </a:r>
          </a:p>
          <a:p>
            <a:pPr>
              <a:spcAft>
                <a:spcPts val="500"/>
              </a:spcAft>
              <a:defRPr sz="919">
                <a:solidFill>
                  <a:srgbClr val="182B40"/>
                </a:solidFill>
                <a:latin typeface="Aptos"/>
              </a:defRPr>
            </a:pPr>
            <a:r>
              <a:rPr dirty="0"/>
              <a:t>• Validate production counts when PLC/MES signals are </a:t>
            </a:r>
            <a:r>
              <a:rPr lang="en-US" dirty="0"/>
              <a:t>I</a:t>
            </a:r>
            <a:r>
              <a:rPr dirty="0"/>
              <a:t>ncomplete</a:t>
            </a:r>
          </a:p>
          <a:p>
            <a:pPr>
              <a:spcAft>
                <a:spcPts val="500"/>
              </a:spcAft>
              <a:defRPr sz="919">
                <a:solidFill>
                  <a:srgbClr val="182B40"/>
                </a:solidFill>
                <a:latin typeface="Aptos"/>
              </a:defRPr>
            </a:pPr>
            <a:r>
              <a:rPr dirty="0"/>
              <a:t>• Identify micro-stops and changeover activity</a:t>
            </a:r>
          </a:p>
          <a:p>
            <a:pPr>
              <a:spcAft>
                <a:spcPts val="500"/>
              </a:spcAft>
              <a:defRPr sz="919">
                <a:solidFill>
                  <a:srgbClr val="182B40"/>
                </a:solidFill>
                <a:latin typeface="Aptos"/>
              </a:defRPr>
            </a:pPr>
            <a:r>
              <a:rPr dirty="0"/>
              <a:t>• Correlate visual events with Availability and Performance</a:t>
            </a:r>
          </a:p>
        </p:txBody>
      </p:sp>
      <p:sp>
        <p:nvSpPr>
          <p:cNvPr id="11" name="Rounded Rectangle 10"/>
          <p:cNvSpPr/>
          <p:nvPr/>
        </p:nvSpPr>
        <p:spPr>
          <a:xfrm>
            <a:off x="8129016" y="1572768"/>
            <a:ext cx="3474720" cy="4315968"/>
          </a:xfrm>
          <a:prstGeom prst="roundRect">
            <a:avLst/>
          </a:prstGeom>
          <a:solidFill>
            <a:srgbClr val="F5F8FB"/>
          </a:solidFill>
          <a:ln w="19050">
            <a:solidFill>
              <a:srgbClr val="0F9B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305801" y="1719072"/>
            <a:ext cx="3108960" cy="585216"/>
          </a:xfrm>
          <a:prstGeom prst="roundRect">
            <a:avLst/>
          </a:prstGeom>
          <a:solidFill>
            <a:srgbClr val="0F9B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QUALITY INTELLIGENCE</a:t>
            </a:r>
          </a:p>
        </p:txBody>
      </p:sp>
      <p:sp>
        <p:nvSpPr>
          <p:cNvPr id="13" name="TextBox 12"/>
          <p:cNvSpPr txBox="1"/>
          <p:nvPr/>
        </p:nvSpPr>
        <p:spPr>
          <a:xfrm>
            <a:off x="8311896" y="2468880"/>
            <a:ext cx="2972289" cy="1467197"/>
          </a:xfrm>
          <a:prstGeom prst="rect">
            <a:avLst/>
          </a:prstGeom>
          <a:noFill/>
        </p:spPr>
        <p:txBody>
          <a:bodyPr wrap="none">
            <a:spAutoFit/>
          </a:bodyPr>
          <a:lstStyle/>
          <a:p>
            <a:pPr>
              <a:spcAft>
                <a:spcPts val="500"/>
              </a:spcAft>
              <a:defRPr sz="919">
                <a:solidFill>
                  <a:srgbClr val="182B40"/>
                </a:solidFill>
                <a:latin typeface="Aptos"/>
              </a:defRPr>
            </a:pPr>
            <a:r>
              <a:rPr dirty="0"/>
              <a:t>• Detect visible defects and process abnormalities</a:t>
            </a:r>
          </a:p>
          <a:p>
            <a:pPr>
              <a:spcAft>
                <a:spcPts val="500"/>
              </a:spcAft>
              <a:defRPr sz="919">
                <a:solidFill>
                  <a:srgbClr val="182B40"/>
                </a:solidFill>
                <a:latin typeface="Aptos"/>
              </a:defRPr>
            </a:pPr>
            <a:r>
              <a:rPr dirty="0"/>
              <a:t>• Classify pass / fail and defect type</a:t>
            </a:r>
          </a:p>
          <a:p>
            <a:pPr>
              <a:spcAft>
                <a:spcPts val="500"/>
              </a:spcAft>
              <a:defRPr sz="919">
                <a:solidFill>
                  <a:srgbClr val="182B40"/>
                </a:solidFill>
                <a:latin typeface="Aptos"/>
              </a:defRPr>
            </a:pPr>
            <a:r>
              <a:rPr dirty="0"/>
              <a:t>• Associate defects with batch, machine, material and </a:t>
            </a:r>
            <a:endParaRPr lang="en-US" dirty="0"/>
          </a:p>
          <a:p>
            <a:pPr>
              <a:spcAft>
                <a:spcPts val="500"/>
              </a:spcAft>
              <a:defRPr sz="919">
                <a:solidFill>
                  <a:srgbClr val="182B40"/>
                </a:solidFill>
                <a:latin typeface="Aptos"/>
              </a:defRPr>
            </a:pPr>
            <a:r>
              <a:rPr dirty="0"/>
              <a:t>process conditions</a:t>
            </a:r>
          </a:p>
          <a:p>
            <a:pPr>
              <a:spcAft>
                <a:spcPts val="500"/>
              </a:spcAft>
              <a:defRPr sz="919">
                <a:solidFill>
                  <a:srgbClr val="182B40"/>
                </a:solidFill>
                <a:latin typeface="Aptos"/>
              </a:defRPr>
            </a:pPr>
            <a:r>
              <a:rPr dirty="0"/>
              <a:t>• Support Quality inputs and first-pass-yield analysis</a:t>
            </a:r>
          </a:p>
          <a:p>
            <a:pPr>
              <a:spcAft>
                <a:spcPts val="500"/>
              </a:spcAft>
              <a:defRPr sz="919">
                <a:solidFill>
                  <a:srgbClr val="182B40"/>
                </a:solidFill>
                <a:latin typeface="Aptos"/>
              </a:defRPr>
            </a:pPr>
            <a:r>
              <a:rPr dirty="0"/>
              <a:t>• Preserve evidence references for investigation and </a:t>
            </a:r>
            <a:endParaRPr lang="en-US" dirty="0"/>
          </a:p>
          <a:p>
            <a:pPr>
              <a:spcAft>
                <a:spcPts val="500"/>
              </a:spcAft>
              <a:defRPr sz="919">
                <a:solidFill>
                  <a:srgbClr val="182B40"/>
                </a:solidFill>
                <a:latin typeface="Aptos"/>
              </a:defRPr>
            </a:pPr>
            <a:r>
              <a:rPr dirty="0"/>
              <a:t>traceability</a:t>
            </a:r>
          </a:p>
        </p:txBody>
      </p:sp>
      <p:sp>
        <p:nvSpPr>
          <p:cNvPr id="14" name="Rounded Rectangle 13"/>
          <p:cNvSpPr/>
          <p:nvPr/>
        </p:nvSpPr>
        <p:spPr>
          <a:xfrm>
            <a:off x="822960" y="6053328"/>
            <a:ext cx="10561320" cy="438912"/>
          </a:xfrm>
          <a:prstGeom prst="roundRect">
            <a:avLst/>
          </a:prstGeom>
          <a:solidFill>
            <a:srgbClr val="14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80" b="1">
                <a:solidFill>
                  <a:srgbClr val="FFFFFF"/>
                </a:solidFill>
                <a:latin typeface="Aptos"/>
              </a:defRPr>
            </a:pPr>
            <a:r>
              <a:t>Vision becomes another edge evidence source: Camera + process data + production context -&gt; DMI OEE / Quality intelligence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Business model: price manufacturing value, not tokens</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Recurring plant software is the core; services enable early deployment but should not dominate.</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594360" y="1325880"/>
            <a:ext cx="3456432" cy="1691640"/>
          </a:xfrm>
          <a:prstGeom prst="roundRect">
            <a:avLst>
              <a:gd name="adj" fmla="val 2703"/>
            </a:avLst>
          </a:prstGeom>
          <a:solidFill>
            <a:srgbClr val="0E1D2C"/>
          </a:solidFill>
          <a:ln w="12700">
            <a:solidFill>
              <a:srgbClr val="274052"/>
            </a:solidFill>
            <a:prstDash val="solid"/>
          </a:ln>
        </p:spPr>
        <p:txBody>
          <a:bodyPr/>
          <a:lstStyle/>
          <a:p>
            <a:endParaRPr/>
          </a:p>
        </p:txBody>
      </p:sp>
      <p:sp>
        <p:nvSpPr>
          <p:cNvPr id="6" name="Shape 3"/>
          <p:cNvSpPr/>
          <p:nvPr/>
        </p:nvSpPr>
        <p:spPr>
          <a:xfrm>
            <a:off x="594360" y="1325880"/>
            <a:ext cx="45720" cy="1691640"/>
          </a:xfrm>
          <a:prstGeom prst="rect">
            <a:avLst/>
          </a:prstGeom>
          <a:solidFill>
            <a:srgbClr val="C85D37"/>
          </a:solidFill>
          <a:ln w="12700">
            <a:solidFill>
              <a:srgbClr val="C85D37"/>
            </a:solidFill>
            <a:prstDash val="solid"/>
          </a:ln>
        </p:spPr>
        <p:txBody>
          <a:bodyPr/>
          <a:lstStyle/>
          <a:p>
            <a:endParaRPr/>
          </a:p>
        </p:txBody>
      </p:sp>
      <p:sp>
        <p:nvSpPr>
          <p:cNvPr id="7" name="Text 4"/>
          <p:cNvSpPr/>
          <p:nvPr/>
        </p:nvSpPr>
        <p:spPr>
          <a:xfrm>
            <a:off x="758952" y="144475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PAID PILOT</a:t>
            </a:r>
            <a:endParaRPr lang="en-US" sz="1100" dirty="0"/>
          </a:p>
        </p:txBody>
      </p:sp>
      <p:sp>
        <p:nvSpPr>
          <p:cNvPr id="8" name="Text 5"/>
          <p:cNvSpPr/>
          <p:nvPr/>
        </p:nvSpPr>
        <p:spPr>
          <a:xfrm>
            <a:off x="758952" y="1764792"/>
            <a:ext cx="3182112" cy="11612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$75K–$150K</a:t>
            </a: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Internal planning assumption</a:t>
            </a:r>
            <a:endParaRPr lang="en-US" sz="950" dirty="0"/>
          </a:p>
        </p:txBody>
      </p:sp>
      <p:sp>
        <p:nvSpPr>
          <p:cNvPr id="9" name="Shape 6"/>
          <p:cNvSpPr/>
          <p:nvPr/>
        </p:nvSpPr>
        <p:spPr>
          <a:xfrm>
            <a:off x="4361688" y="1325880"/>
            <a:ext cx="3456432" cy="1691640"/>
          </a:xfrm>
          <a:prstGeom prst="roundRect">
            <a:avLst>
              <a:gd name="adj" fmla="val 2703"/>
            </a:avLst>
          </a:prstGeom>
          <a:solidFill>
            <a:srgbClr val="0E1D2C"/>
          </a:solidFill>
          <a:ln w="12700">
            <a:solidFill>
              <a:srgbClr val="274052"/>
            </a:solidFill>
            <a:prstDash val="solid"/>
          </a:ln>
        </p:spPr>
        <p:txBody>
          <a:bodyPr/>
          <a:lstStyle/>
          <a:p>
            <a:endParaRPr/>
          </a:p>
        </p:txBody>
      </p:sp>
      <p:sp>
        <p:nvSpPr>
          <p:cNvPr id="10" name="Shape 7"/>
          <p:cNvSpPr/>
          <p:nvPr/>
        </p:nvSpPr>
        <p:spPr>
          <a:xfrm>
            <a:off x="4361688" y="1325880"/>
            <a:ext cx="45720" cy="1691640"/>
          </a:xfrm>
          <a:prstGeom prst="rect">
            <a:avLst/>
          </a:prstGeom>
          <a:solidFill>
            <a:srgbClr val="C85D37"/>
          </a:solidFill>
          <a:ln w="12700">
            <a:solidFill>
              <a:srgbClr val="C85D37"/>
            </a:solidFill>
            <a:prstDash val="solid"/>
          </a:ln>
        </p:spPr>
        <p:txBody>
          <a:bodyPr/>
          <a:lstStyle/>
          <a:p>
            <a:endParaRPr/>
          </a:p>
        </p:txBody>
      </p:sp>
      <p:sp>
        <p:nvSpPr>
          <p:cNvPr id="11" name="Text 8"/>
          <p:cNvSpPr/>
          <p:nvPr/>
        </p:nvSpPr>
        <p:spPr>
          <a:xfrm>
            <a:off x="4526280" y="144475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PLANT LICENSE</a:t>
            </a:r>
            <a:endParaRPr lang="en-US" sz="1100" dirty="0"/>
          </a:p>
        </p:txBody>
      </p:sp>
      <p:sp>
        <p:nvSpPr>
          <p:cNvPr id="12" name="Text 9"/>
          <p:cNvSpPr/>
          <p:nvPr/>
        </p:nvSpPr>
        <p:spPr>
          <a:xfrm>
            <a:off x="4526280" y="1764792"/>
            <a:ext cx="3182112" cy="11612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$150K–$250K / yr</a:t>
            </a: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Internal planning assumption</a:t>
            </a:r>
            <a:endParaRPr lang="en-US" sz="950" dirty="0"/>
          </a:p>
        </p:txBody>
      </p:sp>
      <p:sp>
        <p:nvSpPr>
          <p:cNvPr id="13" name="Shape 10"/>
          <p:cNvSpPr/>
          <p:nvPr/>
        </p:nvSpPr>
        <p:spPr>
          <a:xfrm>
            <a:off x="8129016" y="1325880"/>
            <a:ext cx="3456432" cy="1691640"/>
          </a:xfrm>
          <a:prstGeom prst="roundRect">
            <a:avLst>
              <a:gd name="adj" fmla="val 2703"/>
            </a:avLst>
          </a:prstGeom>
          <a:solidFill>
            <a:srgbClr val="0E1D2C"/>
          </a:solidFill>
          <a:ln w="12700">
            <a:solidFill>
              <a:srgbClr val="274052"/>
            </a:solidFill>
            <a:prstDash val="solid"/>
          </a:ln>
        </p:spPr>
        <p:txBody>
          <a:bodyPr/>
          <a:lstStyle/>
          <a:p>
            <a:endParaRPr/>
          </a:p>
        </p:txBody>
      </p:sp>
      <p:sp>
        <p:nvSpPr>
          <p:cNvPr id="14" name="Shape 11"/>
          <p:cNvSpPr/>
          <p:nvPr/>
        </p:nvSpPr>
        <p:spPr>
          <a:xfrm>
            <a:off x="8129016" y="1325880"/>
            <a:ext cx="45720" cy="1691640"/>
          </a:xfrm>
          <a:prstGeom prst="rect">
            <a:avLst/>
          </a:prstGeom>
          <a:solidFill>
            <a:srgbClr val="C85D37"/>
          </a:solidFill>
          <a:ln w="12700">
            <a:solidFill>
              <a:srgbClr val="C85D37"/>
            </a:solidFill>
            <a:prstDash val="solid"/>
          </a:ln>
        </p:spPr>
        <p:txBody>
          <a:bodyPr/>
          <a:lstStyle/>
          <a:p>
            <a:endParaRPr/>
          </a:p>
        </p:txBody>
      </p:sp>
      <p:sp>
        <p:nvSpPr>
          <p:cNvPr id="15" name="Text 12"/>
          <p:cNvSpPr/>
          <p:nvPr/>
        </p:nvSpPr>
        <p:spPr>
          <a:xfrm>
            <a:off x="8293608" y="144475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APPLIANCE</a:t>
            </a:r>
            <a:endParaRPr lang="en-US" sz="1100" dirty="0"/>
          </a:p>
        </p:txBody>
      </p:sp>
      <p:sp>
        <p:nvSpPr>
          <p:cNvPr id="16" name="Text 13"/>
          <p:cNvSpPr/>
          <p:nvPr/>
        </p:nvSpPr>
        <p:spPr>
          <a:xfrm>
            <a:off x="8293608" y="1764792"/>
            <a:ext cx="3182112" cy="11612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Hardware + subscription</a:t>
            </a: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Selected configurations may be &lt; $10K hardware</a:t>
            </a:r>
            <a:endParaRPr lang="en-US" sz="950" dirty="0"/>
          </a:p>
        </p:txBody>
      </p:sp>
      <p:sp>
        <p:nvSpPr>
          <p:cNvPr id="17" name="Shape 14"/>
          <p:cNvSpPr/>
          <p:nvPr/>
        </p:nvSpPr>
        <p:spPr>
          <a:xfrm>
            <a:off x="594360" y="3383280"/>
            <a:ext cx="3456432" cy="1691640"/>
          </a:xfrm>
          <a:prstGeom prst="roundRect">
            <a:avLst>
              <a:gd name="adj" fmla="val 2703"/>
            </a:avLst>
          </a:prstGeom>
          <a:solidFill>
            <a:srgbClr val="0E1D2C"/>
          </a:solidFill>
          <a:ln w="12700">
            <a:solidFill>
              <a:srgbClr val="274052"/>
            </a:solidFill>
            <a:prstDash val="solid"/>
          </a:ln>
        </p:spPr>
        <p:txBody>
          <a:bodyPr/>
          <a:lstStyle/>
          <a:p>
            <a:endParaRPr/>
          </a:p>
        </p:txBody>
      </p:sp>
      <p:sp>
        <p:nvSpPr>
          <p:cNvPr id="18" name="Shape 15"/>
          <p:cNvSpPr/>
          <p:nvPr/>
        </p:nvSpPr>
        <p:spPr>
          <a:xfrm>
            <a:off x="594360" y="3383280"/>
            <a:ext cx="45720" cy="1691640"/>
          </a:xfrm>
          <a:prstGeom prst="rect">
            <a:avLst/>
          </a:prstGeom>
          <a:solidFill>
            <a:srgbClr val="4EA3D8"/>
          </a:solidFill>
          <a:ln w="12700">
            <a:solidFill>
              <a:srgbClr val="4EA3D8"/>
            </a:solidFill>
            <a:prstDash val="solid"/>
          </a:ln>
        </p:spPr>
        <p:txBody>
          <a:bodyPr/>
          <a:lstStyle/>
          <a:p>
            <a:endParaRPr/>
          </a:p>
        </p:txBody>
      </p:sp>
      <p:sp>
        <p:nvSpPr>
          <p:cNvPr id="19" name="Text 16"/>
          <p:cNvSpPr/>
          <p:nvPr/>
        </p:nvSpPr>
        <p:spPr>
          <a:xfrm>
            <a:off x="758952" y="350215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VERTICAL SKILLS</a:t>
            </a:r>
            <a:endParaRPr lang="en-US" sz="1100" dirty="0"/>
          </a:p>
        </p:txBody>
      </p:sp>
      <p:sp>
        <p:nvSpPr>
          <p:cNvPr id="20" name="Text 17"/>
          <p:cNvSpPr/>
          <p:nvPr/>
        </p:nvSpPr>
        <p:spPr>
          <a:xfrm>
            <a:off x="758952" y="3822192"/>
            <a:ext cx="3182112" cy="11612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Add-on ARR</a:t>
            </a: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Pharma • semiconductor • defense • chemical</a:t>
            </a:r>
            <a:endParaRPr lang="en-US" sz="950" dirty="0"/>
          </a:p>
        </p:txBody>
      </p:sp>
      <p:sp>
        <p:nvSpPr>
          <p:cNvPr id="21" name="Shape 18"/>
          <p:cNvSpPr/>
          <p:nvPr/>
        </p:nvSpPr>
        <p:spPr>
          <a:xfrm>
            <a:off x="4361688" y="3383280"/>
            <a:ext cx="3456432" cy="1691640"/>
          </a:xfrm>
          <a:prstGeom prst="roundRect">
            <a:avLst>
              <a:gd name="adj" fmla="val 2703"/>
            </a:avLst>
          </a:prstGeom>
          <a:solidFill>
            <a:srgbClr val="0E1D2C"/>
          </a:solidFill>
          <a:ln w="12700">
            <a:solidFill>
              <a:srgbClr val="274052"/>
            </a:solidFill>
            <a:prstDash val="solid"/>
          </a:ln>
        </p:spPr>
        <p:txBody>
          <a:bodyPr/>
          <a:lstStyle/>
          <a:p>
            <a:endParaRPr/>
          </a:p>
        </p:txBody>
      </p:sp>
      <p:sp>
        <p:nvSpPr>
          <p:cNvPr id="22" name="Shape 19"/>
          <p:cNvSpPr/>
          <p:nvPr/>
        </p:nvSpPr>
        <p:spPr>
          <a:xfrm>
            <a:off x="4361688" y="3383280"/>
            <a:ext cx="45720" cy="1691640"/>
          </a:xfrm>
          <a:prstGeom prst="rect">
            <a:avLst/>
          </a:prstGeom>
          <a:solidFill>
            <a:srgbClr val="4EA3D8"/>
          </a:solidFill>
          <a:ln w="12700">
            <a:solidFill>
              <a:srgbClr val="4EA3D8"/>
            </a:solidFill>
            <a:prstDash val="solid"/>
          </a:ln>
        </p:spPr>
        <p:txBody>
          <a:bodyPr/>
          <a:lstStyle/>
          <a:p>
            <a:endParaRPr/>
          </a:p>
        </p:txBody>
      </p:sp>
      <p:sp>
        <p:nvSpPr>
          <p:cNvPr id="23" name="Text 20"/>
          <p:cNvSpPr/>
          <p:nvPr/>
        </p:nvSpPr>
        <p:spPr>
          <a:xfrm>
            <a:off x="4526280" y="350215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ENTERPRISE MGMT</a:t>
            </a:r>
            <a:endParaRPr lang="en-US" sz="1100" dirty="0"/>
          </a:p>
        </p:txBody>
      </p:sp>
      <p:sp>
        <p:nvSpPr>
          <p:cNvPr id="24" name="Text 21"/>
          <p:cNvSpPr/>
          <p:nvPr/>
        </p:nvSpPr>
        <p:spPr>
          <a:xfrm>
            <a:off x="4526280" y="3822192"/>
            <a:ext cx="3182112" cy="11612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Portfolio ARR</a:t>
            </a: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Fleet/model policy • reporting • multi-site</a:t>
            </a:r>
            <a:endParaRPr lang="en-US" sz="950" dirty="0"/>
          </a:p>
        </p:txBody>
      </p:sp>
      <p:sp>
        <p:nvSpPr>
          <p:cNvPr id="25" name="Shape 22"/>
          <p:cNvSpPr/>
          <p:nvPr/>
        </p:nvSpPr>
        <p:spPr>
          <a:xfrm>
            <a:off x="8129016" y="3383280"/>
            <a:ext cx="3456432" cy="1691640"/>
          </a:xfrm>
          <a:prstGeom prst="roundRect">
            <a:avLst>
              <a:gd name="adj" fmla="val 2703"/>
            </a:avLst>
          </a:prstGeom>
          <a:solidFill>
            <a:srgbClr val="0E1D2C"/>
          </a:solidFill>
          <a:ln w="12700">
            <a:solidFill>
              <a:srgbClr val="274052"/>
            </a:solidFill>
            <a:prstDash val="solid"/>
          </a:ln>
        </p:spPr>
        <p:txBody>
          <a:bodyPr/>
          <a:lstStyle/>
          <a:p>
            <a:endParaRPr/>
          </a:p>
        </p:txBody>
      </p:sp>
      <p:sp>
        <p:nvSpPr>
          <p:cNvPr id="26" name="Shape 23"/>
          <p:cNvSpPr/>
          <p:nvPr/>
        </p:nvSpPr>
        <p:spPr>
          <a:xfrm>
            <a:off x="8129016" y="3383280"/>
            <a:ext cx="45720" cy="1691640"/>
          </a:xfrm>
          <a:prstGeom prst="rect">
            <a:avLst/>
          </a:prstGeom>
          <a:solidFill>
            <a:srgbClr val="4EA3D8"/>
          </a:solidFill>
          <a:ln w="12700">
            <a:solidFill>
              <a:srgbClr val="4EA3D8"/>
            </a:solidFill>
            <a:prstDash val="solid"/>
          </a:ln>
        </p:spPr>
        <p:txBody>
          <a:bodyPr/>
          <a:lstStyle/>
          <a:p>
            <a:endParaRPr/>
          </a:p>
        </p:txBody>
      </p:sp>
      <p:sp>
        <p:nvSpPr>
          <p:cNvPr id="27" name="Text 24"/>
          <p:cNvSpPr/>
          <p:nvPr/>
        </p:nvSpPr>
        <p:spPr>
          <a:xfrm>
            <a:off x="8293608" y="3502152"/>
            <a:ext cx="3182112"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SERVICES</a:t>
            </a:r>
            <a:endParaRPr lang="en-US" sz="1100" dirty="0"/>
          </a:p>
        </p:txBody>
      </p:sp>
      <p:sp>
        <p:nvSpPr>
          <p:cNvPr id="28" name="Text 25"/>
          <p:cNvSpPr/>
          <p:nvPr/>
        </p:nvSpPr>
        <p:spPr>
          <a:xfrm>
            <a:off x="8293608" y="3822192"/>
            <a:ext cx="3182112" cy="11612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Implementation</a:t>
            </a: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High early; must fall as % of revenue</a:t>
            </a:r>
            <a:endParaRPr lang="en-US" sz="950" dirty="0"/>
          </a:p>
        </p:txBody>
      </p:sp>
      <p:sp>
        <p:nvSpPr>
          <p:cNvPr id="29" name="Text 26"/>
          <p:cNvSpPr/>
          <p:nvPr/>
        </p:nvSpPr>
        <p:spPr>
          <a:xfrm>
            <a:off x="658368" y="5468112"/>
            <a:ext cx="10789920" cy="548640"/>
          </a:xfrm>
          <a:prstGeom prst="rect">
            <a:avLst/>
          </a:prstGeom>
          <a:noFill/>
          <a:ln/>
        </p:spPr>
        <p:txBody>
          <a:bodyPr wrap="square" lIns="0" tIns="0" rIns="0" bIns="0" rtlCol="0" anchor="ctr">
            <a:normAutofit/>
          </a:bodyPr>
          <a:lstStyle/>
          <a:p>
            <a:pPr marL="0" indent="0" algn="l">
              <a:buNone/>
            </a:pPr>
            <a:r>
              <a:rPr lang="en-US" sz="1400" b="1" dirty="0">
                <a:solidFill>
                  <a:srgbClr val="F4F7FA"/>
                </a:solidFill>
                <a:latin typeface="Aptos" pitchFamily="34" charset="0"/>
                <a:ea typeface="Aptos" pitchFamily="34" charset="-122"/>
                <a:cs typeface="Aptos" pitchFamily="34" charset="-120"/>
              </a:rPr>
              <a:t>Two commercial paths. Enterprise: pilot → annual plant license → process expansion → sister plants → enterprise agreement. Small and mid-sized plants: free first year on one line → share of verified savings plus support, Years 2–5.</a:t>
            </a:r>
            <a:endParaRPr lang="en-US" sz="1400" dirty="0"/>
          </a:p>
        </p:txBody>
      </p:sp>
      <p:sp>
        <p:nvSpPr>
          <p:cNvPr id="30"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18</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SME model: free first year, then a share of verified savings</a:t>
            </a:r>
            <a:endParaRPr lang="en-US" sz="2400" dirty="0"/>
          </a:p>
        </p:txBody>
      </p:sp>
      <p:sp>
        <p:nvSpPr>
          <p:cNvPr id="3" name="Text 1"/>
          <p:cNvSpPr/>
          <p:nvPr/>
        </p:nvSpPr>
        <p:spPr>
          <a:xfrm>
            <a:off x="521208" y="786384"/>
            <a:ext cx="10789920" cy="457200"/>
          </a:xfrm>
          <a:prstGeom prst="rect">
            <a:avLst/>
          </a:prstGeom>
          <a:noFill/>
          <a:ln/>
        </p:spPr>
        <p:txBody>
          <a:bodyPr wrap="square" lIns="0" tIns="0" rIns="0" bIns="0" rtlCol="0" anchor="t"/>
          <a:lstStyle/>
          <a:p>
            <a:pPr marL="0" indent="0">
              <a:buNone/>
            </a:pPr>
            <a:r>
              <a:rPr lang="en-US" sz="1050" dirty="0">
                <a:solidFill>
                  <a:srgbClr val="8FA2B3"/>
                </a:solidFill>
              </a:rPr>
              <a:t>For small and mid-sized plants, DMI charges no software fee in Year 1. In Years 2–5 it earns a progressive share of savings the customer's Finance team verifies, plus annual support.</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401" name="Economics Card"/>
          <p:cNvSpPr/>
          <p:nvPr/>
        </p:nvSpPr>
        <p:spPr>
          <a:xfrm>
            <a:off x="594360" y="1463040"/>
            <a:ext cx="6675120" cy="3931920"/>
          </a:xfrm>
          <a:prstGeom prst="roundRect">
            <a:avLst>
              <a:gd name="adj" fmla="val 2778"/>
            </a:avLst>
          </a:prstGeom>
          <a:solidFill>
            <a:srgbClr val="0E1D2C"/>
          </a:solidFill>
          <a:ln w="12700">
            <a:solidFill>
              <a:srgbClr val="274052"/>
            </a:solidFill>
          </a:ln>
        </p:spPr>
        <p:txBody>
          <a:bodyPr/>
          <a:lstStyle/>
          <a:p>
            <a:endParaRPr/>
          </a:p>
        </p:txBody>
      </p:sp>
      <p:sp>
        <p:nvSpPr>
          <p:cNvPr id="402" name="Economics Card Accent"/>
          <p:cNvSpPr/>
          <p:nvPr/>
        </p:nvSpPr>
        <p:spPr>
          <a:xfrm>
            <a:off x="594360" y="1463040"/>
            <a:ext cx="45720" cy="3931920"/>
          </a:xfrm>
          <a:prstGeom prst="rect">
            <a:avLst/>
          </a:prstGeom>
          <a:solidFill>
            <a:srgbClr val="4EA3D8"/>
          </a:solidFill>
          <a:ln w="12700">
            <a:solidFill>
              <a:srgbClr val="4EA3D8"/>
            </a:solidFill>
          </a:ln>
        </p:spPr>
        <p:txBody>
          <a:bodyPr/>
          <a:lstStyle/>
          <a:p>
            <a:endParaRPr/>
          </a:p>
        </p:txBody>
      </p:sp>
      <p:sp>
        <p:nvSpPr>
          <p:cNvPr id="403" name="Economics Card Heading"/>
          <p:cNvSpPr txBox="1"/>
          <p:nvPr/>
        </p:nvSpPr>
        <p:spPr>
          <a:xfrm>
            <a:off x="777240" y="1591056"/>
            <a:ext cx="6309360"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CUSTOMER ECONOMICS: SME CASE STUDY ($K PER YEAR)</a:t>
            </a:r>
          </a:p>
        </p:txBody>
      </p:sp>
      <p:sp>
        <p:nvSpPr>
          <p:cNvPr id="404" name="Economics Card Text"/>
          <p:cNvSpPr txBox="1"/>
          <p:nvPr/>
        </p:nvSpPr>
        <p:spPr>
          <a:xfrm>
            <a:off x="777240" y="1920240"/>
            <a:ext cx="6309360" cy="3364992"/>
          </a:xfrm>
          <a:prstGeom prst="rect">
            <a:avLst/>
          </a:prstGeom>
          <a:noFill/>
          <a:ln/>
        </p:spPr>
        <p:txBody>
          <a:bodyPr wrap="square" lIns="0" tIns="0" rIns="0" bIns="0" rtlCol="0" anchor="t">
            <a:normAutofit/>
          </a:bodyPr>
          <a:lstStyle/>
          <a:p>
            <a:pPr marL="0" indent="0" algn="l">
              <a:buNone/>
            </a:pPr>
            <a:r>
              <a:rPr lang="en-US" sz="1000" dirty="0">
                <a:solidFill>
                  <a:srgbClr val="D8E1E8"/>
                </a:solidFill>
                <a:latin typeface="Aptos" pitchFamily="34" charset="0"/>
                <a:ea typeface="Aptos" pitchFamily="34" charset="-122"/>
                <a:cs typeface="Aptos" pitchFamily="34" charset="-120"/>
              </a:rPr>
              <a:t>Verified savings grow from $100K to $240K. Over five years the customer keeps $664K of $880K; DMI earns $156K in fees plus $60K support.</a:t>
            </a:r>
          </a:p>
        </p:txBody>
      </p:sp>
      <p:graphicFrame>
        <p:nvGraphicFramePr>
          <p:cNvPr id="405" name="Shared-savings customer economics chart" descr="Shared-savings customer economics chart"/>
          <p:cNvGraphicFramePr/>
          <p:nvPr/>
        </p:nvGraphicFramePr>
        <p:xfrm>
          <a:off x="731520" y="2194560"/>
          <a:ext cx="640080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406" name="Price Card"/>
          <p:cNvSpPr/>
          <p:nvPr/>
        </p:nvSpPr>
        <p:spPr>
          <a:xfrm>
            <a:off x="7543800" y="1463040"/>
            <a:ext cx="4059936" cy="1371600"/>
          </a:xfrm>
          <a:prstGeom prst="roundRect">
            <a:avLst>
              <a:gd name="adj" fmla="val 2778"/>
            </a:avLst>
          </a:prstGeom>
          <a:solidFill>
            <a:srgbClr val="0E1D2C"/>
          </a:solidFill>
          <a:ln w="12700">
            <a:solidFill>
              <a:srgbClr val="274052"/>
            </a:solidFill>
          </a:ln>
        </p:spPr>
        <p:txBody>
          <a:bodyPr/>
          <a:lstStyle/>
          <a:p>
            <a:endParaRPr/>
          </a:p>
        </p:txBody>
      </p:sp>
      <p:sp>
        <p:nvSpPr>
          <p:cNvPr id="407" name="Price Card Accent"/>
          <p:cNvSpPr/>
          <p:nvPr/>
        </p:nvSpPr>
        <p:spPr>
          <a:xfrm>
            <a:off x="7543800" y="1463040"/>
            <a:ext cx="45720" cy="1371600"/>
          </a:xfrm>
          <a:prstGeom prst="rect">
            <a:avLst/>
          </a:prstGeom>
          <a:solidFill>
            <a:srgbClr val="4EA3D8"/>
          </a:solidFill>
          <a:ln w="12700">
            <a:solidFill>
              <a:srgbClr val="4EA3D8"/>
            </a:solidFill>
          </a:ln>
        </p:spPr>
        <p:txBody>
          <a:bodyPr/>
          <a:lstStyle/>
          <a:p>
            <a:endParaRPr/>
          </a:p>
        </p:txBody>
      </p:sp>
      <p:sp>
        <p:nvSpPr>
          <p:cNvPr id="408" name="Price Card Heading"/>
          <p:cNvSpPr txBox="1"/>
          <p:nvPr/>
        </p:nvSpPr>
        <p:spPr>
          <a:xfrm>
            <a:off x="7726680" y="1591056"/>
            <a:ext cx="3694176"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PRICE</a:t>
            </a:r>
          </a:p>
        </p:txBody>
      </p:sp>
      <p:sp>
        <p:nvSpPr>
          <p:cNvPr id="409" name="Price Card Text"/>
          <p:cNvSpPr txBox="1"/>
          <p:nvPr/>
        </p:nvSpPr>
        <p:spPr>
          <a:xfrm>
            <a:off x="7726680" y="1920240"/>
            <a:ext cx="3694176" cy="804672"/>
          </a:xfrm>
          <a:prstGeom prst="rect">
            <a:avLst/>
          </a:prstGeom>
          <a:noFill/>
          <a:ln/>
        </p:spPr>
        <p:txBody>
          <a:bodyPr wrap="square" lIns="0" tIns="0" rIns="0" bIns="0" rtlCol="0" anchor="t">
            <a:normAutofit/>
          </a:bodyPr>
          <a:lstStyle/>
          <a:p>
            <a:pPr marL="228600" indent="-228600" algn="l">
              <a:spcAft>
                <a:spcPts val="400"/>
              </a:spcAft>
              <a:buClr>
                <a:srgbClr val="8FA2B3"/>
              </a:buClr>
              <a:buFont typeface="Arial"/>
              <a:buChar char="•"/>
            </a:pPr>
            <a:r>
              <a:rPr lang="en-US" sz="1000" dirty="0">
                <a:solidFill>
                  <a:srgbClr val="D8E1E8"/>
                </a:solidFill>
                <a:latin typeface="Aptos" pitchFamily="34" charset="0"/>
                <a:ea typeface="Aptos" pitchFamily="34" charset="-122"/>
                <a:cs typeface="Aptos" pitchFamily="34" charset="-120"/>
              </a:rPr>
              <a:t>Year 1: software free, scoped to one line or cell.</a:t>
            </a:r>
          </a:p>
          <a:p>
            <a:pPr marL="228600" indent="-228600" algn="l">
              <a:spcAft>
                <a:spcPts val="400"/>
              </a:spcAft>
              <a:buClr>
                <a:srgbClr val="8FA2B3"/>
              </a:buClr>
              <a:buFont typeface="Arial"/>
              <a:buChar char="•"/>
            </a:pPr>
            <a:r>
              <a:rPr lang="en-US" sz="1000" dirty="0">
                <a:solidFill>
                  <a:srgbClr val="D8E1E8"/>
                </a:solidFill>
                <a:latin typeface="Aptos" pitchFamily="34" charset="0"/>
                <a:ea typeface="Aptos" pitchFamily="34" charset="-122"/>
                <a:cs typeface="Aptos" pitchFamily="34" charset="-120"/>
              </a:rPr>
              <a:t>Years 2–5: 20% of the first $500K of verified savings, 15% of the next $1.5M, 10% above $2M.</a:t>
            </a:r>
          </a:p>
          <a:p>
            <a:pPr marL="228600" indent="-228600" algn="l">
              <a:spcAft>
                <a:spcPts val="400"/>
              </a:spcAft>
              <a:buClr>
                <a:srgbClr val="8FA2B3"/>
              </a:buClr>
              <a:buFont typeface="Arial"/>
              <a:buChar char="•"/>
            </a:pPr>
            <a:r>
              <a:rPr lang="en-US" sz="1000" dirty="0">
                <a:solidFill>
                  <a:srgbClr val="D8E1E8"/>
                </a:solidFill>
                <a:latin typeface="Aptos" pitchFamily="34" charset="0"/>
                <a:ea typeface="Aptos" pitchFamily="34" charset="-122"/>
                <a:cs typeface="Aptos" pitchFamily="34" charset="-120"/>
              </a:rPr>
              <a:t>Support: $15K (9×5) or $36K (7×24) per site a year.</a:t>
            </a:r>
          </a:p>
        </p:txBody>
      </p:sp>
      <p:sp>
        <p:nvSpPr>
          <p:cNvPr id="410" name="Qualify Card"/>
          <p:cNvSpPr/>
          <p:nvPr/>
        </p:nvSpPr>
        <p:spPr>
          <a:xfrm>
            <a:off x="7543800" y="2971800"/>
            <a:ext cx="4059936" cy="1143000"/>
          </a:xfrm>
          <a:prstGeom prst="roundRect">
            <a:avLst>
              <a:gd name="adj" fmla="val 2778"/>
            </a:avLst>
          </a:prstGeom>
          <a:solidFill>
            <a:srgbClr val="0E1D2C"/>
          </a:solidFill>
          <a:ln w="12700">
            <a:solidFill>
              <a:srgbClr val="274052"/>
            </a:solidFill>
          </a:ln>
        </p:spPr>
        <p:txBody>
          <a:bodyPr/>
          <a:lstStyle/>
          <a:p>
            <a:endParaRPr/>
          </a:p>
        </p:txBody>
      </p:sp>
      <p:sp>
        <p:nvSpPr>
          <p:cNvPr id="411" name="Qualify Card Accent"/>
          <p:cNvSpPr/>
          <p:nvPr/>
        </p:nvSpPr>
        <p:spPr>
          <a:xfrm>
            <a:off x="7543800" y="2971800"/>
            <a:ext cx="45720" cy="1143000"/>
          </a:xfrm>
          <a:prstGeom prst="rect">
            <a:avLst/>
          </a:prstGeom>
          <a:solidFill>
            <a:srgbClr val="4EA3D8"/>
          </a:solidFill>
          <a:ln w="12700">
            <a:solidFill>
              <a:srgbClr val="4EA3D8"/>
            </a:solidFill>
          </a:ln>
        </p:spPr>
        <p:txBody>
          <a:bodyPr/>
          <a:lstStyle/>
          <a:p>
            <a:endParaRPr/>
          </a:p>
        </p:txBody>
      </p:sp>
      <p:sp>
        <p:nvSpPr>
          <p:cNvPr id="412" name="Qualify Card Heading"/>
          <p:cNvSpPr txBox="1"/>
          <p:nvPr/>
        </p:nvSpPr>
        <p:spPr>
          <a:xfrm>
            <a:off x="7726680" y="3099816"/>
            <a:ext cx="3694176"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QUALIFY BEFORE THE FREE YEAR</a:t>
            </a:r>
          </a:p>
        </p:txBody>
      </p:sp>
      <p:sp>
        <p:nvSpPr>
          <p:cNvPr id="413" name="Qualify Card Text"/>
          <p:cNvSpPr txBox="1"/>
          <p:nvPr/>
        </p:nvSpPr>
        <p:spPr>
          <a:xfrm>
            <a:off x="7726680" y="3429000"/>
            <a:ext cx="3694176" cy="576072"/>
          </a:xfrm>
          <a:prstGeom prst="rect">
            <a:avLst/>
          </a:prstGeom>
          <a:noFill/>
          <a:ln/>
        </p:spPr>
        <p:txBody>
          <a:bodyPr wrap="square" lIns="0" tIns="0" rIns="0" bIns="0" rtlCol="0" anchor="t">
            <a:normAutofit/>
          </a:bodyPr>
          <a:lstStyle/>
          <a:p>
            <a:pPr marL="0" indent="0" algn="l">
              <a:buNone/>
            </a:pPr>
            <a:r>
              <a:rPr lang="en-US" sz="1000" dirty="0">
                <a:solidFill>
                  <a:srgbClr val="D8E1E8"/>
                </a:solidFill>
                <a:latin typeface="Aptos" pitchFamily="34" charset="0"/>
                <a:ea typeface="Aptos" pitchFamily="34" charset="-122"/>
                <a:cs typeface="Aptos" pitchFamily="34" charset="-120"/>
              </a:rPr>
              <a:t>At least $150K a year of measurable, recoverable loss at the first site, and a signed baseline, data access, hardware and 5-year agreement.</a:t>
            </a:r>
          </a:p>
        </p:txBody>
      </p:sp>
      <p:sp>
        <p:nvSpPr>
          <p:cNvPr id="414" name="Subscription Card"/>
          <p:cNvSpPr/>
          <p:nvPr/>
        </p:nvSpPr>
        <p:spPr>
          <a:xfrm>
            <a:off x="7543800" y="4251960"/>
            <a:ext cx="4059936" cy="1143000"/>
          </a:xfrm>
          <a:prstGeom prst="roundRect">
            <a:avLst>
              <a:gd name="adj" fmla="val 2778"/>
            </a:avLst>
          </a:prstGeom>
          <a:solidFill>
            <a:srgbClr val="0E1D2C"/>
          </a:solidFill>
          <a:ln w="12700">
            <a:solidFill>
              <a:srgbClr val="274052"/>
            </a:solidFill>
          </a:ln>
        </p:spPr>
        <p:txBody>
          <a:bodyPr/>
          <a:lstStyle/>
          <a:p>
            <a:endParaRPr/>
          </a:p>
        </p:txBody>
      </p:sp>
      <p:sp>
        <p:nvSpPr>
          <p:cNvPr id="415" name="Subscription Card Accent"/>
          <p:cNvSpPr/>
          <p:nvPr/>
        </p:nvSpPr>
        <p:spPr>
          <a:xfrm>
            <a:off x="7543800" y="4251960"/>
            <a:ext cx="45720" cy="1143000"/>
          </a:xfrm>
          <a:prstGeom prst="rect">
            <a:avLst/>
          </a:prstGeom>
          <a:solidFill>
            <a:srgbClr val="C85D37"/>
          </a:solidFill>
          <a:ln w="12700">
            <a:solidFill>
              <a:srgbClr val="C85D37"/>
            </a:solidFill>
          </a:ln>
        </p:spPr>
        <p:txBody>
          <a:bodyPr/>
          <a:lstStyle/>
          <a:p>
            <a:endParaRPr/>
          </a:p>
        </p:txBody>
      </p:sp>
      <p:sp>
        <p:nvSpPr>
          <p:cNvPr id="416" name="Subscription Card Heading"/>
          <p:cNvSpPr txBox="1"/>
          <p:nvPr/>
        </p:nvSpPr>
        <p:spPr>
          <a:xfrm>
            <a:off x="7726680" y="4379976"/>
            <a:ext cx="3694176"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VS. A SUBSCRIPTION</a:t>
            </a:r>
          </a:p>
        </p:txBody>
      </p:sp>
      <p:sp>
        <p:nvSpPr>
          <p:cNvPr id="417" name="Subscription Card Text"/>
          <p:cNvSpPr txBox="1"/>
          <p:nvPr/>
        </p:nvSpPr>
        <p:spPr>
          <a:xfrm>
            <a:off x="7726680" y="4709160"/>
            <a:ext cx="3694176" cy="576072"/>
          </a:xfrm>
          <a:prstGeom prst="rect">
            <a:avLst/>
          </a:prstGeom>
          <a:noFill/>
          <a:ln/>
        </p:spPr>
        <p:txBody>
          <a:bodyPr wrap="square" lIns="0" tIns="0" rIns="0" bIns="0" rtlCol="0" anchor="t">
            <a:normAutofit/>
          </a:bodyPr>
          <a:lstStyle/>
          <a:p>
            <a:pPr marL="0" indent="0" algn="l">
              <a:buNone/>
            </a:pPr>
            <a:r>
              <a:rPr lang="en-US" sz="1000" dirty="0">
                <a:solidFill>
                  <a:srgbClr val="D8E1E8"/>
                </a:solidFill>
                <a:latin typeface="Aptos" pitchFamily="34" charset="0"/>
                <a:ea typeface="Aptos" pitchFamily="34" charset="-122"/>
                <a:cs typeface="Aptos" pitchFamily="34" charset="-120"/>
              </a:rPr>
              <a:t>12-machine plant: $145K over five years for a $29K/yr SaaS benchmark, vs $216K of DMI fees and support. DMI earns more when value is strong and no fee when it is not.</a:t>
            </a:r>
          </a:p>
        </p:txBody>
      </p:sp>
      <p:sp>
        <p:nvSpPr>
          <p:cNvPr id="418" name="Source"/>
          <p:cNvSpPr txBox="1"/>
          <p:nvPr/>
        </p:nvSpPr>
        <p:spPr>
          <a:xfrm>
            <a:off x="594360" y="5596128"/>
            <a:ext cx="11009376" cy="365760"/>
          </a:xfrm>
          <a:prstGeom prst="rect">
            <a:avLst/>
          </a:prstGeom>
          <a:noFill/>
          <a:ln/>
        </p:spPr>
        <p:txBody>
          <a:bodyPr wrap="square" lIns="0" tIns="0" rIns="0" bIns="0" rtlCol="0" anchor="ctr">
            <a:normAutofit/>
          </a:bodyPr>
          <a:lstStyle/>
          <a:p>
            <a:pPr marL="0" indent="0" algn="l">
              <a:buNone/>
            </a:pPr>
            <a:r>
              <a:rPr lang="en-US" sz="900" dirty="0">
                <a:solidFill>
                  <a:srgbClr val="8FA2B3"/>
                </a:solidFill>
                <a:latin typeface="Aptos" pitchFamily="34" charset="0"/>
                <a:ea typeface="Aptos" pitchFamily="34" charset="-122"/>
                <a:cs typeface="Aptos" pitchFamily="34" charset="-120"/>
              </a:rPr>
              <a:t>Commercial proposal, not a price list. Source: CogniWerks DMI Shared-Savings SME Strategy (Oct 2026). Worked examples are illustrative, not realized DMI results; competitor price is a dated public listing (MachineMetrics core, AWS Marketplace).</a:t>
            </a:r>
          </a:p>
        </p:txBody>
      </p:sp>
      <p:sp>
        <p:nvSpPr>
          <p:cNvPr id="30"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19</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Pay-for-results is proven: industrial leaders already tie price to outcomes</a:t>
            </a:r>
            <a:endParaRPr lang="en-US" sz="2400" dirty="0"/>
          </a:p>
        </p:txBody>
      </p:sp>
      <p:sp>
        <p:nvSpPr>
          <p:cNvPr id="3" name="Text 1"/>
          <p:cNvSpPr/>
          <p:nvPr/>
        </p:nvSpPr>
        <p:spPr>
          <a:xfrm>
            <a:off x="521208" y="786384"/>
            <a:ext cx="10789920" cy="457200"/>
          </a:xfrm>
          <a:prstGeom prst="rect">
            <a:avLst/>
          </a:prstGeom>
          <a:noFill/>
          <a:ln/>
        </p:spPr>
        <p:txBody>
          <a:bodyPr wrap="square" lIns="0" tIns="0" rIns="0" bIns="0" rtlCol="0" anchor="t"/>
          <a:lstStyle/>
          <a:p>
            <a:pPr marL="0" indent="0">
              <a:buNone/>
            </a:pPr>
            <a:r>
              <a:rPr lang="en-US" sz="1050" dirty="0">
                <a:solidFill>
                  <a:srgbClr val="8FA2B3"/>
                </a:solidFill>
              </a:rPr>
              <a:t>Six companies that charge for results or carry the performance risk, and what DMI's shared-savings model borrows from each.</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graphicFrame>
        <p:nvGraphicFramePr>
          <p:cNvPr id="419" name="Outcome Pricing Examples"/>
          <p:cNvGraphicFramePr>
            <a:graphicFrameLocks noGrp="1"/>
          </p:cNvGraphicFramePr>
          <p:nvPr/>
        </p:nvGraphicFramePr>
        <p:xfrm>
          <a:off x="594360" y="1463040"/>
          <a:ext cx="11009376" cy="3703320"/>
        </p:xfrm>
        <a:graphic>
          <a:graphicData uri="http://schemas.openxmlformats.org/drawingml/2006/table">
            <a:tbl>
              <a:tblPr firstRow="1"/>
              <a:tblGrid>
                <a:gridCol w="25146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2916936">
                  <a:extLst>
                    <a:ext uri="{9D8B030D-6E8A-4147-A177-3AD203B41FA5}">
                      <a16:colId xmlns:a16="http://schemas.microsoft.com/office/drawing/2014/main" val="20003"/>
                    </a:ext>
                  </a:extLst>
                </a:gridCol>
              </a:tblGrid>
              <a:tr h="411480">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Company and offer</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How the customer pays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Risk the vendor carries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What DMI takes from it</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extLst>
                  <a:ext uri="{0D108BD9-81ED-4DB2-BD59-A6C34878D82A}">
                    <a16:rowId xmlns:a16="http://schemas.microsoft.com/office/drawing/2014/main" val="10000"/>
                  </a:ext>
                </a:extLst>
              </a:tr>
              <a:tr h="548640">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Siemens</a:t>
                      </a:r>
                      <a:r>
                        <a:rPr lang="en-US" sz="1000" dirty="0">
                          <a:solidFill>
                            <a:srgbClr val="8FA2B3"/>
                          </a:solidFill>
                          <a:latin typeface="Aptos" pitchFamily="34" charset="0"/>
                          <a:ea typeface="Aptos" pitchFamily="34" charset="-122"/>
                          <a:cs typeface="Aptos" pitchFamily="34" charset="-120"/>
                        </a:rPr>
                        <a:t>  performance contracting</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Payments pre-defined and based on achieved savings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Savings guarantee, with shortfall compensation if savings fall short</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b="1" dirty="0">
                          <a:solidFill>
                            <a:srgbClr val="4EA3D8"/>
                          </a:solidFill>
                          <a:latin typeface="Aptos" pitchFamily="34" charset="0"/>
                          <a:ea typeface="Aptos" pitchFamily="34" charset="-122"/>
                          <a:cs typeface="Aptos" pitchFamily="34" charset="-120"/>
                        </a:rPr>
                        <a:t>A signed baseline and verified savings make fees defensible</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extLst>
                  <a:ext uri="{0D108BD9-81ED-4DB2-BD59-A6C34878D82A}">
                    <a16:rowId xmlns:a16="http://schemas.microsoft.com/office/drawing/2014/main" val="10001"/>
                  </a:ext>
                </a:extLst>
              </a:tr>
              <a:tr h="548640">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Rolls-Royce</a:t>
                      </a:r>
                      <a:r>
                        <a:rPr lang="en-US" sz="1000" dirty="0">
                          <a:solidFill>
                            <a:srgbClr val="8FA2B3"/>
                          </a:solidFill>
                          <a:latin typeface="Aptos" pitchFamily="34" charset="0"/>
                          <a:ea typeface="Aptos" pitchFamily="34" charset="-122"/>
                          <a:cs typeface="Aptos" pitchFamily="34" charset="-120"/>
                        </a:rPr>
                        <a:t>  TotalCare, aero engines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Fixed $ per engine flying hour</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Maintenance and time-on-wing risk; "only rewarded for engines that perform"</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b="1" dirty="0">
                          <a:solidFill>
                            <a:srgbClr val="4EA3D8"/>
                          </a:solidFill>
                          <a:latin typeface="Aptos" pitchFamily="34" charset="0"/>
                          <a:ea typeface="Aptos" pitchFamily="34" charset="-122"/>
                          <a:cs typeface="Aptos" pitchFamily="34" charset="-120"/>
                        </a:rPr>
                        <a:t>Charge for value delivered, not for a license</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extLst>
                  <a:ext uri="{0D108BD9-81ED-4DB2-BD59-A6C34878D82A}">
                    <a16:rowId xmlns:a16="http://schemas.microsoft.com/office/drawing/2014/main" val="10002"/>
                  </a:ext>
                </a:extLst>
              </a:tr>
              <a:tr h="548640">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Michelin</a:t>
                      </a:r>
                      <a:r>
                        <a:rPr lang="en-US" sz="1000" dirty="0">
                          <a:solidFill>
                            <a:srgbClr val="8FA2B3"/>
                          </a:solidFill>
                          <a:latin typeface="Aptos" pitchFamily="34" charset="0"/>
                          <a:ea typeface="Aptos" pitchFamily="34" charset="-122"/>
                          <a:cs typeface="Aptos" pitchFamily="34" charset="-120"/>
                        </a:rPr>
                        <a:t>  EFFITIRES with fuel commitment</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Price per kilometre</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Reimburses unrealised fuel savings pro rata</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b="1" dirty="0">
                          <a:solidFill>
                            <a:srgbClr val="4EA3D8"/>
                          </a:solidFill>
                          <a:latin typeface="Aptos" pitchFamily="34" charset="0"/>
                          <a:ea typeface="Aptos" pitchFamily="34" charset="-122"/>
                          <a:cs typeface="Aptos" pitchFamily="34" charset="-120"/>
                        </a:rPr>
                        <a:t>Gate the guarantee on data: 70% of the fleet on telematics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extLst>
                  <a:ext uri="{0D108BD9-81ED-4DB2-BD59-A6C34878D82A}">
                    <a16:rowId xmlns:a16="http://schemas.microsoft.com/office/drawing/2014/main" val="10003"/>
                  </a:ext>
                </a:extLst>
              </a:tr>
              <a:tr h="548640">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Signify (Philips)</a:t>
                      </a:r>
                      <a:r>
                        <a:rPr lang="en-US" sz="1000" dirty="0">
                          <a:solidFill>
                            <a:srgbClr val="8FA2B3"/>
                          </a:solidFill>
                          <a:latin typeface="Aptos" pitchFamily="34" charset="0"/>
                          <a:ea typeface="Aptos" pitchFamily="34" charset="-122"/>
                          <a:cs typeface="Aptos" pitchFamily="34" charset="-120"/>
                        </a:rPr>
                        <a:t>  Light as a Service, Schiphol</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Schiphol pays for the light it uses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Owns the fixtures; responsible for performance and durability</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b="1" dirty="0">
                          <a:solidFill>
                            <a:srgbClr val="4EA3D8"/>
                          </a:solidFill>
                          <a:latin typeface="Aptos" pitchFamily="34" charset="0"/>
                          <a:ea typeface="Aptos" pitchFamily="34" charset="-122"/>
                          <a:cs typeface="Aptos" pitchFamily="34" charset="-120"/>
                        </a:rPr>
                        <a:t>Vendor-carried risk removes the customer's capital barrier</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extLst>
                  <a:ext uri="{0D108BD9-81ED-4DB2-BD59-A6C34878D82A}">
                    <a16:rowId xmlns:a16="http://schemas.microsoft.com/office/drawing/2014/main" val="10004"/>
                  </a:ext>
                </a:extLst>
              </a:tr>
              <a:tr h="548640">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Kaeser</a:t>
                      </a:r>
                      <a:r>
                        <a:rPr lang="en-US" sz="1000" dirty="0">
                          <a:solidFill>
                            <a:srgbClr val="8FA2B3"/>
                          </a:solidFill>
                          <a:latin typeface="Aptos" pitchFamily="34" charset="0"/>
                          <a:ea typeface="Aptos" pitchFamily="34" charset="-122"/>
                          <a:cs typeface="Aptos" pitchFamily="34" charset="-120"/>
                        </a:rPr>
                        <a:t>  Sigma Air Utility</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Fixed price for an agreed volume of air, plus a surplus charge</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Plans, installs and operates the compressed-air system</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b="1" dirty="0">
                          <a:solidFill>
                            <a:srgbClr val="4EA3D8"/>
                          </a:solidFill>
                          <a:latin typeface="Aptos" pitchFamily="34" charset="0"/>
                          <a:ea typeface="Aptos" pitchFamily="34" charset="-122"/>
                          <a:cs typeface="Aptos" pitchFamily="34" charset="-120"/>
                        </a:rPr>
                        <a:t>Base fee plus usage, like DMI support plus success fee</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extLst>
                  <a:ext uri="{0D108BD9-81ED-4DB2-BD59-A6C34878D82A}">
                    <a16:rowId xmlns:a16="http://schemas.microsoft.com/office/drawing/2014/main" val="10005"/>
                  </a:ext>
                </a:extLst>
              </a:tr>
              <a:tr h="548640">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Augury + HSB</a:t>
                      </a:r>
                      <a:r>
                        <a:rPr lang="en-US" sz="1000" dirty="0">
                          <a:solidFill>
                            <a:srgbClr val="8FA2B3"/>
                          </a:solidFill>
                          <a:latin typeface="Aptos" pitchFamily="34" charset="0"/>
                          <a:ea typeface="Aptos" pitchFamily="34" charset="-122"/>
                          <a:cs typeface="Aptos" pitchFamily="34" charset="-120"/>
                        </a:rPr>
                        <a:t>  machine-health AI</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AI service; guarantee included free for new customers' first year</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dirty="0">
                          <a:solidFill>
                            <a:srgbClr val="D8E1E8"/>
                          </a:solidFill>
                          <a:latin typeface="Aptos" pitchFamily="34" charset="0"/>
                          <a:ea typeface="Aptos" pitchFamily="34" charset="-122"/>
                          <a:cs typeface="Aptos" pitchFamily="34" charset="-120"/>
                        </a:rPr>
                        <a:t>Insurance-backed compensation for production loss from missed failures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l">
                        <a:buNone/>
                      </a:pPr>
                      <a:r>
                        <a:rPr lang="en-US" sz="1000" b="1" dirty="0">
                          <a:solidFill>
                            <a:srgbClr val="4EA3D8"/>
                          </a:solidFill>
                          <a:latin typeface="Aptos" pitchFamily="34" charset="0"/>
                          <a:ea typeface="Aptos" pitchFamily="34" charset="-122"/>
                          <a:cs typeface="Aptos" pitchFamily="34" charset="-120"/>
                        </a:rPr>
                        <a:t>Outcome risk on industrial AI can be insured</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extLst>
                  <a:ext uri="{0D108BD9-81ED-4DB2-BD59-A6C34878D82A}">
                    <a16:rowId xmlns:a16="http://schemas.microsoft.com/office/drawing/2014/main" val="10006"/>
                  </a:ext>
                </a:extLst>
              </a:tr>
            </a:tbl>
          </a:graphicData>
        </a:graphic>
      </p:graphicFrame>
      <p:sp>
        <p:nvSpPr>
          <p:cNvPr id="420" name="Difference"/>
          <p:cNvSpPr txBox="1"/>
          <p:nvPr/>
        </p:nvSpPr>
        <p:spPr>
          <a:xfrm>
            <a:off x="594360" y="5349240"/>
            <a:ext cx="11009376" cy="365760"/>
          </a:xfrm>
          <a:prstGeom prst="rect">
            <a:avLst/>
          </a:prstGeom>
          <a:noFill/>
          <a:ln/>
        </p:spPr>
        <p:txBody>
          <a:bodyPr wrap="square" lIns="0" tIns="0" rIns="0" bIns="0" rtlCol="0" anchor="ctr">
            <a:normAutofit/>
          </a:bodyPr>
          <a:lstStyle/>
          <a:p>
            <a:pPr marL="0" indent="0" algn="l">
              <a:buNone/>
            </a:pPr>
            <a:r>
              <a:rPr lang="en-US" sz="1150" b="1" dirty="0">
                <a:solidFill>
                  <a:srgbClr val="F4F7FA"/>
                </a:solidFill>
                <a:latin typeface="Aptos" pitchFamily="34" charset="0"/>
                <a:ea typeface="Aptos" pitchFamily="34" charset="-122"/>
                <a:cs typeface="Aptos" pitchFamily="34" charset="-120"/>
              </a:rPr>
              <a:t>Where DMI differs: </a:t>
            </a:r>
            <a:r>
              <a:rPr lang="en-US" sz="1150" dirty="0">
                <a:solidFill>
                  <a:srgbClr val="D8E1E8"/>
                </a:solidFill>
                <a:latin typeface="Aptos" pitchFamily="34" charset="0"/>
                <a:ea typeface="Aptos" pitchFamily="34" charset="-122"/>
                <a:cs typeface="Aptos" pitchFamily="34" charset="-120"/>
              </a:rPr>
              <a:t>these models price energy, uptime or consumables. DMI applies the same logic to plant process-intelligence software, with savings verified by the customer's Finance team.</a:t>
            </a:r>
          </a:p>
        </p:txBody>
      </p:sp>
      <p:sp>
        <p:nvSpPr>
          <p:cNvPr id="421" name="Sources"/>
          <p:cNvSpPr txBox="1"/>
          <p:nvPr/>
        </p:nvSpPr>
        <p:spPr>
          <a:xfrm>
            <a:off x="594360" y="5779008"/>
            <a:ext cx="11009376" cy="256032"/>
          </a:xfrm>
          <a:prstGeom prst="rect">
            <a:avLst/>
          </a:prstGeom>
          <a:noFill/>
          <a:ln/>
        </p:spPr>
        <p:txBody>
          <a:bodyPr wrap="square" lIns="0" tIns="0" rIns="0" bIns="0" rtlCol="0" anchor="ctr">
            <a:normAutofit/>
          </a:bodyPr>
          <a:lstStyle/>
          <a:p>
            <a:pPr marL="0" indent="0" algn="l">
              <a:buNone/>
            </a:pPr>
            <a:r>
              <a:rPr lang="en-US" sz="850" dirty="0">
                <a:solidFill>
                  <a:srgbClr val="8FA2B3"/>
                </a:solidFill>
                <a:latin typeface="Aptos" pitchFamily="34" charset="0"/>
                <a:ea typeface="Aptos" pitchFamily="34" charset="-122"/>
                <a:cs typeface="Aptos" pitchFamily="34" charset="-120"/>
              </a:rPr>
              <a:t>Sources: </a:t>
            </a:r>
            <a:r>
              <a:rPr lang="en-US" sz="850" dirty="0">
                <a:solidFill>
                  <a:srgbClr val="4EA3D8"/>
                </a:solidFill>
                <a:latin typeface="Aptos" pitchFamily="34" charset="0"/>
                <a:ea typeface="Aptos" pitchFamily="34" charset="-122"/>
                <a:cs typeface="Aptos" pitchFamily="34" charset="-120"/>
                <a:hlinkClick r:id="rId4">
                  <a:extLst>
                    <a:ext uri="{A12FA001-AC4F-418D-AE19-62706E023703}">
                      <ahyp:hlinkClr xmlns:ahyp="http://schemas.microsoft.com/office/drawing/2018/hyperlinkcolor" val="tx"/>
                    </a:ext>
                  </a:extLst>
                </a:hlinkClick>
              </a:rPr>
              <a:t>Siemens</a:t>
            </a:r>
            <a:r>
              <a:rPr lang="en-US" sz="850" dirty="0">
                <a:solidFill>
                  <a:srgbClr val="8FA2B3"/>
                </a:solidFill>
                <a:latin typeface="Aptos" pitchFamily="34" charset="0"/>
                <a:ea typeface="Aptos" pitchFamily="34" charset="-122"/>
                <a:cs typeface="Aptos" pitchFamily="34" charset="-120"/>
              </a:rPr>
              <a:t>, </a:t>
            </a:r>
            <a:r>
              <a:rPr lang="en-US" sz="850" dirty="0">
                <a:solidFill>
                  <a:srgbClr val="4EA3D8"/>
                </a:solidFill>
                <a:latin typeface="Aptos" pitchFamily="34" charset="0"/>
                <a:ea typeface="Aptos" pitchFamily="34" charset="-122"/>
                <a:cs typeface="Aptos" pitchFamily="34" charset="-120"/>
                <a:hlinkClick r:id="rId5">
                  <a:extLst>
                    <a:ext uri="{A12FA001-AC4F-418D-AE19-62706E023703}">
                      <ahyp:hlinkClr xmlns:ahyp="http://schemas.microsoft.com/office/drawing/2018/hyperlinkcolor" val="tx"/>
                    </a:ext>
                  </a:extLst>
                </a:hlinkClick>
              </a:rPr>
              <a:t>Rolls-Royce</a:t>
            </a:r>
            <a:r>
              <a:rPr lang="en-US" sz="850" dirty="0">
                <a:solidFill>
                  <a:srgbClr val="8FA2B3"/>
                </a:solidFill>
                <a:latin typeface="Aptos" pitchFamily="34" charset="0"/>
                <a:ea typeface="Aptos" pitchFamily="34" charset="-122"/>
                <a:cs typeface="Aptos" pitchFamily="34" charset="-120"/>
              </a:rPr>
              <a:t>, </a:t>
            </a:r>
            <a:r>
              <a:rPr lang="en-US" sz="850" dirty="0">
                <a:solidFill>
                  <a:srgbClr val="4EA3D8"/>
                </a:solidFill>
                <a:latin typeface="Aptos" pitchFamily="34" charset="0"/>
                <a:ea typeface="Aptos" pitchFamily="34" charset="-122"/>
                <a:cs typeface="Aptos" pitchFamily="34" charset="-120"/>
                <a:hlinkClick r:id="rId6">
                  <a:extLst>
                    <a:ext uri="{A12FA001-AC4F-418D-AE19-62706E023703}">
                      <ahyp:hlinkClr xmlns:ahyp="http://schemas.microsoft.com/office/drawing/2018/hyperlinkcolor" val="tx"/>
                    </a:ext>
                  </a:extLst>
                </a:hlinkClick>
              </a:rPr>
              <a:t>Michelin (2015)</a:t>
            </a:r>
            <a:r>
              <a:rPr lang="en-US" sz="850" dirty="0">
                <a:solidFill>
                  <a:srgbClr val="8FA2B3"/>
                </a:solidFill>
                <a:latin typeface="Aptos" pitchFamily="34" charset="0"/>
                <a:ea typeface="Aptos" pitchFamily="34" charset="-122"/>
                <a:cs typeface="Aptos" pitchFamily="34" charset="-120"/>
              </a:rPr>
              <a:t>, </a:t>
            </a:r>
            <a:r>
              <a:rPr lang="en-US" sz="850" dirty="0">
                <a:solidFill>
                  <a:srgbClr val="4EA3D8"/>
                </a:solidFill>
                <a:latin typeface="Aptos" pitchFamily="34" charset="0"/>
                <a:ea typeface="Aptos" pitchFamily="34" charset="-122"/>
                <a:cs typeface="Aptos" pitchFamily="34" charset="-120"/>
                <a:hlinkClick r:id="rId7">
                  <a:extLst>
                    <a:ext uri="{A12FA001-AC4F-418D-AE19-62706E023703}">
                      <ahyp:hlinkClr xmlns:ahyp="http://schemas.microsoft.com/office/drawing/2018/hyperlinkcolor" val="tx"/>
                    </a:ext>
                  </a:extLst>
                </a:hlinkClick>
              </a:rPr>
              <a:t>Signify (2015)</a:t>
            </a:r>
            <a:r>
              <a:rPr lang="en-US" sz="850" dirty="0">
                <a:solidFill>
                  <a:srgbClr val="8FA2B3"/>
                </a:solidFill>
                <a:latin typeface="Aptos" pitchFamily="34" charset="0"/>
                <a:ea typeface="Aptos" pitchFamily="34" charset="-122"/>
                <a:cs typeface="Aptos" pitchFamily="34" charset="-120"/>
              </a:rPr>
              <a:t>, </a:t>
            </a:r>
            <a:r>
              <a:rPr lang="en-US" sz="850" dirty="0">
                <a:solidFill>
                  <a:srgbClr val="4EA3D8"/>
                </a:solidFill>
                <a:latin typeface="Aptos" pitchFamily="34" charset="0"/>
                <a:ea typeface="Aptos" pitchFamily="34" charset="-122"/>
                <a:cs typeface="Aptos" pitchFamily="34" charset="-120"/>
                <a:hlinkClick r:id="rId8">
                  <a:extLst>
                    <a:ext uri="{A12FA001-AC4F-418D-AE19-62706E023703}">
                      <ahyp:hlinkClr xmlns:ahyp="http://schemas.microsoft.com/office/drawing/2018/hyperlinkcolor" val="tx"/>
                    </a:ext>
                  </a:extLst>
                </a:hlinkClick>
              </a:rPr>
              <a:t>Kaeser</a:t>
            </a:r>
            <a:r>
              <a:rPr lang="en-US" sz="850" dirty="0">
                <a:solidFill>
                  <a:srgbClr val="8FA2B3"/>
                </a:solidFill>
                <a:latin typeface="Aptos" pitchFamily="34" charset="0"/>
                <a:ea typeface="Aptos" pitchFamily="34" charset="-122"/>
                <a:cs typeface="Aptos" pitchFamily="34" charset="-120"/>
              </a:rPr>
              <a:t>, </a:t>
            </a:r>
            <a:r>
              <a:rPr lang="en-US" sz="850" dirty="0">
                <a:solidFill>
                  <a:srgbClr val="4EA3D8"/>
                </a:solidFill>
                <a:latin typeface="Aptos" pitchFamily="34" charset="0"/>
                <a:ea typeface="Aptos" pitchFamily="34" charset="-122"/>
                <a:cs typeface="Aptos" pitchFamily="34" charset="-120"/>
                <a:hlinkClick r:id="rId9">
                  <a:extLst>
                    <a:ext uri="{A12FA001-AC4F-418D-AE19-62706E023703}">
                      <ahyp:hlinkClr xmlns:ahyp="http://schemas.microsoft.com/office/drawing/2018/hyperlinkcolor" val="tx"/>
                    </a:ext>
                  </a:extLst>
                </a:hlinkClick>
              </a:rPr>
              <a:t>Augury and HSB (2023)</a:t>
            </a:r>
            <a:r>
              <a:rPr lang="en-US" sz="850" dirty="0">
                <a:solidFill>
                  <a:srgbClr val="8FA2B3"/>
                </a:solidFill>
                <a:latin typeface="Aptos" pitchFamily="34" charset="0"/>
                <a:ea typeface="Aptos" pitchFamily="34" charset="-122"/>
                <a:cs typeface="Aptos" pitchFamily="34" charset="-120"/>
              </a:rPr>
              <a:t>. Vendor-published descriptions; contract terms and results are not independently verified.</a:t>
            </a:r>
          </a:p>
        </p:txBody>
      </p:sp>
      <p:sp>
        <p:nvSpPr>
          <p:cNvPr id="30"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20</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Shared savings: what it wins, and what it risks</a:t>
            </a:r>
            <a:endParaRPr lang="en-US" sz="2400" dirty="0"/>
          </a:p>
        </p:txBody>
      </p:sp>
      <p:sp>
        <p:nvSpPr>
          <p:cNvPr id="3" name="Text 1"/>
          <p:cNvSpPr/>
          <p:nvPr/>
        </p:nvSpPr>
        <p:spPr>
          <a:xfrm>
            <a:off x="521208" y="786384"/>
            <a:ext cx="10789920" cy="457200"/>
          </a:xfrm>
          <a:prstGeom prst="rect">
            <a:avLst/>
          </a:prstGeom>
          <a:noFill/>
          <a:ln/>
        </p:spPr>
        <p:txBody>
          <a:bodyPr wrap="square" lIns="0" tIns="0" rIns="0" bIns="0" rtlCol="0" anchor="t"/>
          <a:lstStyle/>
          <a:p>
            <a:pPr marL="0" indent="0">
              <a:buNone/>
            </a:pPr>
            <a:r>
              <a:rPr lang="en-US" sz="1050" dirty="0">
                <a:solidFill>
                  <a:srgbClr val="8FA2B3"/>
                </a:solidFill>
              </a:rPr>
              <a:t>Pay-for-results removes the buying barrier for small plants, but it moves revenue later and ties it to savings the customer verifies.</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422" name="Advantages Card"/>
          <p:cNvSpPr/>
          <p:nvPr/>
        </p:nvSpPr>
        <p:spPr>
          <a:xfrm>
            <a:off x="594360" y="1463040"/>
            <a:ext cx="5367528" cy="3611880"/>
          </a:xfrm>
          <a:prstGeom prst="roundRect">
            <a:avLst>
              <a:gd name="adj" fmla="val 2778"/>
            </a:avLst>
          </a:prstGeom>
          <a:solidFill>
            <a:srgbClr val="0E1D2C"/>
          </a:solidFill>
          <a:ln w="12700">
            <a:solidFill>
              <a:srgbClr val="274052"/>
            </a:solidFill>
          </a:ln>
        </p:spPr>
        <p:txBody>
          <a:bodyPr/>
          <a:lstStyle/>
          <a:p>
            <a:endParaRPr/>
          </a:p>
        </p:txBody>
      </p:sp>
      <p:sp>
        <p:nvSpPr>
          <p:cNvPr id="423" name="Advantages Card Accent"/>
          <p:cNvSpPr/>
          <p:nvPr/>
        </p:nvSpPr>
        <p:spPr>
          <a:xfrm>
            <a:off x="594360" y="1463040"/>
            <a:ext cx="45720" cy="3611880"/>
          </a:xfrm>
          <a:prstGeom prst="rect">
            <a:avLst/>
          </a:prstGeom>
          <a:solidFill>
            <a:srgbClr val="4EA3D8"/>
          </a:solidFill>
          <a:ln w="12700">
            <a:solidFill>
              <a:srgbClr val="4EA3D8"/>
            </a:solidFill>
          </a:ln>
        </p:spPr>
        <p:txBody>
          <a:bodyPr/>
          <a:lstStyle/>
          <a:p>
            <a:endParaRPr/>
          </a:p>
        </p:txBody>
      </p:sp>
      <p:sp>
        <p:nvSpPr>
          <p:cNvPr id="424" name="Advantages Card Heading"/>
          <p:cNvSpPr txBox="1"/>
          <p:nvPr/>
        </p:nvSpPr>
        <p:spPr>
          <a:xfrm>
            <a:off x="777240" y="1591056"/>
            <a:ext cx="5001768"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ADVANTAGES</a:t>
            </a:r>
          </a:p>
        </p:txBody>
      </p:sp>
      <p:sp>
        <p:nvSpPr>
          <p:cNvPr id="425" name="Advantages Card Text"/>
          <p:cNvSpPr txBox="1"/>
          <p:nvPr/>
        </p:nvSpPr>
        <p:spPr>
          <a:xfrm>
            <a:off x="777240" y="1920240"/>
            <a:ext cx="5001768" cy="3044952"/>
          </a:xfrm>
          <a:prstGeom prst="rect">
            <a:avLst/>
          </a:prstGeom>
          <a:noFill/>
          <a:ln/>
        </p:spPr>
        <p:txBody>
          <a:bodyPr wrap="square" lIns="0" tIns="0" rIns="0" bIns="0" rtlCol="0" anchor="t">
            <a:normAutofit/>
          </a:bodyPr>
          <a:lstStyle/>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No software budget needed in Year 1, which removes the main buying barrier for small plants.</a:t>
            </a:r>
          </a:p>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Price follows verified value: no savings, no success fee.</a:t>
            </a:r>
          </a:p>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Stands apart from fixed subscriptions (MachineMetrics, Tulip, Litmus) that charge whatever the result.</a:t>
            </a:r>
          </a:p>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Revenue grows with customer value; progressive bands keep large wins affordable for the customer.</a:t>
            </a:r>
          </a:p>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Every billed dollar has a Finance-approved savings record, which becomes referenceable proof for sales.</a:t>
            </a:r>
          </a:p>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Land on one line, then expand line by line and to sister plants.</a:t>
            </a:r>
          </a:p>
        </p:txBody>
      </p:sp>
      <p:sp>
        <p:nvSpPr>
          <p:cNvPr id="426" name="Risks Card"/>
          <p:cNvSpPr/>
          <p:nvPr/>
        </p:nvSpPr>
        <p:spPr>
          <a:xfrm>
            <a:off x="6236208" y="1463040"/>
            <a:ext cx="5367528" cy="3611880"/>
          </a:xfrm>
          <a:prstGeom prst="roundRect">
            <a:avLst>
              <a:gd name="adj" fmla="val 2778"/>
            </a:avLst>
          </a:prstGeom>
          <a:solidFill>
            <a:srgbClr val="0E1D2C"/>
          </a:solidFill>
          <a:ln w="12700">
            <a:solidFill>
              <a:srgbClr val="274052"/>
            </a:solidFill>
          </a:ln>
        </p:spPr>
        <p:txBody>
          <a:bodyPr/>
          <a:lstStyle/>
          <a:p>
            <a:endParaRPr/>
          </a:p>
        </p:txBody>
      </p:sp>
      <p:sp>
        <p:nvSpPr>
          <p:cNvPr id="427" name="Risks Card Accent"/>
          <p:cNvSpPr/>
          <p:nvPr/>
        </p:nvSpPr>
        <p:spPr>
          <a:xfrm>
            <a:off x="6236208" y="1463040"/>
            <a:ext cx="45720" cy="3611880"/>
          </a:xfrm>
          <a:prstGeom prst="rect">
            <a:avLst/>
          </a:prstGeom>
          <a:solidFill>
            <a:srgbClr val="C85D37"/>
          </a:solidFill>
          <a:ln w="12700">
            <a:solidFill>
              <a:srgbClr val="C85D37"/>
            </a:solidFill>
          </a:ln>
        </p:spPr>
        <p:txBody>
          <a:bodyPr/>
          <a:lstStyle/>
          <a:p>
            <a:endParaRPr/>
          </a:p>
        </p:txBody>
      </p:sp>
      <p:sp>
        <p:nvSpPr>
          <p:cNvPr id="428" name="Risks Card Heading"/>
          <p:cNvSpPr txBox="1"/>
          <p:nvPr/>
        </p:nvSpPr>
        <p:spPr>
          <a:xfrm>
            <a:off x="6419088" y="1591056"/>
            <a:ext cx="5001768"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RISKS</a:t>
            </a:r>
          </a:p>
        </p:txBody>
      </p:sp>
      <p:sp>
        <p:nvSpPr>
          <p:cNvPr id="429" name="Risks Card Text"/>
          <p:cNvSpPr txBox="1"/>
          <p:nvPr/>
        </p:nvSpPr>
        <p:spPr>
          <a:xfrm>
            <a:off x="6419088" y="1920240"/>
            <a:ext cx="5001768" cy="3044952"/>
          </a:xfrm>
          <a:prstGeom prst="rect">
            <a:avLst/>
          </a:prstGeom>
          <a:noFill/>
          <a:ln/>
        </p:spPr>
        <p:txBody>
          <a:bodyPr wrap="square" lIns="0" tIns="0" rIns="0" bIns="0" rtlCol="0" anchor="t">
            <a:normAutofit/>
          </a:bodyPr>
          <a:lstStyle/>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Year 1 brings no software revenue while onboarding support still costs money, so more cash is needed early.</a:t>
            </a:r>
          </a:p>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Fees depend on baselines, attribution and customer Finance sign-off; disputes can delay or reduce revenue.</a:t>
            </a:r>
          </a:p>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Revenue is variable and harder to forecast; revenue recognition needs accounting review.</a:t>
            </a:r>
          </a:p>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In low-savings plants, support dominates and the customer's net value shrinks, so qualification is essential.</a:t>
            </a:r>
          </a:p>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DMI does not yet capture finance-grade cost, production and maintenance data; a savings-measurement module must be built.</a:t>
            </a:r>
          </a:p>
          <a:p>
            <a:pPr marL="228600" indent="-228600" algn="l">
              <a:spcAft>
                <a:spcPts val="400"/>
              </a:spcAft>
              <a:buClr>
                <a:srgbClr val="8FA2B3"/>
              </a:buClr>
              <a:buFont typeface="Arial"/>
              <a:buChar char="•"/>
            </a:pPr>
            <a:r>
              <a:rPr lang="en-US" sz="1250" dirty="0">
                <a:solidFill>
                  <a:srgbClr val="D8E1E8"/>
                </a:solidFill>
                <a:latin typeface="Aptos" pitchFamily="34" charset="0"/>
                <a:ea typeface="Aptos" pitchFamily="34" charset="-122"/>
                <a:cs typeface="Aptos" pitchFamily="34" charset="-120"/>
              </a:rPr>
              <a:t>When value is high, DMI can cost more than a subscription, so the pitch must sell net value, not lowest price.</a:t>
            </a:r>
          </a:p>
        </p:txBody>
      </p:sp>
      <p:sp>
        <p:nvSpPr>
          <p:cNvPr id="430" name="Mitigations"/>
          <p:cNvSpPr txBox="1"/>
          <p:nvPr/>
        </p:nvSpPr>
        <p:spPr>
          <a:xfrm>
            <a:off x="594360" y="5285232"/>
            <a:ext cx="11009376" cy="548640"/>
          </a:xfrm>
          <a:prstGeom prst="rect">
            <a:avLst/>
          </a:prstGeom>
          <a:noFill/>
          <a:ln/>
        </p:spPr>
        <p:txBody>
          <a:bodyPr wrap="square" lIns="0" tIns="0" rIns="0" bIns="0" rtlCol="0" anchor="ctr">
            <a:normAutofit/>
          </a:bodyPr>
          <a:lstStyle/>
          <a:p>
            <a:pPr marL="0" indent="0" algn="l">
              <a:buNone/>
            </a:pPr>
            <a:r>
              <a:rPr lang="en-US" sz="1200" b="1" dirty="0">
                <a:solidFill>
                  <a:srgbClr val="F4F7FA"/>
                </a:solidFill>
                <a:latin typeface="Aptos" pitchFamily="34" charset="0"/>
                <a:ea typeface="Aptos" pitchFamily="34" charset="-122"/>
                <a:cs typeface="Aptos" pitchFamily="34" charset="-120"/>
              </a:rPr>
              <a:t>Mitigations: </a:t>
            </a:r>
            <a:r>
              <a:rPr lang="en-US" sz="1200" dirty="0">
                <a:solidFill>
                  <a:srgbClr val="D8E1E8"/>
                </a:solidFill>
                <a:latin typeface="Aptos" pitchFamily="34" charset="0"/>
                <a:ea typeface="Aptos" pitchFamily="34" charset="-122"/>
                <a:cs typeface="Aptos" pitchFamily="34" charset="-120"/>
              </a:rPr>
              <a:t>scope the free year to one line, require at least $150K of measurable loss, sign the baseline and 5-year contract first, build the savings register, and cost-test support before setting SME tiers.</a:t>
            </a:r>
          </a:p>
        </p:txBody>
      </p:sp>
      <p:sp>
        <p:nvSpPr>
          <p:cNvPr id="30"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21</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9184"/>
            <a:ext cx="10881360" cy="411480"/>
          </a:xfrm>
          <a:prstGeom prst="rect">
            <a:avLst/>
          </a:prstGeom>
          <a:noFill/>
        </p:spPr>
        <p:txBody>
          <a:bodyPr wrap="square" anchor="t" lIns="0" rIns="0" tIns="0" bIns="0">
            <a:spAutoFit/>
          </a:bodyPr>
          <a:lstStyle/>
          <a:p>
            <a:pPr>
              <a:spcAft>
                <a:spcPts val="0"/>
              </a:spcAft>
            </a:pPr>
            <a:r>
              <a:rPr sz="2400" b="1">
                <a:solidFill>
                  <a:srgbClr val="F4F7FA"/>
                </a:solidFill>
                <a:latin typeface="Aptos Display"/>
              </a:rPr>
              <a:t>Closed-loop BPA: same fee, more verifiable savings</a:t>
            </a:r>
          </a:p>
        </p:txBody>
      </p:sp>
      <p:sp>
        <p:nvSpPr>
          <p:cNvPr id="3" name="TextBox 2"/>
          <p:cNvSpPr txBox="1"/>
          <p:nvPr/>
        </p:nvSpPr>
        <p:spPr>
          <a:xfrm>
            <a:off x="521207" y="786384"/>
            <a:ext cx="10789920" cy="457200"/>
          </a:xfrm>
          <a:prstGeom prst="rect">
            <a:avLst/>
          </a:prstGeom>
          <a:noFill/>
        </p:spPr>
        <p:txBody>
          <a:bodyPr wrap="square" anchor="t" lIns="0" rIns="0" tIns="0" bIns="0">
            <a:spAutoFit/>
          </a:bodyPr>
          <a:lstStyle/>
          <a:p>
            <a:pPr>
              <a:spcAft>
                <a:spcPts val="0"/>
              </a:spcAft>
            </a:pPr>
            <a:r>
              <a:rPr sz="1050" b="0">
                <a:solidFill>
                  <a:srgbClr val="8FA2B3"/>
                </a:solidFill>
                <a:latin typeface="Aptos"/>
              </a:rPr>
              <a:t>When an approved DMI workflow carries out the fix and DMI measures the result, the finding → action → result chain is complete, so more of the saving is attributable.</a:t>
            </a:r>
          </a:p>
        </p:txBody>
      </p:sp>
      <p:pic>
        <p:nvPicPr>
          <p:cNvPr id="4" name="Picture 3" descr="image.png"/>
          <p:cNvPicPr>
            <a:picLocks noChangeAspect="1"/>
          </p:cNvPicPr>
          <p:nvPr/>
        </p:nvPicPr>
        <p:blipFill>
          <a:blip r:embed="rId2"/>
          <a:stretch>
            <a:fillRect/>
          </a:stretch>
        </p:blipFill>
        <p:spPr>
          <a:xfrm>
            <a:off x="10744200" y="237744"/>
            <a:ext cx="960120" cy="585216"/>
          </a:xfrm>
          <a:prstGeom prst="rect">
            <a:avLst/>
          </a:prstGeom>
        </p:spPr>
      </p:pic>
      <p:sp>
        <p:nvSpPr>
          <p:cNvPr id="5" name="Rectangle 4"/>
          <p:cNvSpPr/>
          <p:nvPr/>
        </p:nvSpPr>
        <p:spPr>
          <a:xfrm>
            <a:off x="594360" y="1463040"/>
            <a:ext cx="3502152" cy="3611880"/>
          </a:xfrm>
          <a:prstGeom prst="rect">
            <a:avLst/>
          </a:prstGeom>
          <a:solidFill>
            <a:srgbClr val="0E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463040"/>
            <a:ext cx="45720" cy="3611880"/>
          </a:xfrm>
          <a:prstGeom prst="rect">
            <a:avLst/>
          </a:prstGeom>
          <a:solidFill>
            <a:srgbClr val="4EA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91056"/>
            <a:ext cx="3136392" cy="237744"/>
          </a:xfrm>
          <a:prstGeom prst="rect">
            <a:avLst/>
          </a:prstGeom>
          <a:noFill/>
        </p:spPr>
        <p:txBody>
          <a:bodyPr wrap="square" anchor="t" lIns="0" rIns="0" tIns="0" bIns="0">
            <a:spAutoFit/>
          </a:bodyPr>
          <a:lstStyle/>
          <a:p>
            <a:pPr>
              <a:spcAft>
                <a:spcPts val="0"/>
              </a:spcAft>
            </a:pPr>
            <a:r>
              <a:rPr sz="1100" b="1">
                <a:solidFill>
                  <a:srgbClr val="F4F7FA"/>
                </a:solidFill>
                <a:latin typeface="Aptos"/>
              </a:rPr>
              <a:t>HOW IT IS PRICED</a:t>
            </a:r>
          </a:p>
        </p:txBody>
      </p:sp>
      <p:sp>
        <p:nvSpPr>
          <p:cNvPr id="8" name="Rectangle 7"/>
          <p:cNvSpPr/>
          <p:nvPr/>
        </p:nvSpPr>
        <p:spPr>
          <a:xfrm>
            <a:off x="4370832" y="1463040"/>
            <a:ext cx="3502152" cy="3611880"/>
          </a:xfrm>
          <a:prstGeom prst="rect">
            <a:avLst/>
          </a:prstGeom>
          <a:solidFill>
            <a:srgbClr val="0E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0832" y="1463040"/>
            <a:ext cx="45720" cy="3611880"/>
          </a:xfrm>
          <a:prstGeom prst="rect">
            <a:avLst/>
          </a:prstGeom>
          <a:solidFill>
            <a:srgbClr val="50B8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591056"/>
            <a:ext cx="3136392" cy="237744"/>
          </a:xfrm>
          <a:prstGeom prst="rect">
            <a:avLst/>
          </a:prstGeom>
          <a:noFill/>
        </p:spPr>
        <p:txBody>
          <a:bodyPr wrap="square" anchor="t" lIns="0" rIns="0" tIns="0" bIns="0">
            <a:spAutoFit/>
          </a:bodyPr>
          <a:lstStyle/>
          <a:p>
            <a:pPr>
              <a:spcAft>
                <a:spcPts val="0"/>
              </a:spcAft>
            </a:pPr>
            <a:r>
              <a:rPr sz="1100" b="1">
                <a:solidFill>
                  <a:srgbClr val="F4F7FA"/>
                </a:solidFill>
                <a:latin typeface="Aptos"/>
              </a:rPr>
              <a:t>FILLING LINE EXAMPLE (ILLUSTRATIVE)</a:t>
            </a:r>
          </a:p>
        </p:txBody>
      </p:sp>
      <p:sp>
        <p:nvSpPr>
          <p:cNvPr id="11" name="Rectangle 10"/>
          <p:cNvSpPr/>
          <p:nvPr/>
        </p:nvSpPr>
        <p:spPr>
          <a:xfrm>
            <a:off x="8147304" y="1463040"/>
            <a:ext cx="3502152" cy="3611880"/>
          </a:xfrm>
          <a:prstGeom prst="rect">
            <a:avLst/>
          </a:prstGeom>
          <a:solidFill>
            <a:srgbClr val="0E1D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47304" y="1463040"/>
            <a:ext cx="45720" cy="3611880"/>
          </a:xfrm>
          <a:prstGeom prst="rect">
            <a:avLst/>
          </a:prstGeom>
          <a:solidFill>
            <a:srgbClr val="C85D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0183" y="1591056"/>
            <a:ext cx="3136392" cy="237744"/>
          </a:xfrm>
          <a:prstGeom prst="rect">
            <a:avLst/>
          </a:prstGeom>
          <a:noFill/>
        </p:spPr>
        <p:txBody>
          <a:bodyPr wrap="square" anchor="t" lIns="0" rIns="0" tIns="0" bIns="0">
            <a:spAutoFit/>
          </a:bodyPr>
          <a:lstStyle/>
          <a:p>
            <a:pPr>
              <a:spcAft>
                <a:spcPts val="0"/>
              </a:spcAft>
            </a:pPr>
            <a:r>
              <a:rPr sz="1100" b="1">
                <a:solidFill>
                  <a:srgbClr val="F4F7FA"/>
                </a:solidFill>
                <a:latin typeface="Aptos"/>
              </a:rPr>
              <a:t>RISKS IT REDUCES</a:t>
            </a:r>
          </a:p>
        </p:txBody>
      </p:sp>
      <p:sp>
        <p:nvSpPr>
          <p:cNvPr id="14" name="TextBox 13"/>
          <p:cNvSpPr txBox="1"/>
          <p:nvPr/>
        </p:nvSpPr>
        <p:spPr>
          <a:xfrm>
            <a:off x="777240" y="1874519"/>
            <a:ext cx="3136392" cy="685800"/>
          </a:xfrm>
          <a:prstGeom prst="rect">
            <a:avLst/>
          </a:prstGeom>
          <a:noFill/>
        </p:spPr>
        <p:txBody>
          <a:bodyPr wrap="square" anchor="t" lIns="0" rIns="0" tIns="0" bIns="0">
            <a:spAutoFit/>
          </a:bodyPr>
          <a:lstStyle/>
          <a:p>
            <a:pPr>
              <a:spcAft>
                <a:spcPts val="0"/>
              </a:spcAft>
            </a:pPr>
            <a:r>
              <a:rPr sz="3600" b="1">
                <a:solidFill>
                  <a:srgbClr val="4EA3D8"/>
                </a:solidFill>
                <a:latin typeface="Aptos"/>
              </a:rPr>
              <a:t>+15 pts</a:t>
            </a:r>
          </a:p>
        </p:txBody>
      </p:sp>
      <p:sp>
        <p:nvSpPr>
          <p:cNvPr id="15" name="TextBox 14"/>
          <p:cNvSpPr txBox="1"/>
          <p:nvPr/>
        </p:nvSpPr>
        <p:spPr>
          <a:xfrm>
            <a:off x="777240" y="2542032"/>
            <a:ext cx="3136392" cy="274320"/>
          </a:xfrm>
          <a:prstGeom prst="rect">
            <a:avLst/>
          </a:prstGeom>
          <a:noFill/>
        </p:spPr>
        <p:txBody>
          <a:bodyPr wrap="square" anchor="t" lIns="0" rIns="0" tIns="0" bIns="0">
            <a:spAutoFit/>
          </a:bodyPr>
          <a:lstStyle/>
          <a:p>
            <a:pPr>
              <a:spcAft>
                <a:spcPts val="0"/>
              </a:spcAft>
            </a:pPr>
            <a:r>
              <a:rPr sz="1000" b="0">
                <a:solidFill>
                  <a:srgbClr val="8FA2B3"/>
                </a:solidFill>
                <a:latin typeface="Aptos"/>
              </a:rPr>
              <a:t>attribution on a closed-loop saving, capped at 100%</a:t>
            </a:r>
          </a:p>
        </p:txBody>
      </p:sp>
      <p:sp>
        <p:nvSpPr>
          <p:cNvPr id="16" name="TextBox 15"/>
          <p:cNvSpPr txBox="1"/>
          <p:nvPr/>
        </p:nvSpPr>
        <p:spPr>
          <a:xfrm>
            <a:off x="777240" y="2971800"/>
            <a:ext cx="3136392" cy="2011680"/>
          </a:xfrm>
          <a:prstGeom prst="rect">
            <a:avLst/>
          </a:prstGeom>
          <a:noFill/>
        </p:spPr>
        <p:txBody>
          <a:bodyPr wrap="square" anchor="t" lIns="0" rIns="0" tIns="0" bIns="0">
            <a:spAutoFit/>
          </a:bodyPr>
          <a:lstStyle/>
          <a:p>
            <a:pPr>
              <a:spcAft>
                <a:spcPts val="600"/>
              </a:spcAft>
            </a:pPr>
            <a:r>
              <a:rPr sz="1100" b="1">
                <a:solidFill>
                  <a:srgbClr val="F4F7FA"/>
                </a:solidFill>
                <a:latin typeface="Aptos"/>
              </a:rPr>
              <a:t>Fee bands unchanged: </a:t>
            </a:r>
            <a:r>
              <a:rPr sz="1100" b="0">
                <a:solidFill>
                  <a:srgbClr val="D8E1E8"/>
                </a:solidFill>
                <a:latin typeface="Aptos"/>
              </a:rPr>
              <a:t>20% / 15% / 10%, same support tiers.</a:t>
            </a:r>
          </a:p>
          <a:p>
            <a:pPr>
              <a:spcAft>
                <a:spcPts val="600"/>
              </a:spcAft>
            </a:pPr>
            <a:r>
              <a:rPr sz="1100" b="1">
                <a:solidFill>
                  <a:srgbClr val="F4F7FA"/>
                </a:solidFill>
                <a:latin typeface="Aptos"/>
              </a:rPr>
              <a:t>Closed loop = </a:t>
            </a:r>
            <a:r>
              <a:rPr sz="1100" b="0">
                <a:solidFill>
                  <a:srgbClr val="D8E1E8"/>
                </a:solidFill>
                <a:latin typeface="Aptos"/>
              </a:rPr>
              <a:t>finding + workflow system + workflow ref + approver + execution time + measured result.</a:t>
            </a:r>
          </a:p>
          <a:p>
            <a:pPr>
              <a:spcAft>
                <a:spcPts val="0"/>
              </a:spcAft>
            </a:pPr>
            <a:r>
              <a:rPr sz="1100" b="1">
                <a:solidFill>
                  <a:srgbClr val="F4F7FA"/>
                </a:solidFill>
                <a:latin typeface="Aptos"/>
              </a:rPr>
              <a:t>Missing any one: </a:t>
            </a:r>
            <a:r>
              <a:rPr sz="1100" b="0">
                <a:solidFill>
                  <a:srgbClr val="D8E1E8"/>
                </a:solidFill>
                <a:latin typeface="Aptos"/>
              </a:rPr>
              <a:t>the negotiated attribution applies.</a:t>
            </a:r>
          </a:p>
        </p:txBody>
      </p:sp>
      <p:sp>
        <p:nvSpPr>
          <p:cNvPr id="17" name="TextBox 16"/>
          <p:cNvSpPr txBox="1"/>
          <p:nvPr/>
        </p:nvSpPr>
        <p:spPr>
          <a:xfrm>
            <a:off x="4553712" y="1920240"/>
            <a:ext cx="3136392" cy="502920"/>
          </a:xfrm>
          <a:prstGeom prst="rect">
            <a:avLst/>
          </a:prstGeom>
          <a:noFill/>
        </p:spPr>
        <p:txBody>
          <a:bodyPr wrap="square" anchor="t" lIns="0" rIns="0" tIns="0" bIns="0">
            <a:spAutoFit/>
          </a:bodyPr>
          <a:lstStyle/>
          <a:p>
            <a:pPr>
              <a:spcAft>
                <a:spcPts val="200"/>
              </a:spcAft>
            </a:pPr>
            <a:r>
              <a:rPr sz="1000" b="0">
                <a:solidFill>
                  <a:srgbClr val="8FA2B3"/>
                </a:solidFill>
                <a:latin typeface="Aptos"/>
              </a:rPr>
              <a:t>6 dips a year at −15%, fixed in ~8 h instead of ~72 h</a:t>
            </a:r>
          </a:p>
          <a:p>
            <a:pPr>
              <a:spcAft>
                <a:spcPts val="0"/>
              </a:spcAft>
            </a:pPr>
            <a:r>
              <a:rPr sz="1200" b="1">
                <a:solidFill>
                  <a:srgbClr val="F4F7FA"/>
                </a:solidFill>
                <a:latin typeface="Aptos"/>
              </a:rPr>
              <a:t>172,800 units × $0.40 = $69,120 / yr</a:t>
            </a:r>
          </a:p>
        </p:txBody>
      </p:sp>
      <p:sp>
        <p:nvSpPr>
          <p:cNvPr id="18" name="TextBox 17"/>
          <p:cNvSpPr txBox="1"/>
          <p:nvPr/>
        </p:nvSpPr>
        <p:spPr>
          <a:xfrm>
            <a:off x="4553712" y="2697480"/>
            <a:ext cx="1737360" cy="228600"/>
          </a:xfrm>
          <a:prstGeom prst="rect">
            <a:avLst/>
          </a:prstGeom>
          <a:noFill/>
        </p:spPr>
        <p:txBody>
          <a:bodyPr wrap="square" anchor="t" lIns="0" rIns="0" tIns="0" bIns="0">
            <a:spAutoFit/>
          </a:bodyPr>
          <a:lstStyle/>
          <a:p>
            <a:pPr>
              <a:spcAft>
                <a:spcPts val="0"/>
              </a:spcAft>
            </a:pPr>
            <a:r>
              <a:rPr sz="950" b="1">
                <a:solidFill>
                  <a:srgbClr val="8FA2B3"/>
                </a:solidFill>
                <a:latin typeface="Aptos"/>
              </a:rPr>
              <a:t>Attribution</a:t>
            </a:r>
          </a:p>
        </p:txBody>
      </p:sp>
      <p:sp>
        <p:nvSpPr>
          <p:cNvPr id="19" name="TextBox 18"/>
          <p:cNvSpPr txBox="1"/>
          <p:nvPr/>
        </p:nvSpPr>
        <p:spPr>
          <a:xfrm>
            <a:off x="6336792" y="2697480"/>
            <a:ext cx="777240" cy="228600"/>
          </a:xfrm>
          <a:prstGeom prst="rect">
            <a:avLst/>
          </a:prstGeom>
          <a:noFill/>
        </p:spPr>
        <p:txBody>
          <a:bodyPr wrap="square" anchor="t" lIns="0" rIns="0" tIns="0" bIns="0">
            <a:spAutoFit/>
          </a:bodyPr>
          <a:lstStyle/>
          <a:p>
            <a:pPr>
              <a:spcAft>
                <a:spcPts val="0"/>
              </a:spcAft>
            </a:pPr>
            <a:r>
              <a:rPr sz="950" b="1">
                <a:solidFill>
                  <a:srgbClr val="8FA2B3"/>
                </a:solidFill>
                <a:latin typeface="Aptos"/>
              </a:rPr>
              <a:t>Counted</a:t>
            </a:r>
          </a:p>
        </p:txBody>
      </p:sp>
      <p:sp>
        <p:nvSpPr>
          <p:cNvPr id="20" name="TextBox 19"/>
          <p:cNvSpPr txBox="1"/>
          <p:nvPr/>
        </p:nvSpPr>
        <p:spPr>
          <a:xfrm>
            <a:off x="7114032" y="2697480"/>
            <a:ext cx="594360" cy="228600"/>
          </a:xfrm>
          <a:prstGeom prst="rect">
            <a:avLst/>
          </a:prstGeom>
          <a:noFill/>
        </p:spPr>
        <p:txBody>
          <a:bodyPr wrap="square" anchor="t" lIns="0" rIns="0" tIns="0" bIns="0">
            <a:spAutoFit/>
          </a:bodyPr>
          <a:lstStyle/>
          <a:p>
            <a:pPr>
              <a:spcAft>
                <a:spcPts val="0"/>
              </a:spcAft>
            </a:pPr>
            <a:r>
              <a:rPr sz="950" b="1">
                <a:solidFill>
                  <a:srgbClr val="8FA2B3"/>
                </a:solidFill>
                <a:latin typeface="Aptos"/>
              </a:rPr>
              <a:t>Fee</a:t>
            </a:r>
          </a:p>
        </p:txBody>
      </p:sp>
      <p:sp>
        <p:nvSpPr>
          <p:cNvPr id="21" name="TextBox 20"/>
          <p:cNvSpPr txBox="1"/>
          <p:nvPr/>
        </p:nvSpPr>
        <p:spPr>
          <a:xfrm>
            <a:off x="4553712" y="2971800"/>
            <a:ext cx="1737360" cy="274320"/>
          </a:xfrm>
          <a:prstGeom prst="rect">
            <a:avLst/>
          </a:prstGeom>
          <a:noFill/>
        </p:spPr>
        <p:txBody>
          <a:bodyPr wrap="square" anchor="t" lIns="0" rIns="0" tIns="0" bIns="0">
            <a:spAutoFit/>
          </a:bodyPr>
          <a:lstStyle/>
          <a:p>
            <a:pPr>
              <a:spcAft>
                <a:spcPts val="0"/>
              </a:spcAft>
            </a:pPr>
            <a:r>
              <a:rPr sz="1100" b="1">
                <a:solidFill>
                  <a:srgbClr val="D8E1E8"/>
                </a:solidFill>
                <a:latin typeface="Aptos"/>
              </a:rPr>
              <a:t>Manual action, 60%</a:t>
            </a:r>
          </a:p>
        </p:txBody>
      </p:sp>
      <p:sp>
        <p:nvSpPr>
          <p:cNvPr id="22" name="TextBox 21"/>
          <p:cNvSpPr txBox="1"/>
          <p:nvPr/>
        </p:nvSpPr>
        <p:spPr>
          <a:xfrm>
            <a:off x="6336792" y="2971800"/>
            <a:ext cx="777240" cy="274320"/>
          </a:xfrm>
          <a:prstGeom prst="rect">
            <a:avLst/>
          </a:prstGeom>
          <a:noFill/>
        </p:spPr>
        <p:txBody>
          <a:bodyPr wrap="square" anchor="t" lIns="0" rIns="0" tIns="0" bIns="0">
            <a:spAutoFit/>
          </a:bodyPr>
          <a:lstStyle/>
          <a:p>
            <a:pPr>
              <a:spcAft>
                <a:spcPts val="0"/>
              </a:spcAft>
            </a:pPr>
            <a:r>
              <a:rPr sz="1100" b="1">
                <a:solidFill>
                  <a:srgbClr val="D8E1E8"/>
                </a:solidFill>
                <a:latin typeface="Aptos"/>
              </a:rPr>
              <a:t>$41,472</a:t>
            </a:r>
          </a:p>
        </p:txBody>
      </p:sp>
      <p:sp>
        <p:nvSpPr>
          <p:cNvPr id="23" name="TextBox 22"/>
          <p:cNvSpPr txBox="1"/>
          <p:nvPr/>
        </p:nvSpPr>
        <p:spPr>
          <a:xfrm>
            <a:off x="7114032" y="2971800"/>
            <a:ext cx="594360" cy="274320"/>
          </a:xfrm>
          <a:prstGeom prst="rect">
            <a:avLst/>
          </a:prstGeom>
          <a:noFill/>
        </p:spPr>
        <p:txBody>
          <a:bodyPr wrap="square" anchor="t" lIns="0" rIns="0" tIns="0" bIns="0">
            <a:spAutoFit/>
          </a:bodyPr>
          <a:lstStyle/>
          <a:p>
            <a:pPr>
              <a:spcAft>
                <a:spcPts val="0"/>
              </a:spcAft>
            </a:pPr>
            <a:r>
              <a:rPr sz="1100" b="1">
                <a:solidFill>
                  <a:srgbClr val="D8E1E8"/>
                </a:solidFill>
                <a:latin typeface="Aptos"/>
              </a:rPr>
              <a:t>$8,294</a:t>
            </a:r>
          </a:p>
        </p:txBody>
      </p:sp>
      <p:sp>
        <p:nvSpPr>
          <p:cNvPr id="24" name="TextBox 23"/>
          <p:cNvSpPr txBox="1"/>
          <p:nvPr/>
        </p:nvSpPr>
        <p:spPr>
          <a:xfrm>
            <a:off x="4553712" y="3355848"/>
            <a:ext cx="1737360" cy="274320"/>
          </a:xfrm>
          <a:prstGeom prst="rect">
            <a:avLst/>
          </a:prstGeom>
          <a:noFill/>
        </p:spPr>
        <p:txBody>
          <a:bodyPr wrap="square" anchor="t" lIns="0" rIns="0" tIns="0" bIns="0">
            <a:spAutoFit/>
          </a:bodyPr>
          <a:lstStyle/>
          <a:p>
            <a:pPr>
              <a:spcAft>
                <a:spcPts val="0"/>
              </a:spcAft>
            </a:pPr>
            <a:r>
              <a:rPr sz="1100" b="1">
                <a:solidFill>
                  <a:srgbClr val="50B89B"/>
                </a:solidFill>
                <a:latin typeface="Aptos"/>
              </a:rPr>
              <a:t>Closed-loop BPA, 75%</a:t>
            </a:r>
          </a:p>
        </p:txBody>
      </p:sp>
      <p:sp>
        <p:nvSpPr>
          <p:cNvPr id="25" name="TextBox 24"/>
          <p:cNvSpPr txBox="1"/>
          <p:nvPr/>
        </p:nvSpPr>
        <p:spPr>
          <a:xfrm>
            <a:off x="6336792" y="3355848"/>
            <a:ext cx="777240" cy="274320"/>
          </a:xfrm>
          <a:prstGeom prst="rect">
            <a:avLst/>
          </a:prstGeom>
          <a:noFill/>
        </p:spPr>
        <p:txBody>
          <a:bodyPr wrap="square" anchor="t" lIns="0" rIns="0" tIns="0" bIns="0">
            <a:spAutoFit/>
          </a:bodyPr>
          <a:lstStyle/>
          <a:p>
            <a:pPr>
              <a:spcAft>
                <a:spcPts val="0"/>
              </a:spcAft>
            </a:pPr>
            <a:r>
              <a:rPr sz="1100" b="1">
                <a:solidFill>
                  <a:srgbClr val="50B89B"/>
                </a:solidFill>
                <a:latin typeface="Aptos"/>
              </a:rPr>
              <a:t>$51,840</a:t>
            </a:r>
          </a:p>
        </p:txBody>
      </p:sp>
      <p:sp>
        <p:nvSpPr>
          <p:cNvPr id="26" name="TextBox 25"/>
          <p:cNvSpPr txBox="1"/>
          <p:nvPr/>
        </p:nvSpPr>
        <p:spPr>
          <a:xfrm>
            <a:off x="7114032" y="3355848"/>
            <a:ext cx="594360" cy="274320"/>
          </a:xfrm>
          <a:prstGeom prst="rect">
            <a:avLst/>
          </a:prstGeom>
          <a:noFill/>
        </p:spPr>
        <p:txBody>
          <a:bodyPr wrap="square" anchor="t" lIns="0" rIns="0" tIns="0" bIns="0">
            <a:spAutoFit/>
          </a:bodyPr>
          <a:lstStyle/>
          <a:p>
            <a:pPr>
              <a:spcAft>
                <a:spcPts val="0"/>
              </a:spcAft>
            </a:pPr>
            <a:r>
              <a:rPr sz="1100" b="1">
                <a:solidFill>
                  <a:srgbClr val="50B89B"/>
                </a:solidFill>
                <a:latin typeface="Aptos"/>
              </a:rPr>
              <a:t>$10,368</a:t>
            </a:r>
          </a:p>
        </p:txBody>
      </p:sp>
      <p:sp>
        <p:nvSpPr>
          <p:cNvPr id="27" name="TextBox 26"/>
          <p:cNvSpPr txBox="1"/>
          <p:nvPr/>
        </p:nvSpPr>
        <p:spPr>
          <a:xfrm>
            <a:off x="4553712" y="3886200"/>
            <a:ext cx="3136392" cy="1005840"/>
          </a:xfrm>
          <a:prstGeom prst="rect">
            <a:avLst/>
          </a:prstGeom>
          <a:noFill/>
        </p:spPr>
        <p:txBody>
          <a:bodyPr wrap="square" anchor="t" lIns="0" rIns="0" tIns="0" bIns="0">
            <a:spAutoFit/>
          </a:bodyPr>
          <a:lstStyle/>
          <a:p>
            <a:pPr>
              <a:spcAft>
                <a:spcPts val="0"/>
              </a:spcAft>
            </a:pPr>
            <a:r>
              <a:rPr sz="1100" b="0">
                <a:solidFill>
                  <a:srgbClr val="D8E1E8"/>
                </a:solidFill>
                <a:latin typeface="Aptos"/>
              </a:rPr>
              <a:t>The customer keeps $58,752 of the $69,120 and gets the loss fixed in hours, not days. DMI earns $2,074 more only because the evidence is complete.</a:t>
            </a:r>
          </a:p>
        </p:txBody>
      </p:sp>
      <p:sp>
        <p:nvSpPr>
          <p:cNvPr id="28" name="TextBox 27"/>
          <p:cNvSpPr txBox="1"/>
          <p:nvPr/>
        </p:nvSpPr>
        <p:spPr>
          <a:xfrm>
            <a:off x="8330183" y="1920240"/>
            <a:ext cx="3136392" cy="3017520"/>
          </a:xfrm>
          <a:prstGeom prst="rect">
            <a:avLst/>
          </a:prstGeom>
          <a:noFill/>
        </p:spPr>
        <p:txBody>
          <a:bodyPr wrap="square" anchor="t" lIns="0" rIns="0" tIns="0" bIns="0">
            <a:spAutoFit/>
          </a:bodyPr>
          <a:lstStyle/>
          <a:p>
            <a:pPr>
              <a:spcAft>
                <a:spcPts val="800"/>
              </a:spcAft>
            </a:pPr>
            <a:r>
              <a:rPr sz="1100" b="1">
                <a:solidFill>
                  <a:srgbClr val="F4F7FA"/>
                </a:solidFill>
                <a:latin typeface="Aptos"/>
              </a:rPr>
              <a:t>Attribution disputes: </a:t>
            </a:r>
            <a:r>
              <a:rPr sz="1100" b="0">
                <a:solidFill>
                  <a:srgbClr val="D8E1E8"/>
                </a:solidFill>
                <a:latin typeface="Aptos"/>
              </a:rPr>
              <a:t>a timestamped chain answers “did DMI cause this?”</a:t>
            </a:r>
          </a:p>
          <a:p>
            <a:pPr>
              <a:spcAft>
                <a:spcPts val="800"/>
              </a:spcAft>
            </a:pPr>
            <a:r>
              <a:rPr sz="1100" b="1">
                <a:solidFill>
                  <a:srgbClr val="F4F7FA"/>
                </a:solidFill>
                <a:latin typeface="Aptos"/>
              </a:rPr>
              <a:t>Finance-grade evidence: </a:t>
            </a:r>
            <a:r>
              <a:rPr sz="1100" b="0">
                <a:solidFill>
                  <a:srgbClr val="D8E1E8"/>
                </a:solidFill>
                <a:latin typeface="Aptos"/>
              </a:rPr>
              <a:t>the workflow record is the P0 finding → action → result item.</a:t>
            </a:r>
          </a:p>
          <a:p>
            <a:pPr>
              <a:spcAft>
                <a:spcPts val="800"/>
              </a:spcAft>
            </a:pPr>
            <a:r>
              <a:rPr sz="1100" b="1">
                <a:solidFill>
                  <a:srgbClr val="F4F7FA"/>
                </a:solidFill>
                <a:latin typeface="Aptos"/>
              </a:rPr>
              <a:t>Slow verification: </a:t>
            </a:r>
            <a:r>
              <a:rPr sz="1100" b="0">
                <a:solidFill>
                  <a:srgbClr val="D8E1E8"/>
                </a:solidFill>
                <a:latin typeface="Aptos"/>
              </a:rPr>
              <a:t>results are measured after every action, not at year end.</a:t>
            </a:r>
          </a:p>
          <a:p>
            <a:pPr>
              <a:spcAft>
                <a:spcPts val="0"/>
              </a:spcAft>
            </a:pPr>
            <a:r>
              <a:rPr sz="1100" b="1">
                <a:solidFill>
                  <a:srgbClr val="F4F7FA"/>
                </a:solidFill>
                <a:latin typeface="Aptos"/>
              </a:rPr>
              <a:t>Still required: </a:t>
            </a:r>
            <a:r>
              <a:rPr sz="1100" b="0">
                <a:solidFill>
                  <a:srgbClr val="D8E1E8"/>
                </a:solidFill>
                <a:latin typeface="Aptos"/>
              </a:rPr>
              <a:t>signed baseline, data-quality gates and Finance approval.</a:t>
            </a:r>
          </a:p>
        </p:txBody>
      </p:sp>
      <p:sp>
        <p:nvSpPr>
          <p:cNvPr id="29" name="TextBox 28"/>
          <p:cNvSpPr txBox="1"/>
          <p:nvPr/>
        </p:nvSpPr>
        <p:spPr>
          <a:xfrm>
            <a:off x="594360" y="5285232"/>
            <a:ext cx="11009376" cy="292608"/>
          </a:xfrm>
          <a:prstGeom prst="rect">
            <a:avLst/>
          </a:prstGeom>
          <a:noFill/>
        </p:spPr>
        <p:txBody>
          <a:bodyPr wrap="square" anchor="t" lIns="0" rIns="0" tIns="0" bIns="0">
            <a:spAutoFit/>
          </a:bodyPr>
          <a:lstStyle/>
          <a:p>
            <a:pPr>
              <a:spcAft>
                <a:spcPts val="0"/>
              </a:spcAft>
            </a:pPr>
            <a:r>
              <a:rPr sz="1200" b="1">
                <a:solidFill>
                  <a:srgbClr val="F4F7FA"/>
                </a:solidFill>
                <a:latin typeface="Aptos"/>
              </a:rPr>
              <a:t>Status: </a:t>
            </a:r>
            <a:r>
              <a:rPr sz="1200" b="0">
                <a:solidFill>
                  <a:srgbClr val="F4F7FA"/>
                </a:solidFill>
                <a:latin typeface="Aptos"/>
              </a:rPr>
              <a:t>BPA ships now: DMI work orders, Teams and Power Automate. Linking a workflow to its saving fills the closed-loop fields.</a:t>
            </a:r>
          </a:p>
        </p:txBody>
      </p:sp>
      <p:sp>
        <p:nvSpPr>
          <p:cNvPr id="30" name="TextBox 29"/>
          <p:cNvSpPr txBox="1"/>
          <p:nvPr/>
        </p:nvSpPr>
        <p:spPr>
          <a:xfrm>
            <a:off x="594360" y="5715000"/>
            <a:ext cx="11009376" cy="365760"/>
          </a:xfrm>
          <a:prstGeom prst="rect">
            <a:avLst/>
          </a:prstGeom>
          <a:noFill/>
        </p:spPr>
        <p:txBody>
          <a:bodyPr wrap="square" anchor="t" lIns="0" rIns="0" tIns="0" bIns="0">
            <a:spAutoFit/>
          </a:bodyPr>
          <a:lstStyle/>
          <a:p>
            <a:pPr>
              <a:spcAft>
                <a:spcPts val="0"/>
              </a:spcAft>
            </a:pPr>
            <a:r>
              <a:rPr sz="900" b="0">
                <a:solidFill>
                  <a:srgbClr val="8FA2B3"/>
                </a:solidFill>
                <a:latin typeface="Aptos"/>
              </a:rPr>
              <a:t>Commercial proposal, not a price list. Source: CogniWerks DMI Shared-Savings SME Strategy v4 (Oct 2026), section 12; DMI Value Model, Savings Register SO-0009. Example is illustrative, not a realized DMI result.</a:t>
            </a:r>
          </a:p>
        </p:txBody>
      </p:sp>
      <p:sp>
        <p:nvSpPr>
          <p:cNvPr id="30"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21</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Illustrative 5-year financial model</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A scenario for investor discussion - not a forecast. Built from the current pilot and plant-license assumptions.</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822960" y="5074920"/>
            <a:ext cx="6400800" cy="0"/>
          </a:xfrm>
          <a:prstGeom prst="line">
            <a:avLst/>
          </a:prstGeom>
          <a:noFill/>
          <a:ln w="12700">
            <a:solidFill>
              <a:srgbClr val="274052"/>
            </a:solidFill>
            <a:prstDash val="solid"/>
          </a:ln>
        </p:spPr>
        <p:txBody>
          <a:bodyPr/>
          <a:lstStyle/>
          <a:p>
            <a:endParaRPr/>
          </a:p>
        </p:txBody>
      </p:sp>
      <p:sp>
        <p:nvSpPr>
          <p:cNvPr id="6" name="Shape 3"/>
          <p:cNvSpPr/>
          <p:nvPr/>
        </p:nvSpPr>
        <p:spPr>
          <a:xfrm>
            <a:off x="822960" y="1508760"/>
            <a:ext cx="0" cy="3566160"/>
          </a:xfrm>
          <a:prstGeom prst="line">
            <a:avLst/>
          </a:prstGeom>
          <a:noFill/>
          <a:ln w="12700">
            <a:solidFill>
              <a:srgbClr val="274052"/>
            </a:solidFill>
            <a:prstDash val="solid"/>
          </a:ln>
        </p:spPr>
        <p:txBody>
          <a:bodyPr/>
          <a:lstStyle/>
          <a:p>
            <a:endParaRPr/>
          </a:p>
        </p:txBody>
      </p:sp>
      <p:sp>
        <p:nvSpPr>
          <p:cNvPr id="7" name="Shape 4"/>
          <p:cNvSpPr/>
          <p:nvPr/>
        </p:nvSpPr>
        <p:spPr>
          <a:xfrm>
            <a:off x="1325880" y="5041106"/>
            <a:ext cx="658368" cy="33814"/>
          </a:xfrm>
          <a:prstGeom prst="rect">
            <a:avLst/>
          </a:prstGeom>
          <a:solidFill>
            <a:srgbClr val="C85D37"/>
          </a:solidFill>
          <a:ln w="12700">
            <a:solidFill>
              <a:srgbClr val="C85D37"/>
            </a:solidFill>
            <a:prstDash val="solid"/>
          </a:ln>
        </p:spPr>
        <p:txBody>
          <a:bodyPr/>
          <a:lstStyle/>
          <a:p>
            <a:endParaRPr/>
          </a:p>
        </p:txBody>
      </p:sp>
      <p:sp>
        <p:nvSpPr>
          <p:cNvPr id="8" name="Text 5"/>
          <p:cNvSpPr/>
          <p:nvPr/>
        </p:nvSpPr>
        <p:spPr>
          <a:xfrm>
            <a:off x="1188720" y="4748498"/>
            <a:ext cx="960120"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$0.25M</a:t>
            </a:r>
            <a:endParaRPr lang="en-US" sz="850" dirty="0"/>
          </a:p>
        </p:txBody>
      </p:sp>
      <p:sp>
        <p:nvSpPr>
          <p:cNvPr id="9" name="Text 6"/>
          <p:cNvSpPr/>
          <p:nvPr/>
        </p:nvSpPr>
        <p:spPr>
          <a:xfrm>
            <a:off x="1234440" y="5148072"/>
            <a:ext cx="868680" cy="228600"/>
          </a:xfrm>
          <a:prstGeom prst="rect">
            <a:avLst/>
          </a:prstGeom>
          <a:noFill/>
          <a:ln/>
        </p:spPr>
        <p:txBody>
          <a:bodyPr wrap="square" lIns="0" tIns="0" rIns="0" bIns="0" rtlCol="0" anchor="ctr">
            <a:normAutofit/>
          </a:bodyPr>
          <a:lstStyle/>
          <a:p>
            <a:pPr marL="0" indent="0" algn="ctr">
              <a:buNone/>
            </a:pPr>
            <a:r>
              <a:rPr lang="en-US" sz="800" b="1" dirty="0">
                <a:solidFill>
                  <a:srgbClr val="8FA2B3"/>
                </a:solidFill>
                <a:latin typeface="Aptos" pitchFamily="34" charset="0"/>
                <a:ea typeface="Aptos" pitchFamily="34" charset="-122"/>
                <a:cs typeface="Aptos" pitchFamily="34" charset="-120"/>
              </a:rPr>
              <a:t>Y1</a:t>
            </a:r>
            <a:endParaRPr lang="en-US" sz="800" dirty="0"/>
          </a:p>
        </p:txBody>
      </p:sp>
      <p:sp>
        <p:nvSpPr>
          <p:cNvPr id="10" name="Shape 7"/>
          <p:cNvSpPr/>
          <p:nvPr/>
        </p:nvSpPr>
        <p:spPr>
          <a:xfrm>
            <a:off x="2496312" y="4899089"/>
            <a:ext cx="658368" cy="175832"/>
          </a:xfrm>
          <a:prstGeom prst="rect">
            <a:avLst/>
          </a:prstGeom>
          <a:solidFill>
            <a:srgbClr val="C85D37"/>
          </a:solidFill>
          <a:ln w="12700">
            <a:solidFill>
              <a:srgbClr val="C85D37"/>
            </a:solidFill>
            <a:prstDash val="solid"/>
          </a:ln>
        </p:spPr>
        <p:txBody>
          <a:bodyPr/>
          <a:lstStyle/>
          <a:p>
            <a:endParaRPr/>
          </a:p>
        </p:txBody>
      </p:sp>
      <p:sp>
        <p:nvSpPr>
          <p:cNvPr id="11" name="Text 8"/>
          <p:cNvSpPr/>
          <p:nvPr/>
        </p:nvSpPr>
        <p:spPr>
          <a:xfrm>
            <a:off x="2359152" y="4606480"/>
            <a:ext cx="960120"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$1.3M</a:t>
            </a:r>
            <a:endParaRPr lang="en-US" sz="850" dirty="0"/>
          </a:p>
        </p:txBody>
      </p:sp>
      <p:sp>
        <p:nvSpPr>
          <p:cNvPr id="12" name="Text 9"/>
          <p:cNvSpPr/>
          <p:nvPr/>
        </p:nvSpPr>
        <p:spPr>
          <a:xfrm>
            <a:off x="2404872" y="5148072"/>
            <a:ext cx="868680" cy="228600"/>
          </a:xfrm>
          <a:prstGeom prst="rect">
            <a:avLst/>
          </a:prstGeom>
          <a:noFill/>
          <a:ln/>
        </p:spPr>
        <p:txBody>
          <a:bodyPr wrap="square" lIns="0" tIns="0" rIns="0" bIns="0" rtlCol="0" anchor="ctr">
            <a:normAutofit/>
          </a:bodyPr>
          <a:lstStyle/>
          <a:p>
            <a:pPr marL="0" indent="0" algn="ctr">
              <a:buNone/>
            </a:pPr>
            <a:r>
              <a:rPr lang="en-US" sz="800" b="1" dirty="0">
                <a:solidFill>
                  <a:srgbClr val="8FA2B3"/>
                </a:solidFill>
                <a:latin typeface="Aptos" pitchFamily="34" charset="0"/>
                <a:ea typeface="Aptos" pitchFamily="34" charset="-122"/>
                <a:cs typeface="Aptos" pitchFamily="34" charset="-120"/>
              </a:rPr>
              <a:t>Y2</a:t>
            </a:r>
            <a:endParaRPr lang="en-US" sz="800" dirty="0"/>
          </a:p>
        </p:txBody>
      </p:sp>
      <p:sp>
        <p:nvSpPr>
          <p:cNvPr id="13" name="Shape 10"/>
          <p:cNvSpPr/>
          <p:nvPr/>
        </p:nvSpPr>
        <p:spPr>
          <a:xfrm>
            <a:off x="3666744" y="4506849"/>
            <a:ext cx="658368" cy="568071"/>
          </a:xfrm>
          <a:prstGeom prst="rect">
            <a:avLst/>
          </a:prstGeom>
          <a:solidFill>
            <a:srgbClr val="C85D37"/>
          </a:solidFill>
          <a:ln w="12700">
            <a:solidFill>
              <a:srgbClr val="C85D37"/>
            </a:solidFill>
            <a:prstDash val="solid"/>
          </a:ln>
        </p:spPr>
        <p:txBody>
          <a:bodyPr/>
          <a:lstStyle/>
          <a:p>
            <a:endParaRPr/>
          </a:p>
        </p:txBody>
      </p:sp>
      <p:sp>
        <p:nvSpPr>
          <p:cNvPr id="14" name="Text 11"/>
          <p:cNvSpPr/>
          <p:nvPr/>
        </p:nvSpPr>
        <p:spPr>
          <a:xfrm>
            <a:off x="3529584" y="4214241"/>
            <a:ext cx="960120"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$4.2M</a:t>
            </a:r>
            <a:endParaRPr lang="en-US" sz="850" dirty="0"/>
          </a:p>
        </p:txBody>
      </p:sp>
      <p:sp>
        <p:nvSpPr>
          <p:cNvPr id="15" name="Text 12"/>
          <p:cNvSpPr/>
          <p:nvPr/>
        </p:nvSpPr>
        <p:spPr>
          <a:xfrm>
            <a:off x="3575304" y="5148072"/>
            <a:ext cx="868680" cy="228600"/>
          </a:xfrm>
          <a:prstGeom prst="rect">
            <a:avLst/>
          </a:prstGeom>
          <a:noFill/>
          <a:ln/>
        </p:spPr>
        <p:txBody>
          <a:bodyPr wrap="square" lIns="0" tIns="0" rIns="0" bIns="0" rtlCol="0" anchor="ctr">
            <a:normAutofit/>
          </a:bodyPr>
          <a:lstStyle/>
          <a:p>
            <a:pPr marL="0" indent="0" algn="ctr">
              <a:buNone/>
            </a:pPr>
            <a:r>
              <a:rPr lang="en-US" sz="800" b="1" dirty="0">
                <a:solidFill>
                  <a:srgbClr val="8FA2B3"/>
                </a:solidFill>
                <a:latin typeface="Aptos" pitchFamily="34" charset="0"/>
                <a:ea typeface="Aptos" pitchFamily="34" charset="-122"/>
                <a:cs typeface="Aptos" pitchFamily="34" charset="-120"/>
              </a:rPr>
              <a:t>Y3</a:t>
            </a:r>
            <a:endParaRPr lang="en-US" sz="800" dirty="0"/>
          </a:p>
        </p:txBody>
      </p:sp>
      <p:sp>
        <p:nvSpPr>
          <p:cNvPr id="16" name="Shape 13"/>
          <p:cNvSpPr/>
          <p:nvPr/>
        </p:nvSpPr>
        <p:spPr>
          <a:xfrm>
            <a:off x="4837176" y="3654743"/>
            <a:ext cx="658368" cy="1420177"/>
          </a:xfrm>
          <a:prstGeom prst="rect">
            <a:avLst/>
          </a:prstGeom>
          <a:solidFill>
            <a:srgbClr val="C85D37"/>
          </a:solidFill>
          <a:ln w="12700">
            <a:solidFill>
              <a:srgbClr val="C85D37"/>
            </a:solidFill>
            <a:prstDash val="solid"/>
          </a:ln>
        </p:spPr>
        <p:txBody>
          <a:bodyPr/>
          <a:lstStyle/>
          <a:p>
            <a:endParaRPr/>
          </a:p>
        </p:txBody>
      </p:sp>
      <p:sp>
        <p:nvSpPr>
          <p:cNvPr id="17" name="Text 14"/>
          <p:cNvSpPr/>
          <p:nvPr/>
        </p:nvSpPr>
        <p:spPr>
          <a:xfrm>
            <a:off x="4700016" y="3362135"/>
            <a:ext cx="960120"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$10.5M</a:t>
            </a:r>
            <a:endParaRPr lang="en-US" sz="850" dirty="0"/>
          </a:p>
        </p:txBody>
      </p:sp>
      <p:sp>
        <p:nvSpPr>
          <p:cNvPr id="18" name="Text 15"/>
          <p:cNvSpPr/>
          <p:nvPr/>
        </p:nvSpPr>
        <p:spPr>
          <a:xfrm>
            <a:off x="4745736" y="5148072"/>
            <a:ext cx="868680" cy="228600"/>
          </a:xfrm>
          <a:prstGeom prst="rect">
            <a:avLst/>
          </a:prstGeom>
          <a:noFill/>
          <a:ln/>
        </p:spPr>
        <p:txBody>
          <a:bodyPr wrap="square" lIns="0" tIns="0" rIns="0" bIns="0" rtlCol="0" anchor="ctr">
            <a:normAutofit/>
          </a:bodyPr>
          <a:lstStyle/>
          <a:p>
            <a:pPr marL="0" indent="0" algn="ctr">
              <a:buNone/>
            </a:pPr>
            <a:r>
              <a:rPr lang="en-US" sz="800" b="1" dirty="0">
                <a:solidFill>
                  <a:srgbClr val="8FA2B3"/>
                </a:solidFill>
                <a:latin typeface="Aptos" pitchFamily="34" charset="0"/>
                <a:ea typeface="Aptos" pitchFamily="34" charset="-122"/>
                <a:cs typeface="Aptos" pitchFamily="34" charset="-120"/>
              </a:rPr>
              <a:t>Y4</a:t>
            </a:r>
            <a:endParaRPr lang="en-US" sz="800" dirty="0"/>
          </a:p>
        </p:txBody>
      </p:sp>
      <p:sp>
        <p:nvSpPr>
          <p:cNvPr id="19" name="Shape 16"/>
          <p:cNvSpPr/>
          <p:nvPr/>
        </p:nvSpPr>
        <p:spPr>
          <a:xfrm>
            <a:off x="6007608" y="2099310"/>
            <a:ext cx="658368" cy="2975610"/>
          </a:xfrm>
          <a:prstGeom prst="rect">
            <a:avLst/>
          </a:prstGeom>
          <a:solidFill>
            <a:srgbClr val="C85D37"/>
          </a:solidFill>
          <a:ln w="12700">
            <a:solidFill>
              <a:srgbClr val="C85D37"/>
            </a:solidFill>
            <a:prstDash val="solid"/>
          </a:ln>
        </p:spPr>
        <p:txBody>
          <a:bodyPr/>
          <a:lstStyle/>
          <a:p>
            <a:endParaRPr/>
          </a:p>
        </p:txBody>
      </p:sp>
      <p:sp>
        <p:nvSpPr>
          <p:cNvPr id="20" name="Text 17"/>
          <p:cNvSpPr/>
          <p:nvPr/>
        </p:nvSpPr>
        <p:spPr>
          <a:xfrm>
            <a:off x="5870448" y="1806702"/>
            <a:ext cx="960120" cy="228600"/>
          </a:xfrm>
          <a:prstGeom prst="rect">
            <a:avLst/>
          </a:prstGeom>
          <a:noFill/>
          <a:ln/>
        </p:spPr>
        <p:txBody>
          <a:bodyPr wrap="square" lIns="0" tIns="0" rIns="0" bIns="0" rtlCol="0" anchor="ctr">
            <a:normAutofit/>
          </a:bodyPr>
          <a:lstStyle/>
          <a:p>
            <a:pPr marL="0" indent="0" algn="ctr">
              <a:buNone/>
            </a:pPr>
            <a:r>
              <a:rPr lang="en-US" sz="850" b="1" dirty="0">
                <a:solidFill>
                  <a:srgbClr val="F4F7FA"/>
                </a:solidFill>
                <a:latin typeface="Aptos" pitchFamily="34" charset="0"/>
                <a:ea typeface="Aptos" pitchFamily="34" charset="-122"/>
                <a:cs typeface="Aptos" pitchFamily="34" charset="-120"/>
              </a:rPr>
              <a:t>$22.0M</a:t>
            </a:r>
            <a:endParaRPr lang="en-US" sz="850" dirty="0"/>
          </a:p>
        </p:txBody>
      </p:sp>
      <p:sp>
        <p:nvSpPr>
          <p:cNvPr id="21" name="Text 18"/>
          <p:cNvSpPr/>
          <p:nvPr/>
        </p:nvSpPr>
        <p:spPr>
          <a:xfrm>
            <a:off x="5916168" y="5148072"/>
            <a:ext cx="868680" cy="228600"/>
          </a:xfrm>
          <a:prstGeom prst="rect">
            <a:avLst/>
          </a:prstGeom>
          <a:noFill/>
          <a:ln/>
        </p:spPr>
        <p:txBody>
          <a:bodyPr wrap="square" lIns="0" tIns="0" rIns="0" bIns="0" rtlCol="0" anchor="ctr">
            <a:normAutofit/>
          </a:bodyPr>
          <a:lstStyle/>
          <a:p>
            <a:pPr marL="0" indent="0" algn="ctr">
              <a:buNone/>
            </a:pPr>
            <a:r>
              <a:rPr lang="en-US" sz="800" b="1" dirty="0">
                <a:solidFill>
                  <a:srgbClr val="8FA2B3"/>
                </a:solidFill>
                <a:latin typeface="Aptos" pitchFamily="34" charset="0"/>
                <a:ea typeface="Aptos" pitchFamily="34" charset="-122"/>
                <a:cs typeface="Aptos" pitchFamily="34" charset="-120"/>
              </a:rPr>
              <a:t>Y5</a:t>
            </a:r>
            <a:endParaRPr lang="en-US" sz="800" dirty="0"/>
          </a:p>
        </p:txBody>
      </p:sp>
      <p:sp>
        <p:nvSpPr>
          <p:cNvPr id="22" name="Shape 19"/>
          <p:cNvSpPr/>
          <p:nvPr/>
        </p:nvSpPr>
        <p:spPr>
          <a:xfrm>
            <a:off x="7818120" y="1325880"/>
            <a:ext cx="3520440" cy="1188720"/>
          </a:xfrm>
          <a:prstGeom prst="roundRect">
            <a:avLst>
              <a:gd name="adj" fmla="val 3846"/>
            </a:avLst>
          </a:prstGeom>
          <a:solidFill>
            <a:srgbClr val="0E1D2C"/>
          </a:solidFill>
          <a:ln w="12700">
            <a:solidFill>
              <a:srgbClr val="274052"/>
            </a:solidFill>
            <a:prstDash val="solid"/>
          </a:ln>
        </p:spPr>
        <p:txBody>
          <a:bodyPr/>
          <a:lstStyle/>
          <a:p>
            <a:endParaRPr/>
          </a:p>
        </p:txBody>
      </p:sp>
      <p:sp>
        <p:nvSpPr>
          <p:cNvPr id="23" name="Shape 20"/>
          <p:cNvSpPr/>
          <p:nvPr/>
        </p:nvSpPr>
        <p:spPr>
          <a:xfrm>
            <a:off x="7818120" y="1325880"/>
            <a:ext cx="45720" cy="1188720"/>
          </a:xfrm>
          <a:prstGeom prst="rect">
            <a:avLst/>
          </a:prstGeom>
          <a:solidFill>
            <a:srgbClr val="4EA3D8"/>
          </a:solidFill>
          <a:ln w="12700">
            <a:solidFill>
              <a:srgbClr val="4EA3D8"/>
            </a:solidFill>
            <a:prstDash val="solid"/>
          </a:ln>
        </p:spPr>
        <p:txBody>
          <a:bodyPr/>
          <a:lstStyle/>
          <a:p>
            <a:endParaRPr/>
          </a:p>
        </p:txBody>
      </p:sp>
      <p:sp>
        <p:nvSpPr>
          <p:cNvPr id="24" name="Text 21"/>
          <p:cNvSpPr/>
          <p:nvPr/>
        </p:nvSpPr>
        <p:spPr>
          <a:xfrm>
            <a:off x="7982712" y="1444752"/>
            <a:ext cx="324612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SITE EXPANSION</a:t>
            </a:r>
            <a:endParaRPr lang="en-US" sz="1100" dirty="0"/>
          </a:p>
        </p:txBody>
      </p:sp>
      <p:sp>
        <p:nvSpPr>
          <p:cNvPr id="25" name="Text 22"/>
          <p:cNvSpPr/>
          <p:nvPr/>
        </p:nvSpPr>
        <p:spPr>
          <a:xfrm>
            <a:off x="7982712" y="1764792"/>
            <a:ext cx="3246120" cy="6583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2 → 7 → 20 → 48 → 95 production sites</a:t>
            </a:r>
            <a:endParaRPr lang="en-US" sz="950" dirty="0"/>
          </a:p>
        </p:txBody>
      </p:sp>
      <p:sp>
        <p:nvSpPr>
          <p:cNvPr id="26" name="Shape 23"/>
          <p:cNvSpPr/>
          <p:nvPr/>
        </p:nvSpPr>
        <p:spPr>
          <a:xfrm>
            <a:off x="7818120" y="2743200"/>
            <a:ext cx="3520440" cy="1188720"/>
          </a:xfrm>
          <a:prstGeom prst="roundRect">
            <a:avLst>
              <a:gd name="adj" fmla="val 3846"/>
            </a:avLst>
          </a:prstGeom>
          <a:solidFill>
            <a:srgbClr val="0E1D2C"/>
          </a:solidFill>
          <a:ln w="12700">
            <a:solidFill>
              <a:srgbClr val="274052"/>
            </a:solidFill>
            <a:prstDash val="solid"/>
          </a:ln>
        </p:spPr>
        <p:txBody>
          <a:bodyPr/>
          <a:lstStyle/>
          <a:p>
            <a:endParaRPr/>
          </a:p>
        </p:txBody>
      </p:sp>
      <p:sp>
        <p:nvSpPr>
          <p:cNvPr id="27" name="Shape 24"/>
          <p:cNvSpPr/>
          <p:nvPr/>
        </p:nvSpPr>
        <p:spPr>
          <a:xfrm>
            <a:off x="7818120" y="2743200"/>
            <a:ext cx="45720" cy="1188720"/>
          </a:xfrm>
          <a:prstGeom prst="rect">
            <a:avLst/>
          </a:prstGeom>
          <a:solidFill>
            <a:srgbClr val="50B89B"/>
          </a:solidFill>
          <a:ln w="12700">
            <a:solidFill>
              <a:srgbClr val="50B89B"/>
            </a:solidFill>
            <a:prstDash val="solid"/>
          </a:ln>
        </p:spPr>
        <p:txBody>
          <a:bodyPr/>
          <a:lstStyle/>
          <a:p>
            <a:endParaRPr/>
          </a:p>
        </p:txBody>
      </p:sp>
      <p:sp>
        <p:nvSpPr>
          <p:cNvPr id="28" name="Text 25"/>
          <p:cNvSpPr/>
          <p:nvPr/>
        </p:nvSpPr>
        <p:spPr>
          <a:xfrm>
            <a:off x="7982712" y="2862072"/>
            <a:ext cx="324612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GROSS MARGIN</a:t>
            </a:r>
            <a:endParaRPr lang="en-US" sz="1100" dirty="0"/>
          </a:p>
        </p:txBody>
      </p:sp>
      <p:sp>
        <p:nvSpPr>
          <p:cNvPr id="29" name="Text 26"/>
          <p:cNvSpPr/>
          <p:nvPr/>
        </p:nvSpPr>
        <p:spPr>
          <a:xfrm>
            <a:off x="7982712" y="3182112"/>
            <a:ext cx="3246120" cy="6583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35% → 50% → 62% → 70% → 75%</a:t>
            </a:r>
            <a:endParaRPr lang="en-US" sz="950" dirty="0"/>
          </a:p>
        </p:txBody>
      </p:sp>
      <p:sp>
        <p:nvSpPr>
          <p:cNvPr id="30" name="Shape 27"/>
          <p:cNvSpPr/>
          <p:nvPr/>
        </p:nvSpPr>
        <p:spPr>
          <a:xfrm>
            <a:off x="7818120" y="4160520"/>
            <a:ext cx="3520440" cy="1188720"/>
          </a:xfrm>
          <a:prstGeom prst="roundRect">
            <a:avLst>
              <a:gd name="adj" fmla="val 3846"/>
            </a:avLst>
          </a:prstGeom>
          <a:solidFill>
            <a:srgbClr val="0E1D2C"/>
          </a:solidFill>
          <a:ln w="12700">
            <a:solidFill>
              <a:srgbClr val="274052"/>
            </a:solidFill>
            <a:prstDash val="solid"/>
          </a:ln>
        </p:spPr>
        <p:txBody>
          <a:bodyPr/>
          <a:lstStyle/>
          <a:p>
            <a:endParaRPr/>
          </a:p>
        </p:txBody>
      </p:sp>
      <p:sp>
        <p:nvSpPr>
          <p:cNvPr id="31" name="Shape 28"/>
          <p:cNvSpPr/>
          <p:nvPr/>
        </p:nvSpPr>
        <p:spPr>
          <a:xfrm>
            <a:off x="7818120" y="4160520"/>
            <a:ext cx="45720" cy="1188720"/>
          </a:xfrm>
          <a:prstGeom prst="rect">
            <a:avLst/>
          </a:prstGeom>
          <a:solidFill>
            <a:srgbClr val="C85D37"/>
          </a:solidFill>
          <a:ln w="12700">
            <a:solidFill>
              <a:srgbClr val="C85D37"/>
            </a:solidFill>
            <a:prstDash val="solid"/>
          </a:ln>
        </p:spPr>
        <p:txBody>
          <a:bodyPr/>
          <a:lstStyle/>
          <a:p>
            <a:endParaRPr/>
          </a:p>
        </p:txBody>
      </p:sp>
      <p:sp>
        <p:nvSpPr>
          <p:cNvPr id="32" name="Text 29"/>
          <p:cNvSpPr/>
          <p:nvPr/>
        </p:nvSpPr>
        <p:spPr>
          <a:xfrm>
            <a:off x="7982712" y="4279392"/>
            <a:ext cx="324612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MODEL LOGIC</a:t>
            </a:r>
            <a:endParaRPr lang="en-US" sz="1100" dirty="0"/>
          </a:p>
        </p:txBody>
      </p:sp>
      <p:sp>
        <p:nvSpPr>
          <p:cNvPr id="33" name="Text 30"/>
          <p:cNvSpPr/>
          <p:nvPr/>
        </p:nvSpPr>
        <p:spPr>
          <a:xfrm>
            <a:off x="7982712" y="4599432"/>
            <a:ext cx="3246120" cy="6583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Early revenue is pilot/services-heavy. Margin improves as plant software, skill packs and multi-site replication become the mix.</a:t>
            </a:r>
            <a:endParaRPr lang="en-US" sz="950" dirty="0"/>
          </a:p>
        </p:txBody>
      </p:sp>
      <p:sp>
        <p:nvSpPr>
          <p:cNvPr id="34" name="Text 31"/>
          <p:cNvSpPr/>
          <p:nvPr/>
        </p:nvSpPr>
        <p:spPr>
          <a:xfrm>
            <a:off x="530352" y="6153912"/>
            <a:ext cx="11064240" cy="228600"/>
          </a:xfrm>
          <a:prstGeom prst="rect">
            <a:avLst/>
          </a:prstGeom>
          <a:noFill/>
          <a:ln/>
        </p:spPr>
        <p:txBody>
          <a:bodyPr wrap="square" lIns="0" tIns="0" rIns="0" bIns="0" rtlCol="0" anchor="t">
            <a:normAutofit/>
          </a:bodyPr>
          <a:lstStyle/>
          <a:p>
            <a:pPr marL="0" indent="0" algn="l">
              <a:buNone/>
            </a:pPr>
            <a:r>
              <a:rPr lang="en-US" sz="730" dirty="0">
                <a:solidFill>
                  <a:srgbClr val="8FA2B3"/>
                </a:solidFill>
                <a:latin typeface="Aptos" pitchFamily="34" charset="0"/>
                <a:ea typeface="Aptos" pitchFamily="34" charset="-122"/>
                <a:cs typeface="Aptos" pitchFamily="34" charset="-120"/>
              </a:rPr>
              <a:t>Illustrative enterprise plant-license scenario: site value within the $150K–$250K planning range; pilots convert and services become more repeatable. SME shared-savings sites are modeled separately on the next slide. Actual results may differ materially.</a:t>
            </a:r>
            <a:endParaRPr lang="en-US" sz="730" dirty="0"/>
          </a:p>
        </p:txBody>
      </p:sp>
      <p:sp>
        <p:nvSpPr>
          <p:cNvPr id="3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SME revenue forecast: no fee in Year 1, then $45K–$63K per site a year</a:t>
            </a:r>
            <a:endParaRPr lang="en-US" sz="2400" dirty="0"/>
          </a:p>
        </p:txBody>
      </p:sp>
      <p:sp>
        <p:nvSpPr>
          <p:cNvPr id="3" name="Text 1"/>
          <p:cNvSpPr/>
          <p:nvPr/>
        </p:nvSpPr>
        <p:spPr>
          <a:xfrm>
            <a:off x="521208" y="786384"/>
            <a:ext cx="10789920" cy="457200"/>
          </a:xfrm>
          <a:prstGeom prst="rect">
            <a:avLst/>
          </a:prstGeom>
          <a:noFill/>
          <a:ln/>
        </p:spPr>
        <p:txBody>
          <a:bodyPr wrap="square" lIns="0" tIns="0" rIns="0" bIns="0" rtlCol="0" anchor="t"/>
          <a:lstStyle/>
          <a:p>
            <a:pPr marL="0" indent="0">
              <a:buNone/>
            </a:pPr>
            <a:r>
              <a:rPr lang="en-US" sz="1050" dirty="0">
                <a:solidFill>
                  <a:srgbClr val="8FA2B3"/>
                </a:solidFill>
              </a:rPr>
              <a:t>Shared-savings revenue lags a year, then grows with verified customer savings. These sites sit outside the enterprise plant-license scenario on the previous slide.</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431" name="Cohort Card"/>
          <p:cNvSpPr/>
          <p:nvPr/>
        </p:nvSpPr>
        <p:spPr>
          <a:xfrm>
            <a:off x="594360" y="1463040"/>
            <a:ext cx="6675120" cy="3931920"/>
          </a:xfrm>
          <a:prstGeom prst="roundRect">
            <a:avLst>
              <a:gd name="adj" fmla="val 2778"/>
            </a:avLst>
          </a:prstGeom>
          <a:solidFill>
            <a:srgbClr val="0E1D2C"/>
          </a:solidFill>
          <a:ln w="12700">
            <a:solidFill>
              <a:srgbClr val="274052"/>
            </a:solidFill>
          </a:ln>
        </p:spPr>
        <p:txBody>
          <a:bodyPr/>
          <a:lstStyle/>
          <a:p>
            <a:endParaRPr/>
          </a:p>
        </p:txBody>
      </p:sp>
      <p:sp>
        <p:nvSpPr>
          <p:cNvPr id="432" name="Cohort Card Accent"/>
          <p:cNvSpPr/>
          <p:nvPr/>
        </p:nvSpPr>
        <p:spPr>
          <a:xfrm>
            <a:off x="594360" y="1463040"/>
            <a:ext cx="45720" cy="3931920"/>
          </a:xfrm>
          <a:prstGeom prst="rect">
            <a:avLst/>
          </a:prstGeom>
          <a:solidFill>
            <a:srgbClr val="C85D37"/>
          </a:solidFill>
          <a:ln w="12700">
            <a:solidFill>
              <a:srgbClr val="C85D37"/>
            </a:solidFill>
          </a:ln>
        </p:spPr>
        <p:txBody>
          <a:bodyPr/>
          <a:lstStyle/>
          <a:p>
            <a:endParaRPr/>
          </a:p>
        </p:txBody>
      </p:sp>
      <p:sp>
        <p:nvSpPr>
          <p:cNvPr id="433" name="Cohort Card Heading"/>
          <p:cNvSpPr txBox="1"/>
          <p:nvPr/>
        </p:nvSpPr>
        <p:spPr>
          <a:xfrm>
            <a:off x="777240" y="1591056"/>
            <a:ext cx="6309360"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REVENUE FROM 10 SME SITES SIGNED IN YEAR 1 ($K)</a:t>
            </a:r>
          </a:p>
        </p:txBody>
      </p:sp>
      <p:sp>
        <p:nvSpPr>
          <p:cNvPr id="434" name="Cohort Card Text"/>
          <p:cNvSpPr txBox="1"/>
          <p:nvPr/>
        </p:nvSpPr>
        <p:spPr>
          <a:xfrm>
            <a:off x="777240" y="1920240"/>
            <a:ext cx="6309360" cy="3364992"/>
          </a:xfrm>
          <a:prstGeom prst="rect">
            <a:avLst/>
          </a:prstGeom>
          <a:noFill/>
          <a:ln/>
        </p:spPr>
        <p:txBody>
          <a:bodyPr wrap="square" lIns="0" tIns="0" rIns="0" bIns="0" rtlCol="0" anchor="t">
            <a:normAutofit/>
          </a:bodyPr>
          <a:lstStyle/>
          <a:p>
            <a:pPr marL="0" indent="0" algn="l">
              <a:buNone/>
            </a:pPr>
            <a:r>
              <a:rPr lang="en-US" sz="1000" dirty="0">
                <a:solidFill>
                  <a:srgbClr val="D8E1E8"/>
                </a:solidFill>
                <a:latin typeface="Aptos" pitchFamily="34" charset="0"/>
                <a:ea typeface="Aptos" pitchFamily="34" charset="-122"/>
                <a:cs typeface="Aptos" pitchFamily="34" charset="-120"/>
              </a:rPr>
              <a:t>Success fees at 20% plus $15K of 9×5 support per site, using the case-study savings. Five-year total: $2.16M.</a:t>
            </a:r>
          </a:p>
        </p:txBody>
      </p:sp>
      <p:graphicFrame>
        <p:nvGraphicFramePr>
          <p:cNvPr id="435" name="Shared-savings cohort revenue chart" descr="Shared-savings cohort revenue chart"/>
          <p:cNvGraphicFramePr/>
          <p:nvPr/>
        </p:nvGraphicFramePr>
        <p:xfrm>
          <a:off x="731520" y="2194560"/>
          <a:ext cx="640080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436" name="Per Site Card"/>
          <p:cNvSpPr/>
          <p:nvPr/>
        </p:nvSpPr>
        <p:spPr>
          <a:xfrm>
            <a:off x="7543800" y="1463040"/>
            <a:ext cx="4059936" cy="1188720"/>
          </a:xfrm>
          <a:prstGeom prst="roundRect">
            <a:avLst>
              <a:gd name="adj" fmla="val 2778"/>
            </a:avLst>
          </a:prstGeom>
          <a:solidFill>
            <a:srgbClr val="0E1D2C"/>
          </a:solidFill>
          <a:ln w="12700">
            <a:solidFill>
              <a:srgbClr val="274052"/>
            </a:solidFill>
          </a:ln>
        </p:spPr>
        <p:txBody>
          <a:bodyPr/>
          <a:lstStyle/>
          <a:p>
            <a:endParaRPr/>
          </a:p>
        </p:txBody>
      </p:sp>
      <p:sp>
        <p:nvSpPr>
          <p:cNvPr id="437" name="Per Site Card Accent"/>
          <p:cNvSpPr/>
          <p:nvPr/>
        </p:nvSpPr>
        <p:spPr>
          <a:xfrm>
            <a:off x="7543800" y="1463040"/>
            <a:ext cx="45720" cy="1188720"/>
          </a:xfrm>
          <a:prstGeom prst="rect">
            <a:avLst/>
          </a:prstGeom>
          <a:solidFill>
            <a:srgbClr val="4EA3D8"/>
          </a:solidFill>
          <a:ln w="12700">
            <a:solidFill>
              <a:srgbClr val="4EA3D8"/>
            </a:solidFill>
          </a:ln>
        </p:spPr>
        <p:txBody>
          <a:bodyPr/>
          <a:lstStyle/>
          <a:p>
            <a:endParaRPr/>
          </a:p>
        </p:txBody>
      </p:sp>
      <p:sp>
        <p:nvSpPr>
          <p:cNvPr id="438" name="Per Site Card Heading"/>
          <p:cNvSpPr txBox="1"/>
          <p:nvPr/>
        </p:nvSpPr>
        <p:spPr>
          <a:xfrm>
            <a:off x="7726680" y="1591056"/>
            <a:ext cx="3694176"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PER SITE</a:t>
            </a:r>
          </a:p>
        </p:txBody>
      </p:sp>
      <p:sp>
        <p:nvSpPr>
          <p:cNvPr id="439" name="Per Site Card Text"/>
          <p:cNvSpPr txBox="1"/>
          <p:nvPr/>
        </p:nvSpPr>
        <p:spPr>
          <a:xfrm>
            <a:off x="7726680" y="1920240"/>
            <a:ext cx="3694176" cy="621792"/>
          </a:xfrm>
          <a:prstGeom prst="rect">
            <a:avLst/>
          </a:prstGeom>
          <a:noFill/>
          <a:ln/>
        </p:spPr>
        <p:txBody>
          <a:bodyPr wrap="square" lIns="0" tIns="0" rIns="0" bIns="0" rtlCol="0" anchor="t">
            <a:normAutofit/>
          </a:bodyPr>
          <a:lstStyle/>
          <a:p>
            <a:pPr marL="0" indent="0" algn="l">
              <a:buNone/>
            </a:pPr>
            <a:r>
              <a:rPr lang="en-US" sz="1000" dirty="0">
                <a:solidFill>
                  <a:srgbClr val="D8E1E8"/>
                </a:solidFill>
                <a:latin typeface="Aptos" pitchFamily="34" charset="0"/>
                <a:ea typeface="Aptos" pitchFamily="34" charset="-122"/>
                <a:cs typeface="Aptos" pitchFamily="34" charset="-120"/>
              </a:rPr>
              <a:t>Contract years 1–5: $0 → $45K → $51K → $57K → $63K. Five-year total $216K ($156K fees + $60K support).</a:t>
            </a:r>
          </a:p>
        </p:txBody>
      </p:sp>
      <p:sp>
        <p:nvSpPr>
          <p:cNvPr id="440" name="Rules Card"/>
          <p:cNvSpPr/>
          <p:nvPr/>
        </p:nvSpPr>
        <p:spPr>
          <a:xfrm>
            <a:off x="7543800" y="2788920"/>
            <a:ext cx="4059936" cy="1280160"/>
          </a:xfrm>
          <a:prstGeom prst="roundRect">
            <a:avLst>
              <a:gd name="adj" fmla="val 2778"/>
            </a:avLst>
          </a:prstGeom>
          <a:solidFill>
            <a:srgbClr val="0E1D2C"/>
          </a:solidFill>
          <a:ln w="12700">
            <a:solidFill>
              <a:srgbClr val="274052"/>
            </a:solidFill>
          </a:ln>
        </p:spPr>
        <p:txBody>
          <a:bodyPr/>
          <a:lstStyle/>
          <a:p>
            <a:endParaRPr/>
          </a:p>
        </p:txBody>
      </p:sp>
      <p:sp>
        <p:nvSpPr>
          <p:cNvPr id="441" name="Rules Card Accent"/>
          <p:cNvSpPr/>
          <p:nvPr/>
        </p:nvSpPr>
        <p:spPr>
          <a:xfrm>
            <a:off x="7543800" y="2788920"/>
            <a:ext cx="45720" cy="1280160"/>
          </a:xfrm>
          <a:prstGeom prst="rect">
            <a:avLst/>
          </a:prstGeom>
          <a:solidFill>
            <a:srgbClr val="4EA3D8"/>
          </a:solidFill>
          <a:ln w="12700">
            <a:solidFill>
              <a:srgbClr val="4EA3D8"/>
            </a:solidFill>
          </a:ln>
        </p:spPr>
        <p:txBody>
          <a:bodyPr/>
          <a:lstStyle/>
          <a:p>
            <a:endParaRPr/>
          </a:p>
        </p:txBody>
      </p:sp>
      <p:sp>
        <p:nvSpPr>
          <p:cNvPr id="442" name="Rules Card Heading"/>
          <p:cNvSpPr txBox="1"/>
          <p:nvPr/>
        </p:nvSpPr>
        <p:spPr>
          <a:xfrm>
            <a:off x="7726680" y="2916936"/>
            <a:ext cx="3694176"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FORECAST RULES</a:t>
            </a:r>
          </a:p>
        </p:txBody>
      </p:sp>
      <p:sp>
        <p:nvSpPr>
          <p:cNvPr id="443" name="Rules Card Text"/>
          <p:cNvSpPr txBox="1"/>
          <p:nvPr/>
        </p:nvSpPr>
        <p:spPr>
          <a:xfrm>
            <a:off x="7726680" y="3246120"/>
            <a:ext cx="3694176" cy="713232"/>
          </a:xfrm>
          <a:prstGeom prst="rect">
            <a:avLst/>
          </a:prstGeom>
          <a:noFill/>
          <a:ln/>
        </p:spPr>
        <p:txBody>
          <a:bodyPr wrap="square" lIns="0" tIns="0" rIns="0" bIns="0" rtlCol="0" anchor="t">
            <a:normAutofit/>
          </a:bodyPr>
          <a:lstStyle/>
          <a:p>
            <a:pPr marL="228600" indent="-228600" algn="l">
              <a:spcAft>
                <a:spcPts val="400"/>
              </a:spcAft>
              <a:buClr>
                <a:srgbClr val="8FA2B3"/>
              </a:buClr>
              <a:buFont typeface="Arial"/>
              <a:buChar char="•"/>
            </a:pPr>
            <a:r>
              <a:rPr lang="en-US" sz="1000" dirty="0">
                <a:solidFill>
                  <a:srgbClr val="D8E1E8"/>
                </a:solidFill>
                <a:latin typeface="Aptos" pitchFamily="34" charset="0"/>
                <a:ea typeface="Aptos" pitchFamily="34" charset="-122"/>
                <a:cs typeface="Aptos" pitchFamily="34" charset="-120"/>
              </a:rPr>
              <a:t>Each new cohort books $0 in its first year.</a:t>
            </a:r>
          </a:p>
          <a:p>
            <a:pPr marL="228600" indent="-228600" algn="l">
              <a:spcAft>
                <a:spcPts val="400"/>
              </a:spcAft>
              <a:buClr>
                <a:srgbClr val="8FA2B3"/>
              </a:buClr>
              <a:buFont typeface="Arial"/>
              <a:buChar char="•"/>
            </a:pPr>
            <a:r>
              <a:rPr lang="en-US" sz="1000" dirty="0">
                <a:solidFill>
                  <a:srgbClr val="D8E1E8"/>
                </a:solidFill>
                <a:latin typeface="Aptos" pitchFamily="34" charset="0"/>
                <a:ea typeface="Aptos" pitchFamily="34" charset="-122"/>
                <a:cs typeface="Aptos" pitchFamily="34" charset="-120"/>
              </a:rPr>
              <a:t>Count only verified, Finance-approved savings.</a:t>
            </a:r>
          </a:p>
          <a:p>
            <a:pPr marL="228600" indent="-228600" algn="l">
              <a:spcAft>
                <a:spcPts val="400"/>
              </a:spcAft>
              <a:buClr>
                <a:srgbClr val="8FA2B3"/>
              </a:buClr>
              <a:buFont typeface="Arial"/>
              <a:buChar char="•"/>
            </a:pPr>
            <a:r>
              <a:rPr lang="en-US" sz="1000" dirty="0">
                <a:solidFill>
                  <a:srgbClr val="D8E1E8"/>
                </a:solidFill>
                <a:latin typeface="Aptos" pitchFamily="34" charset="0"/>
                <a:ea typeface="Aptos" pitchFamily="34" charset="-122"/>
                <a:cs typeface="Aptos" pitchFamily="34" charset="-120"/>
              </a:rPr>
              <a:t>Forecast savings per site, not list price.</a:t>
            </a:r>
          </a:p>
        </p:txBody>
      </p:sp>
      <p:sp>
        <p:nvSpPr>
          <p:cNvPr id="444" name="Sensitivity Card"/>
          <p:cNvSpPr/>
          <p:nvPr/>
        </p:nvSpPr>
        <p:spPr>
          <a:xfrm>
            <a:off x="7543800" y="4206240"/>
            <a:ext cx="4059936" cy="1188720"/>
          </a:xfrm>
          <a:prstGeom prst="roundRect">
            <a:avLst>
              <a:gd name="adj" fmla="val 2778"/>
            </a:avLst>
          </a:prstGeom>
          <a:solidFill>
            <a:srgbClr val="0E1D2C"/>
          </a:solidFill>
          <a:ln w="12700">
            <a:solidFill>
              <a:srgbClr val="274052"/>
            </a:solidFill>
          </a:ln>
        </p:spPr>
        <p:txBody>
          <a:bodyPr/>
          <a:lstStyle/>
          <a:p>
            <a:endParaRPr/>
          </a:p>
        </p:txBody>
      </p:sp>
      <p:sp>
        <p:nvSpPr>
          <p:cNvPr id="445" name="Sensitivity Card Accent"/>
          <p:cNvSpPr/>
          <p:nvPr/>
        </p:nvSpPr>
        <p:spPr>
          <a:xfrm>
            <a:off x="7543800" y="4206240"/>
            <a:ext cx="45720" cy="1188720"/>
          </a:xfrm>
          <a:prstGeom prst="rect">
            <a:avLst/>
          </a:prstGeom>
          <a:solidFill>
            <a:srgbClr val="C85D37"/>
          </a:solidFill>
          <a:ln w="12700">
            <a:solidFill>
              <a:srgbClr val="C85D37"/>
            </a:solidFill>
          </a:ln>
        </p:spPr>
        <p:txBody>
          <a:bodyPr/>
          <a:lstStyle/>
          <a:p>
            <a:endParaRPr/>
          </a:p>
        </p:txBody>
      </p:sp>
      <p:sp>
        <p:nvSpPr>
          <p:cNvPr id="446" name="Sensitivity Card Heading"/>
          <p:cNvSpPr txBox="1"/>
          <p:nvPr/>
        </p:nvSpPr>
        <p:spPr>
          <a:xfrm>
            <a:off x="7726680" y="4334256"/>
            <a:ext cx="3694176"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SENSITIVITY</a:t>
            </a:r>
          </a:p>
        </p:txBody>
      </p:sp>
      <p:sp>
        <p:nvSpPr>
          <p:cNvPr id="447" name="Sensitivity Card Text"/>
          <p:cNvSpPr txBox="1"/>
          <p:nvPr/>
        </p:nvSpPr>
        <p:spPr>
          <a:xfrm>
            <a:off x="7726680" y="4663440"/>
            <a:ext cx="3694176" cy="621792"/>
          </a:xfrm>
          <a:prstGeom prst="rect">
            <a:avLst/>
          </a:prstGeom>
          <a:noFill/>
          <a:ln/>
        </p:spPr>
        <p:txBody>
          <a:bodyPr wrap="square" lIns="0" tIns="0" rIns="0" bIns="0" rtlCol="0" anchor="t">
            <a:normAutofit/>
          </a:bodyPr>
          <a:lstStyle/>
          <a:p>
            <a:pPr marL="0" indent="0" algn="l">
              <a:buNone/>
            </a:pPr>
            <a:r>
              <a:rPr lang="en-US" sz="1000" dirty="0">
                <a:solidFill>
                  <a:srgbClr val="D8E1E8"/>
                </a:solidFill>
                <a:latin typeface="Aptos" pitchFamily="34" charset="0"/>
                <a:ea typeface="Aptos" pitchFamily="34" charset="-122"/>
                <a:cs typeface="Aptos" pitchFamily="34" charset="-120"/>
              </a:rPr>
              <a:t>At $50K of savings a site yields $25K a year to DMI and the customer keeps $25K before hardware; at $240K it yields $63K.</a:t>
            </a:r>
          </a:p>
        </p:txBody>
      </p:sp>
      <p:sp>
        <p:nvSpPr>
          <p:cNvPr id="448" name="Source"/>
          <p:cNvSpPr txBox="1"/>
          <p:nvPr/>
        </p:nvSpPr>
        <p:spPr>
          <a:xfrm>
            <a:off x="594360" y="5596128"/>
            <a:ext cx="11009376" cy="365760"/>
          </a:xfrm>
          <a:prstGeom prst="rect">
            <a:avLst/>
          </a:prstGeom>
          <a:noFill/>
          <a:ln/>
        </p:spPr>
        <p:txBody>
          <a:bodyPr wrap="square" lIns="0" tIns="0" rIns="0" bIns="0" rtlCol="0" anchor="ctr">
            <a:normAutofit/>
          </a:bodyPr>
          <a:lstStyle/>
          <a:p>
            <a:pPr marL="0" indent="0" algn="l">
              <a:buNone/>
            </a:pPr>
            <a:r>
              <a:rPr lang="en-US" sz="900" dirty="0">
                <a:solidFill>
                  <a:srgbClr val="8FA2B3"/>
                </a:solidFill>
                <a:latin typeface="Aptos" pitchFamily="34" charset="0"/>
                <a:ea typeface="Aptos" pitchFamily="34" charset="-122"/>
                <a:cs typeface="Aptos" pitchFamily="34" charset="-120"/>
              </a:rPr>
              <a:t>Illustrative: the 10-site cohort shows the mechanics and is not a sales forecast. Source: CogniWerks DMI Shared-Savings SME Strategy (Oct 2026). Excludes hardware, implementation and premium 7×24 support.</a:t>
            </a:r>
          </a:p>
        </p:txBody>
      </p:sp>
      <p:sp>
        <p:nvSpPr>
          <p:cNvPr id="30"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23</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What must become true economically</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The company scales only if deployment effort falls while recurring plant value rises.</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Text 2"/>
          <p:cNvSpPr/>
          <p:nvPr/>
        </p:nvSpPr>
        <p:spPr>
          <a:xfrm>
            <a:off x="685800" y="1417320"/>
            <a:ext cx="2035454" cy="219456"/>
          </a:xfrm>
          <a:prstGeom prst="rect">
            <a:avLst/>
          </a:prstGeom>
          <a:noFill/>
          <a:ln/>
        </p:spPr>
        <p:txBody>
          <a:bodyPr wrap="square" lIns="0" tIns="0" rIns="0" bIns="0" rtlCol="0" anchor="ctr">
            <a:normAutofit/>
          </a:bodyPr>
          <a:lstStyle/>
          <a:p>
            <a:pPr marL="0" indent="0" algn="l">
              <a:buNone/>
            </a:pPr>
            <a:r>
              <a:rPr lang="en-US" sz="850" b="1" dirty="0">
                <a:solidFill>
                  <a:srgbClr val="D8E1E8"/>
                </a:solidFill>
                <a:latin typeface="Aptos" pitchFamily="34" charset="0"/>
                <a:ea typeface="Aptos" pitchFamily="34" charset="-122"/>
                <a:cs typeface="Aptos" pitchFamily="34" charset="-120"/>
              </a:rPr>
              <a:t>Annual plant value ($K)</a:t>
            </a:r>
            <a:endParaRPr lang="en-US" sz="850" dirty="0"/>
          </a:p>
        </p:txBody>
      </p:sp>
      <p:sp>
        <p:nvSpPr>
          <p:cNvPr id="6" name="Shape 3"/>
          <p:cNvSpPr/>
          <p:nvPr/>
        </p:nvSpPr>
        <p:spPr>
          <a:xfrm>
            <a:off x="2769718" y="1453896"/>
            <a:ext cx="2568550" cy="109728"/>
          </a:xfrm>
          <a:prstGeom prst="rect">
            <a:avLst/>
          </a:prstGeom>
          <a:solidFill>
            <a:srgbClr val="1B3143"/>
          </a:solidFill>
          <a:ln w="12700">
            <a:solidFill>
              <a:srgbClr val="1B3143"/>
            </a:solidFill>
            <a:prstDash val="solid"/>
          </a:ln>
        </p:spPr>
        <p:txBody>
          <a:bodyPr/>
          <a:lstStyle/>
          <a:p>
            <a:endParaRPr/>
          </a:p>
        </p:txBody>
      </p:sp>
      <p:sp>
        <p:nvSpPr>
          <p:cNvPr id="7" name="Shape 4"/>
          <p:cNvSpPr/>
          <p:nvPr/>
        </p:nvSpPr>
        <p:spPr>
          <a:xfrm>
            <a:off x="2769718" y="1453896"/>
            <a:ext cx="2054840" cy="109728"/>
          </a:xfrm>
          <a:prstGeom prst="rect">
            <a:avLst/>
          </a:prstGeom>
          <a:solidFill>
            <a:srgbClr val="C85D37"/>
          </a:solidFill>
          <a:ln w="12700">
            <a:solidFill>
              <a:srgbClr val="C85D37"/>
            </a:solidFill>
            <a:prstDash val="solid"/>
          </a:ln>
        </p:spPr>
        <p:txBody>
          <a:bodyPr/>
          <a:lstStyle/>
          <a:p>
            <a:endParaRPr/>
          </a:p>
        </p:txBody>
      </p:sp>
      <p:sp>
        <p:nvSpPr>
          <p:cNvPr id="8" name="Text 5"/>
          <p:cNvSpPr/>
          <p:nvPr/>
        </p:nvSpPr>
        <p:spPr>
          <a:xfrm>
            <a:off x="5386730" y="1417320"/>
            <a:ext cx="581558" cy="219456"/>
          </a:xfrm>
          <a:prstGeom prst="rect">
            <a:avLst/>
          </a:prstGeom>
          <a:noFill/>
          <a:ln/>
        </p:spPr>
        <p:txBody>
          <a:bodyPr wrap="square" lIns="0" tIns="0" rIns="0" bIns="0" rtlCol="0" anchor="ctr">
            <a:normAutofit/>
          </a:bodyPr>
          <a:lstStyle/>
          <a:p>
            <a:pPr marL="0" indent="0" algn="r">
              <a:buNone/>
            </a:pPr>
            <a:r>
              <a:rPr lang="en-US" sz="850" b="1" dirty="0">
                <a:solidFill>
                  <a:srgbClr val="F4F7FA"/>
                </a:solidFill>
                <a:latin typeface="Aptos" pitchFamily="34" charset="0"/>
                <a:ea typeface="Aptos" pitchFamily="34" charset="-122"/>
                <a:cs typeface="Aptos" pitchFamily="34" charset="-120"/>
              </a:rPr>
              <a:t>200</a:t>
            </a:r>
            <a:endParaRPr lang="en-US" sz="850" dirty="0"/>
          </a:p>
        </p:txBody>
      </p:sp>
      <p:sp>
        <p:nvSpPr>
          <p:cNvPr id="9" name="Text 6"/>
          <p:cNvSpPr/>
          <p:nvPr/>
        </p:nvSpPr>
        <p:spPr>
          <a:xfrm>
            <a:off x="685800" y="1874520"/>
            <a:ext cx="2035454" cy="219456"/>
          </a:xfrm>
          <a:prstGeom prst="rect">
            <a:avLst/>
          </a:prstGeom>
          <a:noFill/>
          <a:ln/>
        </p:spPr>
        <p:txBody>
          <a:bodyPr wrap="square" lIns="0" tIns="0" rIns="0" bIns="0" rtlCol="0" anchor="ctr">
            <a:normAutofit/>
          </a:bodyPr>
          <a:lstStyle/>
          <a:p>
            <a:pPr marL="0" indent="0" algn="l">
              <a:buNone/>
            </a:pPr>
            <a:r>
              <a:rPr lang="en-US" sz="850" b="1" dirty="0">
                <a:solidFill>
                  <a:srgbClr val="D8E1E8"/>
                </a:solidFill>
                <a:latin typeface="Aptos" pitchFamily="34" charset="0"/>
                <a:ea typeface="Aptos" pitchFamily="34" charset="-122"/>
                <a:cs typeface="Aptos" pitchFamily="34" charset="-120"/>
              </a:rPr>
              <a:t>Target software gross margin (%)</a:t>
            </a:r>
            <a:endParaRPr lang="en-US" sz="850" dirty="0"/>
          </a:p>
        </p:txBody>
      </p:sp>
      <p:sp>
        <p:nvSpPr>
          <p:cNvPr id="10" name="Shape 7"/>
          <p:cNvSpPr/>
          <p:nvPr/>
        </p:nvSpPr>
        <p:spPr>
          <a:xfrm>
            <a:off x="2769718" y="1911096"/>
            <a:ext cx="2568550" cy="109728"/>
          </a:xfrm>
          <a:prstGeom prst="rect">
            <a:avLst/>
          </a:prstGeom>
          <a:solidFill>
            <a:srgbClr val="1B3143"/>
          </a:solidFill>
          <a:ln w="12700">
            <a:solidFill>
              <a:srgbClr val="1B3143"/>
            </a:solidFill>
            <a:prstDash val="solid"/>
          </a:ln>
        </p:spPr>
        <p:txBody>
          <a:bodyPr/>
          <a:lstStyle/>
          <a:p>
            <a:endParaRPr/>
          </a:p>
        </p:txBody>
      </p:sp>
      <p:sp>
        <p:nvSpPr>
          <p:cNvPr id="11" name="Shape 8"/>
          <p:cNvSpPr/>
          <p:nvPr/>
        </p:nvSpPr>
        <p:spPr>
          <a:xfrm>
            <a:off x="2769718" y="1911096"/>
            <a:ext cx="1926412" cy="109728"/>
          </a:xfrm>
          <a:prstGeom prst="rect">
            <a:avLst/>
          </a:prstGeom>
          <a:solidFill>
            <a:srgbClr val="50B89B"/>
          </a:solidFill>
          <a:ln w="12700">
            <a:solidFill>
              <a:srgbClr val="50B89B"/>
            </a:solidFill>
            <a:prstDash val="solid"/>
          </a:ln>
        </p:spPr>
        <p:txBody>
          <a:bodyPr/>
          <a:lstStyle/>
          <a:p>
            <a:endParaRPr/>
          </a:p>
        </p:txBody>
      </p:sp>
      <p:sp>
        <p:nvSpPr>
          <p:cNvPr id="12" name="Text 9"/>
          <p:cNvSpPr/>
          <p:nvPr/>
        </p:nvSpPr>
        <p:spPr>
          <a:xfrm>
            <a:off x="5386730" y="1874520"/>
            <a:ext cx="581558" cy="219456"/>
          </a:xfrm>
          <a:prstGeom prst="rect">
            <a:avLst/>
          </a:prstGeom>
          <a:noFill/>
          <a:ln/>
        </p:spPr>
        <p:txBody>
          <a:bodyPr wrap="square" lIns="0" tIns="0" rIns="0" bIns="0" rtlCol="0" anchor="ctr">
            <a:normAutofit/>
          </a:bodyPr>
          <a:lstStyle/>
          <a:p>
            <a:pPr marL="0" indent="0" algn="r">
              <a:buNone/>
            </a:pPr>
            <a:r>
              <a:rPr lang="en-US" sz="850" b="1" dirty="0">
                <a:solidFill>
                  <a:srgbClr val="F4F7FA"/>
                </a:solidFill>
                <a:latin typeface="Aptos" pitchFamily="34" charset="0"/>
                <a:ea typeface="Aptos" pitchFamily="34" charset="-122"/>
                <a:cs typeface="Aptos" pitchFamily="34" charset="-120"/>
              </a:rPr>
              <a:t>75</a:t>
            </a:r>
            <a:endParaRPr lang="en-US" sz="850" dirty="0"/>
          </a:p>
        </p:txBody>
      </p:sp>
      <p:sp>
        <p:nvSpPr>
          <p:cNvPr id="13" name="Text 10"/>
          <p:cNvSpPr/>
          <p:nvPr/>
        </p:nvSpPr>
        <p:spPr>
          <a:xfrm>
            <a:off x="685800" y="2331720"/>
            <a:ext cx="2035454" cy="219456"/>
          </a:xfrm>
          <a:prstGeom prst="rect">
            <a:avLst/>
          </a:prstGeom>
          <a:noFill/>
          <a:ln/>
        </p:spPr>
        <p:txBody>
          <a:bodyPr wrap="square" lIns="0" tIns="0" rIns="0" bIns="0" rtlCol="0" anchor="ctr">
            <a:normAutofit/>
          </a:bodyPr>
          <a:lstStyle/>
          <a:p>
            <a:pPr marL="0" indent="0" algn="l">
              <a:buNone/>
            </a:pPr>
            <a:r>
              <a:rPr lang="en-US" sz="850" b="1" dirty="0">
                <a:solidFill>
                  <a:srgbClr val="D8E1E8"/>
                </a:solidFill>
                <a:latin typeface="Aptos" pitchFamily="34" charset="0"/>
                <a:ea typeface="Aptos" pitchFamily="34" charset="-122"/>
                <a:cs typeface="Aptos" pitchFamily="34" charset="-120"/>
              </a:rPr>
              <a:t>Pilot-to-production conversion (%)</a:t>
            </a:r>
            <a:endParaRPr lang="en-US" sz="850" dirty="0"/>
          </a:p>
        </p:txBody>
      </p:sp>
      <p:sp>
        <p:nvSpPr>
          <p:cNvPr id="14" name="Shape 11"/>
          <p:cNvSpPr/>
          <p:nvPr/>
        </p:nvSpPr>
        <p:spPr>
          <a:xfrm>
            <a:off x="2769718" y="2368296"/>
            <a:ext cx="2568550" cy="109728"/>
          </a:xfrm>
          <a:prstGeom prst="rect">
            <a:avLst/>
          </a:prstGeom>
          <a:solidFill>
            <a:srgbClr val="1B3143"/>
          </a:solidFill>
          <a:ln w="12700">
            <a:solidFill>
              <a:srgbClr val="1B3143"/>
            </a:solidFill>
            <a:prstDash val="solid"/>
          </a:ln>
        </p:spPr>
        <p:txBody>
          <a:bodyPr/>
          <a:lstStyle/>
          <a:p>
            <a:endParaRPr/>
          </a:p>
        </p:txBody>
      </p:sp>
      <p:sp>
        <p:nvSpPr>
          <p:cNvPr id="15" name="Shape 12"/>
          <p:cNvSpPr/>
          <p:nvPr/>
        </p:nvSpPr>
        <p:spPr>
          <a:xfrm>
            <a:off x="2769718" y="2368296"/>
            <a:ext cx="1284275" cy="109728"/>
          </a:xfrm>
          <a:prstGeom prst="rect">
            <a:avLst/>
          </a:prstGeom>
          <a:solidFill>
            <a:srgbClr val="4EA3D8"/>
          </a:solidFill>
          <a:ln w="12700">
            <a:solidFill>
              <a:srgbClr val="4EA3D8"/>
            </a:solidFill>
            <a:prstDash val="solid"/>
          </a:ln>
        </p:spPr>
        <p:txBody>
          <a:bodyPr/>
          <a:lstStyle/>
          <a:p>
            <a:endParaRPr/>
          </a:p>
        </p:txBody>
      </p:sp>
      <p:sp>
        <p:nvSpPr>
          <p:cNvPr id="16" name="Text 13"/>
          <p:cNvSpPr/>
          <p:nvPr/>
        </p:nvSpPr>
        <p:spPr>
          <a:xfrm>
            <a:off x="5386730" y="2331720"/>
            <a:ext cx="581558" cy="219456"/>
          </a:xfrm>
          <a:prstGeom prst="rect">
            <a:avLst/>
          </a:prstGeom>
          <a:noFill/>
          <a:ln/>
        </p:spPr>
        <p:txBody>
          <a:bodyPr wrap="square" lIns="0" tIns="0" rIns="0" bIns="0" rtlCol="0" anchor="ctr">
            <a:normAutofit/>
          </a:bodyPr>
          <a:lstStyle/>
          <a:p>
            <a:pPr marL="0" indent="0" algn="r">
              <a:buNone/>
            </a:pPr>
            <a:r>
              <a:rPr lang="en-US" sz="850" b="1" dirty="0">
                <a:solidFill>
                  <a:srgbClr val="F4F7FA"/>
                </a:solidFill>
                <a:latin typeface="Aptos" pitchFamily="34" charset="0"/>
                <a:ea typeface="Aptos" pitchFamily="34" charset="-122"/>
                <a:cs typeface="Aptos" pitchFamily="34" charset="-120"/>
              </a:rPr>
              <a:t>50</a:t>
            </a:r>
            <a:endParaRPr lang="en-US" sz="850" dirty="0"/>
          </a:p>
        </p:txBody>
      </p:sp>
      <p:sp>
        <p:nvSpPr>
          <p:cNvPr id="17" name="Text 14"/>
          <p:cNvSpPr/>
          <p:nvPr/>
        </p:nvSpPr>
        <p:spPr>
          <a:xfrm>
            <a:off x="685800" y="2788920"/>
            <a:ext cx="2035454" cy="219456"/>
          </a:xfrm>
          <a:prstGeom prst="rect">
            <a:avLst/>
          </a:prstGeom>
          <a:noFill/>
          <a:ln/>
        </p:spPr>
        <p:txBody>
          <a:bodyPr wrap="square" lIns="0" tIns="0" rIns="0" bIns="0" rtlCol="0" anchor="ctr">
            <a:normAutofit/>
          </a:bodyPr>
          <a:lstStyle/>
          <a:p>
            <a:pPr marL="0" indent="0" algn="l">
              <a:buNone/>
            </a:pPr>
            <a:r>
              <a:rPr lang="en-US" sz="850" b="1" dirty="0">
                <a:solidFill>
                  <a:srgbClr val="D8E1E8"/>
                </a:solidFill>
                <a:latin typeface="Aptos" pitchFamily="34" charset="0"/>
                <a:ea typeface="Aptos" pitchFamily="34" charset="-122"/>
                <a:cs typeface="Aptos" pitchFamily="34" charset="-120"/>
              </a:rPr>
              <a:t>Services share at scale (%)</a:t>
            </a:r>
            <a:endParaRPr lang="en-US" sz="850" dirty="0"/>
          </a:p>
        </p:txBody>
      </p:sp>
      <p:sp>
        <p:nvSpPr>
          <p:cNvPr id="18" name="Shape 15"/>
          <p:cNvSpPr/>
          <p:nvPr/>
        </p:nvSpPr>
        <p:spPr>
          <a:xfrm>
            <a:off x="2769718" y="2825496"/>
            <a:ext cx="2568550" cy="109728"/>
          </a:xfrm>
          <a:prstGeom prst="rect">
            <a:avLst/>
          </a:prstGeom>
          <a:solidFill>
            <a:srgbClr val="1B3143"/>
          </a:solidFill>
          <a:ln w="12700">
            <a:solidFill>
              <a:srgbClr val="1B3143"/>
            </a:solidFill>
            <a:prstDash val="solid"/>
          </a:ln>
        </p:spPr>
        <p:txBody>
          <a:bodyPr/>
          <a:lstStyle/>
          <a:p>
            <a:endParaRPr/>
          </a:p>
        </p:txBody>
      </p:sp>
      <p:sp>
        <p:nvSpPr>
          <p:cNvPr id="19" name="Shape 16"/>
          <p:cNvSpPr/>
          <p:nvPr/>
        </p:nvSpPr>
        <p:spPr>
          <a:xfrm>
            <a:off x="2769718" y="2825496"/>
            <a:ext cx="513710" cy="109728"/>
          </a:xfrm>
          <a:prstGeom prst="rect">
            <a:avLst/>
          </a:prstGeom>
          <a:solidFill>
            <a:srgbClr val="E8B45A"/>
          </a:solidFill>
          <a:ln w="12700">
            <a:solidFill>
              <a:srgbClr val="E8B45A"/>
            </a:solidFill>
            <a:prstDash val="solid"/>
          </a:ln>
        </p:spPr>
        <p:txBody>
          <a:bodyPr/>
          <a:lstStyle/>
          <a:p>
            <a:endParaRPr/>
          </a:p>
        </p:txBody>
      </p:sp>
      <p:sp>
        <p:nvSpPr>
          <p:cNvPr id="20" name="Text 17"/>
          <p:cNvSpPr/>
          <p:nvPr/>
        </p:nvSpPr>
        <p:spPr>
          <a:xfrm>
            <a:off x="5386730" y="2788920"/>
            <a:ext cx="581558" cy="219456"/>
          </a:xfrm>
          <a:prstGeom prst="rect">
            <a:avLst/>
          </a:prstGeom>
          <a:noFill/>
          <a:ln/>
        </p:spPr>
        <p:txBody>
          <a:bodyPr wrap="square" lIns="0" tIns="0" rIns="0" bIns="0" rtlCol="0" anchor="ctr">
            <a:normAutofit/>
          </a:bodyPr>
          <a:lstStyle/>
          <a:p>
            <a:pPr marL="0" indent="0" algn="r">
              <a:buNone/>
            </a:pPr>
            <a:r>
              <a:rPr lang="en-US" sz="850" b="1" dirty="0">
                <a:solidFill>
                  <a:srgbClr val="F4F7FA"/>
                </a:solidFill>
                <a:latin typeface="Aptos" pitchFamily="34" charset="0"/>
                <a:ea typeface="Aptos" pitchFamily="34" charset="-122"/>
                <a:cs typeface="Aptos" pitchFamily="34" charset="-120"/>
              </a:rPr>
              <a:t>20</a:t>
            </a:r>
            <a:endParaRPr lang="en-US" sz="850" dirty="0"/>
          </a:p>
        </p:txBody>
      </p:sp>
      <p:sp>
        <p:nvSpPr>
          <p:cNvPr id="21" name="Shape 18"/>
          <p:cNvSpPr/>
          <p:nvPr/>
        </p:nvSpPr>
        <p:spPr>
          <a:xfrm>
            <a:off x="6172200" y="1325880"/>
            <a:ext cx="5120640" cy="1280160"/>
          </a:xfrm>
          <a:prstGeom prst="roundRect">
            <a:avLst>
              <a:gd name="adj" fmla="val 3571"/>
            </a:avLst>
          </a:prstGeom>
          <a:solidFill>
            <a:srgbClr val="0E1D2C"/>
          </a:solidFill>
          <a:ln w="12700">
            <a:solidFill>
              <a:srgbClr val="274052"/>
            </a:solidFill>
            <a:prstDash val="solid"/>
          </a:ln>
        </p:spPr>
        <p:txBody>
          <a:bodyPr/>
          <a:lstStyle/>
          <a:p>
            <a:endParaRPr/>
          </a:p>
        </p:txBody>
      </p:sp>
      <p:sp>
        <p:nvSpPr>
          <p:cNvPr id="22" name="Shape 19"/>
          <p:cNvSpPr/>
          <p:nvPr/>
        </p:nvSpPr>
        <p:spPr>
          <a:xfrm>
            <a:off x="6172200" y="1325880"/>
            <a:ext cx="45720" cy="1280160"/>
          </a:xfrm>
          <a:prstGeom prst="rect">
            <a:avLst/>
          </a:prstGeom>
          <a:solidFill>
            <a:srgbClr val="50B89B"/>
          </a:solidFill>
          <a:ln w="12700">
            <a:solidFill>
              <a:srgbClr val="50B89B"/>
            </a:solidFill>
            <a:prstDash val="solid"/>
          </a:ln>
        </p:spPr>
        <p:txBody>
          <a:bodyPr/>
          <a:lstStyle/>
          <a:p>
            <a:endParaRPr/>
          </a:p>
        </p:txBody>
      </p:sp>
      <p:sp>
        <p:nvSpPr>
          <p:cNvPr id="23" name="Text 20"/>
          <p:cNvSpPr/>
          <p:nvPr/>
        </p:nvSpPr>
        <p:spPr>
          <a:xfrm>
            <a:off x="6336792" y="1444752"/>
            <a:ext cx="484632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VALUE DRIVERS</a:t>
            </a:r>
            <a:endParaRPr lang="en-US" sz="1100" dirty="0"/>
          </a:p>
        </p:txBody>
      </p:sp>
      <p:sp>
        <p:nvSpPr>
          <p:cNvPr id="24" name="Text 21"/>
          <p:cNvSpPr/>
          <p:nvPr/>
        </p:nvSpPr>
        <p:spPr>
          <a:xfrm>
            <a:off x="6336792" y="1764792"/>
            <a:ext cx="4846320" cy="7498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Investigation time reduced • engineering labor saved • downtime avoided • scrap/rework reduced • faster quality disposition.</a:t>
            </a:r>
            <a:endParaRPr lang="en-US" sz="950" dirty="0"/>
          </a:p>
        </p:txBody>
      </p:sp>
      <p:sp>
        <p:nvSpPr>
          <p:cNvPr id="25" name="Shape 22"/>
          <p:cNvSpPr/>
          <p:nvPr/>
        </p:nvSpPr>
        <p:spPr>
          <a:xfrm>
            <a:off x="6172200" y="2834640"/>
            <a:ext cx="5120640" cy="1280160"/>
          </a:xfrm>
          <a:prstGeom prst="roundRect">
            <a:avLst>
              <a:gd name="adj" fmla="val 3571"/>
            </a:avLst>
          </a:prstGeom>
          <a:solidFill>
            <a:srgbClr val="0E1D2C"/>
          </a:solidFill>
          <a:ln w="12700">
            <a:solidFill>
              <a:srgbClr val="274052"/>
            </a:solidFill>
            <a:prstDash val="solid"/>
          </a:ln>
        </p:spPr>
        <p:txBody>
          <a:bodyPr/>
          <a:lstStyle/>
          <a:p>
            <a:endParaRPr/>
          </a:p>
        </p:txBody>
      </p:sp>
      <p:sp>
        <p:nvSpPr>
          <p:cNvPr id="26" name="Shape 23"/>
          <p:cNvSpPr/>
          <p:nvPr/>
        </p:nvSpPr>
        <p:spPr>
          <a:xfrm>
            <a:off x="6172200" y="2834640"/>
            <a:ext cx="45720" cy="1280160"/>
          </a:xfrm>
          <a:prstGeom prst="rect">
            <a:avLst/>
          </a:prstGeom>
          <a:solidFill>
            <a:srgbClr val="E66B6B"/>
          </a:solidFill>
          <a:ln w="12700">
            <a:solidFill>
              <a:srgbClr val="E66B6B"/>
            </a:solidFill>
            <a:prstDash val="solid"/>
          </a:ln>
        </p:spPr>
        <p:txBody>
          <a:bodyPr/>
          <a:lstStyle/>
          <a:p>
            <a:endParaRPr/>
          </a:p>
        </p:txBody>
      </p:sp>
      <p:sp>
        <p:nvSpPr>
          <p:cNvPr id="27" name="Text 24"/>
          <p:cNvSpPr/>
          <p:nvPr/>
        </p:nvSpPr>
        <p:spPr>
          <a:xfrm>
            <a:off x="6336792" y="2953512"/>
            <a:ext cx="484632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COST DRIVERS</a:t>
            </a:r>
            <a:endParaRPr lang="en-US" sz="1100" dirty="0"/>
          </a:p>
        </p:txBody>
      </p:sp>
      <p:sp>
        <p:nvSpPr>
          <p:cNvPr id="28" name="Text 25"/>
          <p:cNvSpPr/>
          <p:nvPr/>
        </p:nvSpPr>
        <p:spPr>
          <a:xfrm>
            <a:off x="6336792" y="3273552"/>
            <a:ext cx="4846320" cy="7498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Integration • process modeling • industrial hardware • validation • model lifecycle • security/support.</a:t>
            </a:r>
            <a:endParaRPr lang="en-US" sz="950" dirty="0"/>
          </a:p>
        </p:txBody>
      </p:sp>
      <p:sp>
        <p:nvSpPr>
          <p:cNvPr id="29" name="Shape 26"/>
          <p:cNvSpPr/>
          <p:nvPr/>
        </p:nvSpPr>
        <p:spPr>
          <a:xfrm>
            <a:off x="6172200" y="4343400"/>
            <a:ext cx="5120640" cy="1280160"/>
          </a:xfrm>
          <a:prstGeom prst="roundRect">
            <a:avLst>
              <a:gd name="adj" fmla="val 3571"/>
            </a:avLst>
          </a:prstGeom>
          <a:solidFill>
            <a:srgbClr val="0E1D2C"/>
          </a:solidFill>
          <a:ln w="12700">
            <a:solidFill>
              <a:srgbClr val="274052"/>
            </a:solidFill>
            <a:prstDash val="solid"/>
          </a:ln>
        </p:spPr>
        <p:txBody>
          <a:bodyPr/>
          <a:lstStyle/>
          <a:p>
            <a:endParaRPr/>
          </a:p>
        </p:txBody>
      </p:sp>
      <p:sp>
        <p:nvSpPr>
          <p:cNvPr id="30" name="Shape 27"/>
          <p:cNvSpPr/>
          <p:nvPr/>
        </p:nvSpPr>
        <p:spPr>
          <a:xfrm>
            <a:off x="6172200" y="4343400"/>
            <a:ext cx="45720" cy="1280160"/>
          </a:xfrm>
          <a:prstGeom prst="rect">
            <a:avLst/>
          </a:prstGeom>
          <a:solidFill>
            <a:srgbClr val="C85D37"/>
          </a:solidFill>
          <a:ln w="12700">
            <a:solidFill>
              <a:srgbClr val="C85D37"/>
            </a:solidFill>
            <a:prstDash val="solid"/>
          </a:ln>
        </p:spPr>
        <p:txBody>
          <a:bodyPr/>
          <a:lstStyle/>
          <a:p>
            <a:endParaRPr/>
          </a:p>
        </p:txBody>
      </p:sp>
      <p:sp>
        <p:nvSpPr>
          <p:cNvPr id="31" name="Text 28"/>
          <p:cNvSpPr/>
          <p:nvPr/>
        </p:nvSpPr>
        <p:spPr>
          <a:xfrm>
            <a:off x="6336792" y="4462272"/>
            <a:ext cx="484632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INVESTOR TEST</a:t>
            </a:r>
            <a:endParaRPr lang="en-US" sz="1100" dirty="0"/>
          </a:p>
        </p:txBody>
      </p:sp>
      <p:sp>
        <p:nvSpPr>
          <p:cNvPr id="32" name="Text 29"/>
          <p:cNvSpPr/>
          <p:nvPr/>
        </p:nvSpPr>
        <p:spPr>
          <a:xfrm>
            <a:off x="6336792" y="4782312"/>
            <a:ext cx="4846320" cy="74980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Does each new plant look more like software replication and less like a bespoke consulting engagement?</a:t>
            </a:r>
            <a:endParaRPr lang="en-US" sz="950" dirty="0"/>
          </a:p>
        </p:txBody>
      </p:sp>
      <p:sp>
        <p:nvSpPr>
          <p:cNvPr id="33" name="Text 30"/>
          <p:cNvSpPr/>
          <p:nvPr/>
        </p:nvSpPr>
        <p:spPr>
          <a:xfrm>
            <a:off x="530352" y="6153912"/>
            <a:ext cx="11064240" cy="228600"/>
          </a:xfrm>
          <a:prstGeom prst="rect">
            <a:avLst/>
          </a:prstGeom>
          <a:noFill/>
          <a:ln/>
        </p:spPr>
        <p:txBody>
          <a:bodyPr wrap="square" lIns="0" tIns="0" rIns="0" bIns="0" rtlCol="0" anchor="t">
            <a:normAutofit/>
          </a:bodyPr>
          <a:lstStyle/>
          <a:p>
            <a:pPr marL="0" indent="0" algn="l">
              <a:buNone/>
            </a:pPr>
            <a:r>
              <a:rPr lang="en-US" sz="730" dirty="0">
                <a:solidFill>
                  <a:srgbClr val="8FA2B3"/>
                </a:solidFill>
                <a:latin typeface="Aptos" pitchFamily="34" charset="0"/>
                <a:ea typeface="Aptos" pitchFamily="34" charset="-122"/>
                <a:cs typeface="Aptos" pitchFamily="34" charset="-120"/>
              </a:rPr>
              <a:t>Targets are strategic planning metrics for diligence, not historical performance.</a:t>
            </a:r>
            <a:endParaRPr lang="en-US" sz="730" dirty="0"/>
          </a:p>
        </p:txBody>
      </p:sp>
      <p:sp>
        <p:nvSpPr>
          <p:cNvPr id="34"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24</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Measured results: 225× fewer tokens and 606× less data per question</a:t>
            </a:r>
            <a:endParaRPr lang="en-US" sz="2400" dirty="0"/>
          </a:p>
        </p:txBody>
      </p:sp>
      <p:sp>
        <p:nvSpPr>
          <p:cNvPr id="3" name="Text 1"/>
          <p:cNvSpPr/>
          <p:nvPr/>
        </p:nvSpPr>
        <p:spPr>
          <a:xfrm>
            <a:off x="521208" y="786384"/>
            <a:ext cx="10789920" cy="566928"/>
          </a:xfrm>
          <a:prstGeom prst="rect">
            <a:avLst/>
          </a:prstGeom>
          <a:noFill/>
          <a:ln/>
        </p:spPr>
        <p:txBody>
          <a:bodyPr wrap="square" lIns="0" tIns="0" rIns="0" bIns="0" rtlCol="0" anchor="t"/>
          <a:lstStyle/>
          <a:p>
            <a:pPr marL="0" indent="0">
              <a:buNone/>
            </a:pPr>
            <a:r>
              <a:rPr lang="en-US" sz="1050" dirty="0">
                <a:solidFill>
                  <a:srgbClr val="8FA2B3"/>
                </a:solidFill>
              </a:rPr>
              <a:t>Edge data node, biopharma process (bioreactor → chromatography skid → tangential-flow filtration): 1,011,078 historian readings in 188 tag tables; 7,725 vector relationship records. One natural-language question: how did chromatography column outlet pressure behave over the last 24 h (185,450 readings), and which upstream bioreactor and chromatography conditions relate to it?</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graphicFrame>
        <p:nvGraphicFramePr>
          <p:cNvPr id="201" name="Measured Results Table"/>
          <p:cNvGraphicFramePr>
            <a:graphicFrameLocks noGrp="1"/>
          </p:cNvGraphicFramePr>
          <p:nvPr/>
        </p:nvGraphicFramePr>
        <p:xfrm>
          <a:off x="594360" y="1463040"/>
          <a:ext cx="7223760" cy="2203704"/>
        </p:xfrm>
        <a:graphic>
          <a:graphicData uri="http://schemas.openxmlformats.org/drawingml/2006/table">
            <a:tbl>
              <a:tblPr firstRow="1"/>
              <a:tblGrid>
                <a:gridCol w="34290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502920">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Approach</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r">
                        <a:buNone/>
                      </a:pPr>
                      <a:r>
                        <a:rPr lang="en-US" sz="1100" b="1" dirty="0">
                          <a:solidFill>
                            <a:srgbClr val="F4F7FA"/>
                          </a:solidFill>
                          <a:latin typeface="Aptos" pitchFamily="34" charset="0"/>
                          <a:ea typeface="Aptos" pitchFamily="34" charset="-122"/>
                          <a:cs typeface="Aptos" pitchFamily="34" charset="-120"/>
                        </a:rPr>
                        <a:t>Tokens per question</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r">
                        <a:buNone/>
                      </a:pPr>
                      <a:r>
                        <a:rPr lang="en-US" sz="1100" b="1" dirty="0">
                          <a:solidFill>
                            <a:srgbClr val="F4F7FA"/>
                          </a:solidFill>
                          <a:latin typeface="Aptos" pitchFamily="34" charset="0"/>
                          <a:ea typeface="Aptos" pitchFamily="34" charset="-122"/>
                          <a:cs typeface="Aptos" pitchFamily="34" charset="-120"/>
                        </a:rPr>
                        <a:t>Network data per question</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r">
                        <a:buNone/>
                      </a:pPr>
                      <a:r>
                        <a:rPr lang="en-US" sz="1100" b="1" dirty="0">
                          <a:solidFill>
                            <a:srgbClr val="F4F7FA"/>
                          </a:solidFill>
                          <a:latin typeface="Aptos" pitchFamily="34" charset="0"/>
                          <a:ea typeface="Aptos" pitchFamily="34" charset="-122"/>
                          <a:cs typeface="Aptos" pitchFamily="34" charset="-120"/>
                        </a:rPr>
                        <a:t>Model calls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extLst>
                  <a:ext uri="{0D108BD9-81ED-4DB2-BD59-A6C34878D82A}">
                    <a16:rowId xmlns:a16="http://schemas.microsoft.com/office/drawing/2014/main" val="10000"/>
                  </a:ext>
                </a:extLst>
              </a:tr>
              <a:tr h="566928">
                <a:tc>
                  <a:txBody>
                    <a:bodyPr/>
                    <a:lstStyle/>
                    <a:p>
                      <a:pPr marL="0" indent="0" algn="l">
                        <a:buNone/>
                      </a:pPr>
                      <a:r>
                        <a:rPr lang="en-US" sz="1200" dirty="0">
                          <a:solidFill>
                            <a:srgbClr val="D8E1E8"/>
                          </a:solidFill>
                          <a:latin typeface="Aptos" pitchFamily="34" charset="0"/>
                          <a:ea typeface="Aptos" pitchFamily="34" charset="-122"/>
                          <a:cs typeface="Aptos" pitchFamily="34" charset="-120"/>
                        </a:rPr>
                        <a:t>Centralized model, raw data in prompt</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753,968</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30.9 MB</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4</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extLst>
                  <a:ext uri="{0D108BD9-81ED-4DB2-BD59-A6C34878D82A}">
                    <a16:rowId xmlns:a16="http://schemas.microsoft.com/office/drawing/2014/main" val="10001"/>
                  </a:ext>
                </a:extLst>
              </a:tr>
              <a:tr h="566928">
                <a:tc>
                  <a:txBody>
                    <a:bodyPr/>
                    <a:lstStyle/>
                    <a:p>
                      <a:pPr marL="0" indent="0" algn="l">
                        <a:buNone/>
                      </a:pPr>
                      <a:r>
                        <a:rPr lang="en-US" sz="1200" dirty="0">
                          <a:solidFill>
                            <a:srgbClr val="D8E1E8"/>
                          </a:solidFill>
                          <a:latin typeface="Aptos" pitchFamily="34" charset="0"/>
                          <a:ea typeface="Aptos" pitchFamily="34" charset="-122"/>
                          <a:cs typeface="Aptos" pitchFamily="34" charset="-120"/>
                        </a:rPr>
                        <a:t>Centralized model, text-to-SQL on a central store</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82,179</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28.2 MB</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2</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extLst>
                  <a:ext uri="{0D108BD9-81ED-4DB2-BD59-A6C34878D82A}">
                    <a16:rowId xmlns:a16="http://schemas.microsoft.com/office/drawing/2014/main" val="10002"/>
                  </a:ext>
                </a:extLst>
              </a:tr>
              <a:tr h="566928">
                <a:tc>
                  <a:txBody>
                    <a:bodyPr/>
                    <a:lstStyle/>
                    <a:p>
                      <a:pPr marL="0" indent="0" algn="l">
                        <a:buNone/>
                      </a:pPr>
                      <a:r>
                        <a:rPr lang="en-US" sz="1200" b="1" dirty="0">
                          <a:solidFill>
                            <a:srgbClr val="4EA3D8"/>
                          </a:solidFill>
                          <a:latin typeface="Aptos" pitchFamily="34" charset="0"/>
                          <a:ea typeface="Aptos" pitchFamily="34" charset="-122"/>
                          <a:cs typeface="Aptos" pitchFamily="34" charset="-120"/>
                        </a:rPr>
                        <a:t>DMI (distributed, relationship store and edge results)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tc>
                  <a:txBody>
                    <a:bodyPr/>
                    <a:lstStyle/>
                    <a:p>
                      <a:pPr marL="0" indent="0" algn="r">
                        <a:buNone/>
                      </a:pPr>
                      <a:r>
                        <a:rPr lang="en-US" sz="1200" b="1" dirty="0">
                          <a:solidFill>
                            <a:srgbClr val="4EA3D8"/>
                          </a:solidFill>
                          <a:latin typeface="Aptos" pitchFamily="34" charset="0"/>
                          <a:ea typeface="Aptos" pitchFamily="34" charset="-122"/>
                          <a:cs typeface="Aptos" pitchFamily="34" charset="-120"/>
                        </a:rPr>
                        <a:t>3,358</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tc>
                  <a:txBody>
                    <a:bodyPr/>
                    <a:lstStyle/>
                    <a:p>
                      <a:pPr marL="0" indent="0" algn="r">
                        <a:buNone/>
                      </a:pPr>
                      <a:r>
                        <a:rPr lang="en-US" sz="1200" b="1" dirty="0">
                          <a:solidFill>
                            <a:srgbClr val="4EA3D8"/>
                          </a:solidFill>
                          <a:latin typeface="Aptos" pitchFamily="34" charset="0"/>
                          <a:ea typeface="Aptos" pitchFamily="34" charset="-122"/>
                          <a:cs typeface="Aptos" pitchFamily="34" charset="-120"/>
                        </a:rPr>
                        <a:t>50.9 KB</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tc>
                  <a:txBody>
                    <a:bodyPr/>
                    <a:lstStyle/>
                    <a:p>
                      <a:pPr marL="0" indent="0" algn="r">
                        <a:buNone/>
                      </a:pPr>
                      <a:r>
                        <a:rPr lang="en-US" sz="1200" b="1" dirty="0">
                          <a:solidFill>
                            <a:srgbClr val="4EA3D8"/>
                          </a:solidFill>
                          <a:latin typeface="Aptos" pitchFamily="34" charset="0"/>
                          <a:ea typeface="Aptos" pitchFamily="34" charset="-122"/>
                          <a:cs typeface="Aptos" pitchFamily="34" charset="-120"/>
                        </a:rPr>
                        <a:t>1</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extLst>
                  <a:ext uri="{0D108BD9-81ED-4DB2-BD59-A6C34878D82A}">
                    <a16:rowId xmlns:a16="http://schemas.microsoft.com/office/drawing/2014/main" val="10003"/>
                  </a:ext>
                </a:extLst>
              </a:tr>
            </a:tbl>
          </a:graphicData>
        </a:graphic>
      </p:graphicFrame>
      <p:sp>
        <p:nvSpPr>
          <p:cNvPr id="202" name="Stat Group Label"/>
          <p:cNvSpPr txBox="1"/>
          <p:nvPr/>
        </p:nvSpPr>
        <p:spPr>
          <a:xfrm>
            <a:off x="8138160" y="1463040"/>
            <a:ext cx="3465576" cy="201168"/>
          </a:xfrm>
          <a:prstGeom prst="rect">
            <a:avLst/>
          </a:prstGeom>
          <a:noFill/>
          <a:ln/>
        </p:spPr>
        <p:txBody>
          <a:bodyPr wrap="square" lIns="0" tIns="0" rIns="0" bIns="0" rtlCol="0" anchor="ctr">
            <a:normAutofit/>
          </a:bodyPr>
          <a:lstStyle/>
          <a:p>
            <a:pPr marL="0" indent="0" algn="l">
              <a:buNone/>
            </a:pPr>
            <a:r>
              <a:rPr lang="en-US" sz="1000" b="1" dirty="0">
                <a:solidFill>
                  <a:srgbClr val="8FA2B3"/>
                </a:solidFill>
                <a:latin typeface="Aptos" pitchFamily="34" charset="0"/>
                <a:ea typeface="Aptos" pitchFamily="34" charset="-122"/>
                <a:cs typeface="Aptos" pitchFamily="34" charset="-120"/>
              </a:rPr>
              <a:t>VS. RAW DATA IN PROMPT</a:t>
            </a:r>
          </a:p>
        </p:txBody>
      </p:sp>
      <p:sp>
        <p:nvSpPr>
          <p:cNvPr id="203" name="Stat Card"/>
          <p:cNvSpPr/>
          <p:nvPr/>
        </p:nvSpPr>
        <p:spPr>
          <a:xfrm>
            <a:off x="8138160" y="1709928"/>
            <a:ext cx="1641348" cy="841248"/>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04" name="Stat Value"/>
          <p:cNvSpPr txBox="1"/>
          <p:nvPr/>
        </p:nvSpPr>
        <p:spPr>
          <a:xfrm>
            <a:off x="8138160" y="1764792"/>
            <a:ext cx="1641348" cy="457200"/>
          </a:xfrm>
          <a:prstGeom prst="rect">
            <a:avLst/>
          </a:prstGeom>
          <a:noFill/>
          <a:ln/>
        </p:spPr>
        <p:txBody>
          <a:bodyPr wrap="square" lIns="0" tIns="0" rIns="0" bIns="0" rtlCol="0" anchor="ctr">
            <a:normAutofit/>
          </a:bodyPr>
          <a:lstStyle/>
          <a:p>
            <a:pPr marL="0" indent="0" algn="ctr">
              <a:buNone/>
            </a:pPr>
            <a:r>
              <a:rPr lang="en-US" sz="2600" b="1" dirty="0">
                <a:solidFill>
                  <a:srgbClr val="C85D37"/>
                </a:solidFill>
                <a:latin typeface="Aptos" pitchFamily="34" charset="0"/>
                <a:ea typeface="Aptos" pitchFamily="34" charset="-122"/>
                <a:cs typeface="Aptos" pitchFamily="34" charset="-120"/>
              </a:rPr>
              <a:t>225×</a:t>
            </a:r>
          </a:p>
        </p:txBody>
      </p:sp>
      <p:sp>
        <p:nvSpPr>
          <p:cNvPr id="205" name="Stat Unit"/>
          <p:cNvSpPr txBox="1"/>
          <p:nvPr/>
        </p:nvSpPr>
        <p:spPr>
          <a:xfrm>
            <a:off x="8138160" y="2231136"/>
            <a:ext cx="1641348" cy="228600"/>
          </a:xfrm>
          <a:prstGeom prst="rect">
            <a:avLst/>
          </a:prstGeom>
          <a:noFill/>
          <a:ln/>
        </p:spPr>
        <p:txBody>
          <a:bodyPr wrap="square" lIns="0" tIns="0" rIns="0" bIns="0" rtlCol="0" anchor="ctr">
            <a:normAutofit/>
          </a:bodyPr>
          <a:lstStyle/>
          <a:p>
            <a:pPr marL="0" indent="0" algn="ctr">
              <a:buNone/>
            </a:pPr>
            <a:r>
              <a:rPr lang="en-US" sz="1050" dirty="0">
                <a:solidFill>
                  <a:srgbClr val="D8E1E8"/>
                </a:solidFill>
                <a:latin typeface="Aptos" pitchFamily="34" charset="0"/>
                <a:ea typeface="Aptos" pitchFamily="34" charset="-122"/>
                <a:cs typeface="Aptos" pitchFamily="34" charset="-120"/>
              </a:rPr>
              <a:t>fewer tokens</a:t>
            </a:r>
          </a:p>
        </p:txBody>
      </p:sp>
      <p:sp>
        <p:nvSpPr>
          <p:cNvPr id="206" name="Stat Card"/>
          <p:cNvSpPr/>
          <p:nvPr/>
        </p:nvSpPr>
        <p:spPr>
          <a:xfrm>
            <a:off x="9962388" y="1709928"/>
            <a:ext cx="1641348" cy="841248"/>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07" name="Stat Value"/>
          <p:cNvSpPr txBox="1"/>
          <p:nvPr/>
        </p:nvSpPr>
        <p:spPr>
          <a:xfrm>
            <a:off x="9962388" y="1764792"/>
            <a:ext cx="1641348" cy="457200"/>
          </a:xfrm>
          <a:prstGeom prst="rect">
            <a:avLst/>
          </a:prstGeom>
          <a:noFill/>
          <a:ln/>
        </p:spPr>
        <p:txBody>
          <a:bodyPr wrap="square" lIns="0" tIns="0" rIns="0" bIns="0" rtlCol="0" anchor="ctr">
            <a:normAutofit/>
          </a:bodyPr>
          <a:lstStyle/>
          <a:p>
            <a:pPr marL="0" indent="0" algn="ctr">
              <a:buNone/>
            </a:pPr>
            <a:r>
              <a:rPr lang="en-US" sz="2600" b="1" dirty="0">
                <a:solidFill>
                  <a:srgbClr val="C85D37"/>
                </a:solidFill>
                <a:latin typeface="Aptos" pitchFamily="34" charset="0"/>
                <a:ea typeface="Aptos" pitchFamily="34" charset="-122"/>
                <a:cs typeface="Aptos" pitchFamily="34" charset="-120"/>
              </a:rPr>
              <a:t>606×</a:t>
            </a:r>
          </a:p>
        </p:txBody>
      </p:sp>
      <p:sp>
        <p:nvSpPr>
          <p:cNvPr id="208" name="Stat Unit"/>
          <p:cNvSpPr txBox="1"/>
          <p:nvPr/>
        </p:nvSpPr>
        <p:spPr>
          <a:xfrm>
            <a:off x="9962388" y="2231136"/>
            <a:ext cx="1641348" cy="228600"/>
          </a:xfrm>
          <a:prstGeom prst="rect">
            <a:avLst/>
          </a:prstGeom>
          <a:noFill/>
          <a:ln/>
        </p:spPr>
        <p:txBody>
          <a:bodyPr wrap="square" lIns="0" tIns="0" rIns="0" bIns="0" rtlCol="0" anchor="ctr">
            <a:normAutofit/>
          </a:bodyPr>
          <a:lstStyle/>
          <a:p>
            <a:pPr marL="0" indent="0" algn="ctr">
              <a:buNone/>
            </a:pPr>
            <a:r>
              <a:rPr lang="en-US" sz="1050" dirty="0">
                <a:solidFill>
                  <a:srgbClr val="D8E1E8"/>
                </a:solidFill>
                <a:latin typeface="Aptos" pitchFamily="34" charset="0"/>
                <a:ea typeface="Aptos" pitchFamily="34" charset="-122"/>
                <a:cs typeface="Aptos" pitchFamily="34" charset="-120"/>
              </a:rPr>
              <a:t>less data</a:t>
            </a:r>
          </a:p>
        </p:txBody>
      </p:sp>
      <p:sp>
        <p:nvSpPr>
          <p:cNvPr id="209" name="Stat Group Label"/>
          <p:cNvSpPr txBox="1"/>
          <p:nvPr/>
        </p:nvSpPr>
        <p:spPr>
          <a:xfrm>
            <a:off x="8138160" y="2596896"/>
            <a:ext cx="3465576" cy="201168"/>
          </a:xfrm>
          <a:prstGeom prst="rect">
            <a:avLst/>
          </a:prstGeom>
          <a:noFill/>
          <a:ln/>
        </p:spPr>
        <p:txBody>
          <a:bodyPr wrap="square" lIns="0" tIns="0" rIns="0" bIns="0" rtlCol="0" anchor="ctr">
            <a:normAutofit/>
          </a:bodyPr>
          <a:lstStyle/>
          <a:p>
            <a:pPr marL="0" indent="0" algn="l">
              <a:buNone/>
            </a:pPr>
            <a:r>
              <a:rPr lang="en-US" sz="1000" b="1" dirty="0">
                <a:solidFill>
                  <a:srgbClr val="8FA2B3"/>
                </a:solidFill>
                <a:latin typeface="Aptos" pitchFamily="34" charset="0"/>
                <a:ea typeface="Aptos" pitchFamily="34" charset="-122"/>
                <a:cs typeface="Aptos" pitchFamily="34" charset="-120"/>
              </a:rPr>
              <a:t>VS. TEXT-TO-SQL</a:t>
            </a:r>
          </a:p>
        </p:txBody>
      </p:sp>
      <p:sp>
        <p:nvSpPr>
          <p:cNvPr id="210" name="Stat Card"/>
          <p:cNvSpPr/>
          <p:nvPr/>
        </p:nvSpPr>
        <p:spPr>
          <a:xfrm>
            <a:off x="8138160" y="2843784"/>
            <a:ext cx="1641348" cy="841248"/>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11" name="Stat Value"/>
          <p:cNvSpPr txBox="1"/>
          <p:nvPr/>
        </p:nvSpPr>
        <p:spPr>
          <a:xfrm>
            <a:off x="8138160" y="2898648"/>
            <a:ext cx="1641348" cy="457200"/>
          </a:xfrm>
          <a:prstGeom prst="rect">
            <a:avLst/>
          </a:prstGeom>
          <a:noFill/>
          <a:ln/>
        </p:spPr>
        <p:txBody>
          <a:bodyPr wrap="square" lIns="0" tIns="0" rIns="0" bIns="0" rtlCol="0" anchor="ctr">
            <a:normAutofit/>
          </a:bodyPr>
          <a:lstStyle/>
          <a:p>
            <a:pPr marL="0" indent="0" algn="ctr">
              <a:buNone/>
            </a:pPr>
            <a:r>
              <a:rPr lang="en-US" sz="2600" b="1" dirty="0">
                <a:solidFill>
                  <a:srgbClr val="C85D37"/>
                </a:solidFill>
                <a:latin typeface="Aptos" pitchFamily="34" charset="0"/>
                <a:ea typeface="Aptos" pitchFamily="34" charset="-122"/>
                <a:cs typeface="Aptos" pitchFamily="34" charset="-120"/>
              </a:rPr>
              <a:t>24×</a:t>
            </a:r>
          </a:p>
        </p:txBody>
      </p:sp>
      <p:sp>
        <p:nvSpPr>
          <p:cNvPr id="212" name="Stat Unit"/>
          <p:cNvSpPr txBox="1"/>
          <p:nvPr/>
        </p:nvSpPr>
        <p:spPr>
          <a:xfrm>
            <a:off x="8138160" y="3364992"/>
            <a:ext cx="1641348" cy="228600"/>
          </a:xfrm>
          <a:prstGeom prst="rect">
            <a:avLst/>
          </a:prstGeom>
          <a:noFill/>
          <a:ln/>
        </p:spPr>
        <p:txBody>
          <a:bodyPr wrap="square" lIns="0" tIns="0" rIns="0" bIns="0" rtlCol="0" anchor="ctr">
            <a:normAutofit/>
          </a:bodyPr>
          <a:lstStyle/>
          <a:p>
            <a:pPr marL="0" indent="0" algn="ctr">
              <a:buNone/>
            </a:pPr>
            <a:r>
              <a:rPr lang="en-US" sz="1050" dirty="0">
                <a:solidFill>
                  <a:srgbClr val="D8E1E8"/>
                </a:solidFill>
                <a:latin typeface="Aptos" pitchFamily="34" charset="0"/>
                <a:ea typeface="Aptos" pitchFamily="34" charset="-122"/>
                <a:cs typeface="Aptos" pitchFamily="34" charset="-120"/>
              </a:rPr>
              <a:t>fewer tokens</a:t>
            </a:r>
          </a:p>
        </p:txBody>
      </p:sp>
      <p:sp>
        <p:nvSpPr>
          <p:cNvPr id="213" name="Stat Card"/>
          <p:cNvSpPr/>
          <p:nvPr/>
        </p:nvSpPr>
        <p:spPr>
          <a:xfrm>
            <a:off x="9962388" y="2843784"/>
            <a:ext cx="1641348" cy="841248"/>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14" name="Stat Value"/>
          <p:cNvSpPr txBox="1"/>
          <p:nvPr/>
        </p:nvSpPr>
        <p:spPr>
          <a:xfrm>
            <a:off x="9962388" y="2898648"/>
            <a:ext cx="1641348" cy="457200"/>
          </a:xfrm>
          <a:prstGeom prst="rect">
            <a:avLst/>
          </a:prstGeom>
          <a:noFill/>
          <a:ln/>
        </p:spPr>
        <p:txBody>
          <a:bodyPr wrap="square" lIns="0" tIns="0" rIns="0" bIns="0" rtlCol="0" anchor="ctr">
            <a:normAutofit/>
          </a:bodyPr>
          <a:lstStyle/>
          <a:p>
            <a:pPr marL="0" indent="0" algn="ctr">
              <a:buNone/>
            </a:pPr>
            <a:r>
              <a:rPr lang="en-US" sz="2600" b="1" dirty="0">
                <a:solidFill>
                  <a:srgbClr val="C85D37"/>
                </a:solidFill>
                <a:latin typeface="Aptos" pitchFamily="34" charset="0"/>
                <a:ea typeface="Aptos" pitchFamily="34" charset="-122"/>
                <a:cs typeface="Aptos" pitchFamily="34" charset="-120"/>
              </a:rPr>
              <a:t>554×</a:t>
            </a:r>
          </a:p>
        </p:txBody>
      </p:sp>
      <p:sp>
        <p:nvSpPr>
          <p:cNvPr id="215" name="Stat Unit"/>
          <p:cNvSpPr txBox="1"/>
          <p:nvPr/>
        </p:nvSpPr>
        <p:spPr>
          <a:xfrm>
            <a:off x="9962388" y="3364992"/>
            <a:ext cx="1641348" cy="228600"/>
          </a:xfrm>
          <a:prstGeom prst="rect">
            <a:avLst/>
          </a:prstGeom>
          <a:noFill/>
          <a:ln/>
        </p:spPr>
        <p:txBody>
          <a:bodyPr wrap="square" lIns="0" tIns="0" rIns="0" bIns="0" rtlCol="0" anchor="ctr">
            <a:normAutofit/>
          </a:bodyPr>
          <a:lstStyle/>
          <a:p>
            <a:pPr marL="0" indent="0" algn="ctr">
              <a:buNone/>
            </a:pPr>
            <a:r>
              <a:rPr lang="en-US" sz="1050" dirty="0">
                <a:solidFill>
                  <a:srgbClr val="D8E1E8"/>
                </a:solidFill>
                <a:latin typeface="Aptos" pitchFamily="34" charset="0"/>
                <a:ea typeface="Aptos" pitchFamily="34" charset="-122"/>
                <a:cs typeface="Aptos" pitchFamily="34" charset="-120"/>
              </a:rPr>
              <a:t>less data</a:t>
            </a:r>
          </a:p>
        </p:txBody>
      </p:sp>
      <p:sp>
        <p:nvSpPr>
          <p:cNvPr id="216" name="Finding Card"/>
          <p:cNvSpPr/>
          <p:nvPr/>
        </p:nvSpPr>
        <p:spPr>
          <a:xfrm>
            <a:off x="594360" y="4023360"/>
            <a:ext cx="3486912" cy="1325880"/>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17" name="Finding Card Accent"/>
          <p:cNvSpPr/>
          <p:nvPr/>
        </p:nvSpPr>
        <p:spPr>
          <a:xfrm>
            <a:off x="594360" y="4023360"/>
            <a:ext cx="45720" cy="1325880"/>
          </a:xfrm>
          <a:prstGeom prst="rect">
            <a:avLst/>
          </a:prstGeom>
          <a:solidFill>
            <a:srgbClr val="4EA3D8"/>
          </a:solidFill>
          <a:ln w="12700">
            <a:solidFill>
              <a:srgbClr val="4EA3D8"/>
            </a:solidFill>
            <a:prstDash val="solid"/>
          </a:ln>
        </p:spPr>
        <p:txBody>
          <a:bodyPr/>
          <a:lstStyle/>
          <a:p>
            <a:endParaRPr/>
          </a:p>
        </p:txBody>
      </p:sp>
      <p:sp>
        <p:nvSpPr>
          <p:cNvPr id="218" name="Finding Heading"/>
          <p:cNvSpPr txBox="1"/>
          <p:nvPr/>
        </p:nvSpPr>
        <p:spPr>
          <a:xfrm>
            <a:off x="758952" y="4142232"/>
            <a:ext cx="3157728"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CENTRAL REPLICATION OVERHEAD</a:t>
            </a:r>
          </a:p>
        </p:txBody>
      </p:sp>
      <p:sp>
        <p:nvSpPr>
          <p:cNvPr id="219" name="Finding Text"/>
          <p:cNvSpPr txBox="1"/>
          <p:nvPr/>
        </p:nvSpPr>
        <p:spPr>
          <a:xfrm>
            <a:off x="758952" y="4443984"/>
            <a:ext cx="3157728" cy="822960"/>
          </a:xfrm>
          <a:prstGeom prst="rect">
            <a:avLst/>
          </a:prstGeom>
          <a:noFill/>
          <a:ln/>
        </p:spPr>
        <p:txBody>
          <a:bodyPr wrap="square" lIns="0" tIns="0" rIns="0" bIns="0" rtlCol="0" anchor="t">
            <a:normAutofit/>
          </a:bodyPr>
          <a:lstStyle/>
          <a:p>
            <a:pPr marL="0" indent="0" algn="l">
              <a:buNone/>
            </a:pPr>
            <a:r>
              <a:rPr lang="en-US" sz="1050" dirty="0">
                <a:solidFill>
                  <a:srgbClr val="D8E1E8"/>
                </a:solidFill>
                <a:latin typeface="Aptos" pitchFamily="34" charset="0"/>
                <a:ea typeface="Aptos" pitchFamily="34" charset="-122"/>
                <a:cs typeface="Aptos" pitchFamily="34" charset="-120"/>
              </a:rPr>
              <a:t>Both centralized approaches first replicate one day of every tag to a central store (27.9 MB). Replicating the full history would move 150.4 MB.</a:t>
            </a:r>
          </a:p>
        </p:txBody>
      </p:sp>
      <p:sp>
        <p:nvSpPr>
          <p:cNvPr id="220" name="Finding Card"/>
          <p:cNvSpPr/>
          <p:nvPr/>
        </p:nvSpPr>
        <p:spPr>
          <a:xfrm>
            <a:off x="4355592" y="4023360"/>
            <a:ext cx="3486912" cy="1325880"/>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21" name="Finding Card Accent"/>
          <p:cNvSpPr/>
          <p:nvPr/>
        </p:nvSpPr>
        <p:spPr>
          <a:xfrm>
            <a:off x="4355592" y="4023360"/>
            <a:ext cx="45720" cy="1325880"/>
          </a:xfrm>
          <a:prstGeom prst="rect">
            <a:avLst/>
          </a:prstGeom>
          <a:solidFill>
            <a:srgbClr val="4EA3D8"/>
          </a:solidFill>
          <a:ln w="12700">
            <a:solidFill>
              <a:srgbClr val="4EA3D8"/>
            </a:solidFill>
            <a:prstDash val="solid"/>
          </a:ln>
        </p:spPr>
        <p:txBody>
          <a:bodyPr/>
          <a:lstStyle/>
          <a:p>
            <a:endParaRPr/>
          </a:p>
        </p:txBody>
      </p:sp>
      <p:sp>
        <p:nvSpPr>
          <p:cNvPr id="222" name="Finding Heading"/>
          <p:cNvSpPr txBox="1"/>
          <p:nvPr/>
        </p:nvSpPr>
        <p:spPr>
          <a:xfrm>
            <a:off x="4520184" y="4142232"/>
            <a:ext cx="3157728"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CONTEXT-WINDOW LIMIT</a:t>
            </a:r>
          </a:p>
        </p:txBody>
      </p:sp>
      <p:sp>
        <p:nvSpPr>
          <p:cNvPr id="223" name="Finding Text"/>
          <p:cNvSpPr txBox="1"/>
          <p:nvPr/>
        </p:nvSpPr>
        <p:spPr>
          <a:xfrm>
            <a:off x="4520184" y="4443984"/>
            <a:ext cx="3157728" cy="822960"/>
          </a:xfrm>
          <a:prstGeom prst="rect">
            <a:avLst/>
          </a:prstGeom>
          <a:noFill/>
          <a:ln/>
        </p:spPr>
        <p:txBody>
          <a:bodyPr wrap="square" lIns="0" tIns="0" rIns="0" bIns="0" rtlCol="0" anchor="t">
            <a:normAutofit/>
          </a:bodyPr>
          <a:lstStyle/>
          <a:p>
            <a:pPr marL="0" indent="0" algn="l">
              <a:buNone/>
            </a:pPr>
            <a:r>
              <a:rPr lang="en-US" sz="1050" dirty="0">
                <a:solidFill>
                  <a:srgbClr val="D8E1E8"/>
                </a:solidFill>
                <a:latin typeface="Aptos" pitchFamily="34" charset="0"/>
                <a:ea typeface="Aptos" pitchFamily="34" charset="-122"/>
                <a:cs typeface="Aptos" pitchFamily="34" charset="-120"/>
              </a:rPr>
              <a:t>The raw-data prompt exceeds a 200,000-token context window, so it needs at least four model calls or truncated data.</a:t>
            </a:r>
          </a:p>
        </p:txBody>
      </p:sp>
      <p:sp>
        <p:nvSpPr>
          <p:cNvPr id="224" name="Finding Card"/>
          <p:cNvSpPr/>
          <p:nvPr/>
        </p:nvSpPr>
        <p:spPr>
          <a:xfrm>
            <a:off x="8116824" y="4023360"/>
            <a:ext cx="3486912" cy="1325880"/>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25" name="Finding Card Accent"/>
          <p:cNvSpPr/>
          <p:nvPr/>
        </p:nvSpPr>
        <p:spPr>
          <a:xfrm>
            <a:off x="8116824" y="4023360"/>
            <a:ext cx="45720" cy="1325880"/>
          </a:xfrm>
          <a:prstGeom prst="rect">
            <a:avLst/>
          </a:prstGeom>
          <a:solidFill>
            <a:srgbClr val="4EA3D8"/>
          </a:solidFill>
          <a:ln w="12700">
            <a:solidFill>
              <a:srgbClr val="4EA3D8"/>
            </a:solidFill>
            <a:prstDash val="solid"/>
          </a:ln>
        </p:spPr>
        <p:txBody>
          <a:bodyPr/>
          <a:lstStyle/>
          <a:p>
            <a:endParaRPr/>
          </a:p>
        </p:txBody>
      </p:sp>
      <p:sp>
        <p:nvSpPr>
          <p:cNvPr id="226" name="Finding Heading"/>
          <p:cNvSpPr txBox="1"/>
          <p:nvPr/>
        </p:nvSpPr>
        <p:spPr>
          <a:xfrm>
            <a:off x="8281416" y="4142232"/>
            <a:ext cx="3157728"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EDGE RELATIONSHIP RESOLUTION</a:t>
            </a:r>
          </a:p>
        </p:txBody>
      </p:sp>
      <p:sp>
        <p:nvSpPr>
          <p:cNvPr id="227" name="Finding Text"/>
          <p:cNvSpPr txBox="1"/>
          <p:nvPr/>
        </p:nvSpPr>
        <p:spPr>
          <a:xfrm>
            <a:off x="8281416" y="4443984"/>
            <a:ext cx="3157728" cy="822960"/>
          </a:xfrm>
          <a:prstGeom prst="rect">
            <a:avLst/>
          </a:prstGeom>
          <a:noFill/>
          <a:ln/>
        </p:spPr>
        <p:txBody>
          <a:bodyPr wrap="square" lIns="0" tIns="0" rIns="0" bIns="0" rtlCol="0" anchor="t">
            <a:normAutofit/>
          </a:bodyPr>
          <a:lstStyle/>
          <a:p>
            <a:pPr marL="0" indent="0" algn="l">
              <a:buNone/>
            </a:pPr>
            <a:r>
              <a:rPr lang="en-US" sz="1050" dirty="0">
                <a:solidFill>
                  <a:srgbClr val="D8E1E8"/>
                </a:solidFill>
                <a:latin typeface="Aptos" pitchFamily="34" charset="0"/>
                <a:ea typeface="Aptos" pitchFamily="34" charset="-122"/>
                <a:cs typeface="Aptos" pitchFamily="34" charset="-120"/>
              </a:rPr>
              <a:t>The vector store resolved relationships in 38 ms using 24 of 7,725 records. Only edge results (37.5 KB) and a 13.4 KB prompt moved.</a:t>
            </a:r>
          </a:p>
        </p:txBody>
      </p:sp>
      <p:sp>
        <p:nvSpPr>
          <p:cNvPr id="228" name="Footnote"/>
          <p:cNvSpPr txBox="1"/>
          <p:nvPr/>
        </p:nvSpPr>
        <p:spPr>
          <a:xfrm>
            <a:off x="594360" y="5532120"/>
            <a:ext cx="11009376" cy="274320"/>
          </a:xfrm>
          <a:prstGeom prst="rect">
            <a:avLst/>
          </a:prstGeom>
          <a:noFill/>
          <a:ln/>
        </p:spPr>
        <p:txBody>
          <a:bodyPr wrap="square" lIns="0" tIns="0" rIns="0" bIns="0" rtlCol="0" anchor="ctr">
            <a:normAutofit/>
          </a:bodyPr>
          <a:lstStyle/>
          <a:p>
            <a:pPr marL="0" indent="0" algn="l">
              <a:buNone/>
            </a:pPr>
            <a:r>
              <a:rPr lang="en-US" sz="900" dirty="0">
                <a:solidFill>
                  <a:srgbClr val="8FA2B3"/>
                </a:solidFill>
                <a:latin typeface="Aptos" pitchFamily="34" charset="0"/>
                <a:ea typeface="Aptos" pitchFamily="34" charset="-122"/>
                <a:cs typeface="Aptos" pitchFamily="34" charset="-120"/>
              </a:rPr>
              <a:t>Byte figures are measured sizes of the data node's responses. Tokens are estimated at four characters per token.</a:t>
            </a:r>
          </a:p>
        </p:txBody>
      </p:sp>
      <p:sp>
        <p:nvSpPr>
          <p:cNvPr id="30"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25</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Cost and time: $0.034 per question vs $7.54 for a raw-data prompt</a:t>
            </a:r>
            <a:endParaRPr lang="en-US" sz="2400" dirty="0"/>
          </a:p>
        </p:txBody>
      </p:sp>
      <p:sp>
        <p:nvSpPr>
          <p:cNvPr id="3" name="Text 1"/>
          <p:cNvSpPr/>
          <p:nvPr/>
        </p:nvSpPr>
        <p:spPr>
          <a:xfrm>
            <a:off x="521208" y="786384"/>
            <a:ext cx="10789920" cy="566928"/>
          </a:xfrm>
          <a:prstGeom prst="rect">
            <a:avLst/>
          </a:prstGeom>
          <a:noFill/>
          <a:ln/>
        </p:spPr>
        <p:txBody>
          <a:bodyPr wrap="square" lIns="0" tIns="0" rIns="0" bIns="0" rtlCol="0" anchor="t"/>
          <a:lstStyle/>
          <a:p>
            <a:pPr marL="0" indent="0">
              <a:buNone/>
            </a:pPr>
            <a:r>
              <a:rPr lang="en-US" sz="1050" dirty="0">
                <a:solidFill>
                  <a:srgbClr val="8FA2B3"/>
                </a:solidFill>
              </a:rPr>
              <a:t>The same measured test (one question, 185,450 readings in scope) priced per question and at 1,000 questions per day. Token cost is the measured token count × model input price; network cost and time are the measured bytes × assumed rate and link speed.</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graphicFrame>
        <p:nvGraphicFramePr>
          <p:cNvPr id="229" name="Cost and Time Table"/>
          <p:cNvGraphicFramePr>
            <a:graphicFrameLocks noGrp="1"/>
          </p:cNvGraphicFramePr>
          <p:nvPr/>
        </p:nvGraphicFramePr>
        <p:xfrm>
          <a:off x="594360" y="1463040"/>
          <a:ext cx="11009376" cy="1920240"/>
        </p:xfrm>
        <a:graphic>
          <a:graphicData uri="http://schemas.openxmlformats.org/drawingml/2006/table">
            <a:tbl>
              <a:tblPr firstRow="1"/>
              <a:tblGrid>
                <a:gridCol w="2596896">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548640">
                <a:tc>
                  <a:txBody>
                    <a:bodyPr/>
                    <a:lstStyle/>
                    <a:p>
                      <a:pPr marL="0" indent="0" algn="l">
                        <a:buNone/>
                      </a:pPr>
                      <a:r>
                        <a:rPr lang="en-US" sz="1100" b="1" dirty="0">
                          <a:solidFill>
                            <a:srgbClr val="F4F7FA"/>
                          </a:solidFill>
                          <a:latin typeface="Aptos" pitchFamily="34" charset="0"/>
                          <a:ea typeface="Aptos" pitchFamily="34" charset="-122"/>
                          <a:cs typeface="Aptos" pitchFamily="34" charset="-120"/>
                        </a:rPr>
                        <a:t>Approach</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r">
                        <a:buNone/>
                      </a:pPr>
                      <a:r>
                        <a:rPr lang="en-US" sz="1100" b="1" dirty="0">
                          <a:solidFill>
                            <a:srgbClr val="F4F7FA"/>
                          </a:solidFill>
                          <a:latin typeface="Aptos" pitchFamily="34" charset="0"/>
                          <a:ea typeface="Aptos" pitchFamily="34" charset="-122"/>
                          <a:cs typeface="Aptos" pitchFamily="34" charset="-120"/>
                        </a:rPr>
                        <a:t>Token cost per question</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r">
                        <a:buNone/>
                      </a:pPr>
                      <a:r>
                        <a:rPr lang="en-US" sz="1100" b="1" dirty="0">
                          <a:solidFill>
                            <a:srgbClr val="F4F7FA"/>
                          </a:solidFill>
                          <a:latin typeface="Aptos" pitchFamily="34" charset="0"/>
                          <a:ea typeface="Aptos" pitchFamily="34" charset="-122"/>
                          <a:cs typeface="Aptos" pitchFamily="34" charset="-120"/>
                        </a:rPr>
                        <a:t>Network cost per question</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r">
                        <a:buNone/>
                      </a:pPr>
                      <a:r>
                        <a:rPr lang="en-US" sz="1100" b="1" dirty="0">
                          <a:solidFill>
                            <a:srgbClr val="F4F7FA"/>
                          </a:solidFill>
                          <a:latin typeface="Aptos" pitchFamily="34" charset="0"/>
                          <a:ea typeface="Aptos" pitchFamily="34" charset="-122"/>
                          <a:cs typeface="Aptos" pitchFamily="34" charset="-120"/>
                        </a:rPr>
                        <a:t>Total per question</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r">
                        <a:buNone/>
                      </a:pPr>
                      <a:r>
                        <a:rPr lang="en-US" sz="1100" b="1" dirty="0">
                          <a:solidFill>
                            <a:srgbClr val="F4F7FA"/>
                          </a:solidFill>
                          <a:latin typeface="Aptos" pitchFamily="34" charset="0"/>
                          <a:ea typeface="Aptos" pitchFamily="34" charset="-122"/>
                          <a:cs typeface="Aptos" pitchFamily="34" charset="-120"/>
                        </a:rPr>
                        <a:t>Annual cost (365K questions)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r">
                        <a:buNone/>
                      </a:pPr>
                      <a:r>
                        <a:rPr lang="en-US" sz="1100" b="1" dirty="0">
                          <a:solidFill>
                            <a:srgbClr val="F4F7FA"/>
                          </a:solidFill>
                          <a:latin typeface="Aptos" pitchFamily="34" charset="0"/>
                          <a:ea typeface="Aptos" pitchFamily="34" charset="-122"/>
                          <a:cs typeface="Aptos" pitchFamily="34" charset="-120"/>
                        </a:rPr>
                        <a:t>Transfer time per question</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tc>
                  <a:txBody>
                    <a:bodyPr/>
                    <a:lstStyle/>
                    <a:p>
                      <a:pPr marL="0" indent="0" algn="r">
                        <a:buNone/>
                      </a:pPr>
                      <a:r>
                        <a:rPr lang="en-US" sz="1100" b="1" dirty="0">
                          <a:solidFill>
                            <a:srgbClr val="F4F7FA"/>
                          </a:solidFill>
                          <a:latin typeface="Aptos" pitchFamily="34" charset="0"/>
                          <a:ea typeface="Aptos" pitchFamily="34" charset="-122"/>
                          <a:cs typeface="Aptos" pitchFamily="34" charset="-120"/>
                        </a:rPr>
                        <a:t>Model calls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274052"/>
                    </a:solidFill>
                  </a:tcPr>
                </a:tc>
                <a:extLst>
                  <a:ext uri="{0D108BD9-81ED-4DB2-BD59-A6C34878D82A}">
                    <a16:rowId xmlns:a16="http://schemas.microsoft.com/office/drawing/2014/main" val="10000"/>
                  </a:ext>
                </a:extLst>
              </a:tr>
              <a:tr h="457200">
                <a:tc>
                  <a:txBody>
                    <a:bodyPr/>
                    <a:lstStyle/>
                    <a:p>
                      <a:pPr marL="0" indent="0" algn="l">
                        <a:buNone/>
                      </a:pPr>
                      <a:r>
                        <a:rPr lang="en-US" sz="1200" dirty="0">
                          <a:solidFill>
                            <a:srgbClr val="D8E1E8"/>
                          </a:solidFill>
                          <a:latin typeface="Aptos" pitchFamily="34" charset="0"/>
                          <a:ea typeface="Aptos" pitchFamily="34" charset="-122"/>
                          <a:cs typeface="Aptos" pitchFamily="34" charset="-120"/>
                        </a:rPr>
                        <a:t>Centralized, raw data in prompt</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$7.540</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$0.0028</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$7.542</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$2,753,000</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24.7 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4</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extLst>
                  <a:ext uri="{0D108BD9-81ED-4DB2-BD59-A6C34878D82A}">
                    <a16:rowId xmlns:a16="http://schemas.microsoft.com/office/drawing/2014/main" val="10001"/>
                  </a:ext>
                </a:extLst>
              </a:tr>
              <a:tr h="457200">
                <a:tc>
                  <a:txBody>
                    <a:bodyPr/>
                    <a:lstStyle/>
                    <a:p>
                      <a:pPr marL="0" indent="0" algn="l">
                        <a:buNone/>
                      </a:pPr>
                      <a:r>
                        <a:rPr lang="en-US" sz="1200" dirty="0">
                          <a:solidFill>
                            <a:srgbClr val="D8E1E8"/>
                          </a:solidFill>
                          <a:latin typeface="Aptos" pitchFamily="34" charset="0"/>
                          <a:ea typeface="Aptos" pitchFamily="34" charset="-122"/>
                          <a:cs typeface="Aptos" pitchFamily="34" charset="-120"/>
                        </a:rPr>
                        <a:t>Centralized, text-to-SQL</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$0.822</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$0.0025</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$0.824</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$300,900</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22.6 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tc>
                  <a:txBody>
                    <a:bodyPr/>
                    <a:lstStyle/>
                    <a:p>
                      <a:pPr marL="0" indent="0" algn="r">
                        <a:buNone/>
                      </a:pPr>
                      <a:r>
                        <a:rPr lang="en-US" sz="1200" dirty="0">
                          <a:solidFill>
                            <a:srgbClr val="D8E1E8"/>
                          </a:solidFill>
                          <a:latin typeface="Aptos" pitchFamily="34" charset="0"/>
                          <a:ea typeface="Aptos" pitchFamily="34" charset="-122"/>
                          <a:cs typeface="Aptos" pitchFamily="34" charset="-120"/>
                        </a:rPr>
                        <a:t>2</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0E1D2C"/>
                    </a:solidFill>
                  </a:tcPr>
                </a:tc>
                <a:extLst>
                  <a:ext uri="{0D108BD9-81ED-4DB2-BD59-A6C34878D82A}">
                    <a16:rowId xmlns:a16="http://schemas.microsoft.com/office/drawing/2014/main" val="10002"/>
                  </a:ext>
                </a:extLst>
              </a:tr>
              <a:tr h="457200">
                <a:tc>
                  <a:txBody>
                    <a:bodyPr/>
                    <a:lstStyle/>
                    <a:p>
                      <a:pPr marL="0" indent="0" algn="l">
                        <a:buNone/>
                      </a:pPr>
                      <a:r>
                        <a:rPr lang="en-US" sz="1200" b="1" dirty="0">
                          <a:solidFill>
                            <a:srgbClr val="4EA3D8"/>
                          </a:solidFill>
                          <a:latin typeface="Aptos" pitchFamily="34" charset="0"/>
                          <a:ea typeface="Aptos" pitchFamily="34" charset="-122"/>
                          <a:cs typeface="Aptos" pitchFamily="34" charset="-120"/>
                        </a:rPr>
                        <a:t>DMI (edge, distributed)</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tc>
                  <a:txBody>
                    <a:bodyPr/>
                    <a:lstStyle/>
                    <a:p>
                      <a:pPr marL="0" indent="0" algn="r">
                        <a:buNone/>
                      </a:pPr>
                      <a:r>
                        <a:rPr lang="en-US" sz="1200" b="1" dirty="0">
                          <a:solidFill>
                            <a:srgbClr val="4EA3D8"/>
                          </a:solidFill>
                          <a:latin typeface="Aptos" pitchFamily="34" charset="0"/>
                          <a:ea typeface="Aptos" pitchFamily="34" charset="-122"/>
                          <a:cs typeface="Aptos" pitchFamily="34" charset="-120"/>
                        </a:rPr>
                        <a:t>$0.0336</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tc>
                  <a:txBody>
                    <a:bodyPr/>
                    <a:lstStyle/>
                    <a:p>
                      <a:pPr marL="0" indent="0" algn="r">
                        <a:buNone/>
                      </a:pPr>
                      <a:r>
                        <a:rPr lang="en-US" sz="1200" b="1" dirty="0">
                          <a:solidFill>
                            <a:srgbClr val="4EA3D8"/>
                          </a:solidFill>
                          <a:latin typeface="Aptos" pitchFamily="34" charset="0"/>
                          <a:ea typeface="Aptos" pitchFamily="34" charset="-122"/>
                          <a:cs typeface="Aptos" pitchFamily="34" charset="-120"/>
                        </a:rPr>
                        <a:t>&lt;$0.0001</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tc>
                  <a:txBody>
                    <a:bodyPr/>
                    <a:lstStyle/>
                    <a:p>
                      <a:pPr marL="0" indent="0" algn="r">
                        <a:buNone/>
                      </a:pPr>
                      <a:r>
                        <a:rPr lang="en-US" sz="1200" b="1" dirty="0">
                          <a:solidFill>
                            <a:srgbClr val="4EA3D8"/>
                          </a:solidFill>
                          <a:latin typeface="Aptos" pitchFamily="34" charset="0"/>
                          <a:ea typeface="Aptos" pitchFamily="34" charset="-122"/>
                          <a:cs typeface="Aptos" pitchFamily="34" charset="-120"/>
                        </a:rPr>
                        <a:t>$0.0336</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tc>
                  <a:txBody>
                    <a:bodyPr/>
                    <a:lstStyle/>
                    <a:p>
                      <a:pPr marL="0" indent="0" algn="r">
                        <a:buNone/>
                      </a:pPr>
                      <a:r>
                        <a:rPr lang="en-US" sz="1200" b="1" dirty="0">
                          <a:solidFill>
                            <a:srgbClr val="4EA3D8"/>
                          </a:solidFill>
                          <a:latin typeface="Aptos" pitchFamily="34" charset="0"/>
                          <a:ea typeface="Aptos" pitchFamily="34" charset="-122"/>
                          <a:cs typeface="Aptos" pitchFamily="34" charset="-120"/>
                        </a:rPr>
                        <a:t>$12,260</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tc>
                  <a:txBody>
                    <a:bodyPr/>
                    <a:lstStyle/>
                    <a:p>
                      <a:pPr marL="0" indent="0" algn="r">
                        <a:buNone/>
                      </a:pPr>
                      <a:r>
                        <a:rPr lang="en-US" sz="1200" b="1" dirty="0">
                          <a:solidFill>
                            <a:srgbClr val="4EA3D8"/>
                          </a:solidFill>
                          <a:latin typeface="Aptos" pitchFamily="34" charset="0"/>
                          <a:ea typeface="Aptos" pitchFamily="34" charset="-122"/>
                          <a:cs typeface="Aptos" pitchFamily="34" charset="-120"/>
                        </a:rPr>
                        <a:t>0.04 s</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tc>
                  <a:txBody>
                    <a:bodyPr/>
                    <a:lstStyle/>
                    <a:p>
                      <a:pPr marL="0" indent="0" algn="r">
                        <a:buNone/>
                      </a:pPr>
                      <a:r>
                        <a:rPr lang="en-US" sz="1200" b="1" dirty="0">
                          <a:solidFill>
                            <a:srgbClr val="4EA3D8"/>
                          </a:solidFill>
                          <a:latin typeface="Aptos" pitchFamily="34" charset="0"/>
                          <a:ea typeface="Aptos" pitchFamily="34" charset="-122"/>
                          <a:cs typeface="Aptos" pitchFamily="34" charset="-120"/>
                        </a:rPr>
                        <a:t>1</a:t>
                      </a:r>
                    </a:p>
                  </a:txBody>
                  <a:tcPr anchor="ctr">
                    <a:lnL w="6350">
                      <a:solidFill>
                        <a:srgbClr val="274052"/>
                      </a:solidFill>
                    </a:lnL>
                    <a:lnR w="6350">
                      <a:solidFill>
                        <a:srgbClr val="274052"/>
                      </a:solidFill>
                    </a:lnR>
                    <a:lnT w="6350">
                      <a:solidFill>
                        <a:srgbClr val="274052"/>
                      </a:solidFill>
                    </a:lnT>
                    <a:lnB w="6350">
                      <a:solidFill>
                        <a:srgbClr val="274052"/>
                      </a:solidFill>
                    </a:lnB>
                    <a:solidFill>
                      <a:srgbClr val="102C44"/>
                    </a:solidFill>
                  </a:tcPr>
                </a:tc>
                <a:extLst>
                  <a:ext uri="{0D108BD9-81ED-4DB2-BD59-A6C34878D82A}">
                    <a16:rowId xmlns:a16="http://schemas.microsoft.com/office/drawing/2014/main" val="10003"/>
                  </a:ext>
                </a:extLst>
              </a:tr>
            </a:tbl>
          </a:graphicData>
        </a:graphic>
      </p:graphicFrame>
      <p:sp>
        <p:nvSpPr>
          <p:cNvPr id="230" name="Savings Card"/>
          <p:cNvSpPr/>
          <p:nvPr/>
        </p:nvSpPr>
        <p:spPr>
          <a:xfrm>
            <a:off x="594360" y="3657600"/>
            <a:ext cx="2546604" cy="1691640"/>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31" name="Savings Card Accent"/>
          <p:cNvSpPr/>
          <p:nvPr/>
        </p:nvSpPr>
        <p:spPr>
          <a:xfrm>
            <a:off x="594360" y="3657600"/>
            <a:ext cx="45720" cy="1691640"/>
          </a:xfrm>
          <a:prstGeom prst="rect">
            <a:avLst/>
          </a:prstGeom>
          <a:solidFill>
            <a:srgbClr val="4EA3D8"/>
          </a:solidFill>
          <a:ln w="12700">
            <a:solidFill>
              <a:srgbClr val="4EA3D8"/>
            </a:solidFill>
            <a:prstDash val="solid"/>
          </a:ln>
        </p:spPr>
        <p:txBody>
          <a:bodyPr/>
          <a:lstStyle/>
          <a:p>
            <a:endParaRPr/>
          </a:p>
        </p:txBody>
      </p:sp>
      <p:sp>
        <p:nvSpPr>
          <p:cNvPr id="232" name="Savings Value"/>
          <p:cNvSpPr txBox="1"/>
          <p:nvPr/>
        </p:nvSpPr>
        <p:spPr>
          <a:xfrm>
            <a:off x="777240" y="3776472"/>
            <a:ext cx="2180844" cy="566928"/>
          </a:xfrm>
          <a:prstGeom prst="rect">
            <a:avLst/>
          </a:prstGeom>
          <a:noFill/>
          <a:ln/>
        </p:spPr>
        <p:txBody>
          <a:bodyPr wrap="square" lIns="0" tIns="0" rIns="0" bIns="0" rtlCol="0" anchor="ctr">
            <a:normAutofit/>
          </a:bodyPr>
          <a:lstStyle/>
          <a:p>
            <a:pPr marL="0" indent="0" algn="l">
              <a:buNone/>
            </a:pPr>
            <a:r>
              <a:rPr lang="en-US" sz="3000" b="1" dirty="0">
                <a:solidFill>
                  <a:srgbClr val="C85D37"/>
                </a:solidFill>
                <a:latin typeface="Aptos" pitchFamily="34" charset="0"/>
                <a:ea typeface="Aptos" pitchFamily="34" charset="-122"/>
                <a:cs typeface="Aptos" pitchFamily="34" charset="-120"/>
              </a:rPr>
              <a:t>$2.74M</a:t>
            </a:r>
          </a:p>
        </p:txBody>
      </p:sp>
      <p:sp>
        <p:nvSpPr>
          <p:cNvPr id="233" name="Savings Label"/>
          <p:cNvSpPr txBox="1"/>
          <p:nvPr/>
        </p:nvSpPr>
        <p:spPr>
          <a:xfrm>
            <a:off x="777240" y="4389120"/>
            <a:ext cx="2180844" cy="256032"/>
          </a:xfrm>
          <a:prstGeom prst="rect">
            <a:avLst/>
          </a:prstGeom>
          <a:noFill/>
          <a:ln/>
        </p:spPr>
        <p:txBody>
          <a:bodyPr wrap="square" lIns="0" tIns="0" rIns="0" bIns="0" rtlCol="0" anchor="ctr">
            <a:normAutofit/>
          </a:bodyPr>
          <a:lstStyle/>
          <a:p>
            <a:pPr marL="0" indent="0" algn="l">
              <a:buNone/>
            </a:pPr>
            <a:r>
              <a:rPr lang="en-US" sz="1200" b="1" dirty="0">
                <a:solidFill>
                  <a:srgbClr val="F4F7FA"/>
                </a:solidFill>
                <a:latin typeface="Aptos" pitchFamily="34" charset="0"/>
                <a:ea typeface="Aptos" pitchFamily="34" charset="-122"/>
                <a:cs typeface="Aptos" pitchFamily="34" charset="-120"/>
              </a:rPr>
              <a:t>saved per year</a:t>
            </a:r>
          </a:p>
        </p:txBody>
      </p:sp>
      <p:sp>
        <p:nvSpPr>
          <p:cNvPr id="234" name="Savings Text"/>
          <p:cNvSpPr txBox="1"/>
          <p:nvPr/>
        </p:nvSpPr>
        <p:spPr>
          <a:xfrm>
            <a:off x="777240" y="4681728"/>
            <a:ext cx="2180844" cy="566928"/>
          </a:xfrm>
          <a:prstGeom prst="rect">
            <a:avLst/>
          </a:prstGeom>
          <a:noFill/>
          <a:ln/>
        </p:spPr>
        <p:txBody>
          <a:bodyPr wrap="square" lIns="0" tIns="0" rIns="0" bIns="0" rtlCol="0" anchor="t">
            <a:normAutofit/>
          </a:bodyPr>
          <a:lstStyle/>
          <a:p>
            <a:pPr marL="0" indent="0" algn="l">
              <a:buNone/>
            </a:pPr>
            <a:r>
              <a:rPr lang="en-US" sz="1050" dirty="0">
                <a:solidFill>
                  <a:srgbClr val="D8E1E8"/>
                </a:solidFill>
                <a:latin typeface="Aptos" pitchFamily="34" charset="0"/>
                <a:ea typeface="Aptos" pitchFamily="34" charset="-122"/>
                <a:cs typeface="Aptos" pitchFamily="34" charset="-120"/>
              </a:rPr>
              <a:t>versus the raw-data prompt, a 225× lower cost per question</a:t>
            </a:r>
          </a:p>
        </p:txBody>
      </p:sp>
      <p:sp>
        <p:nvSpPr>
          <p:cNvPr id="235" name="Savings Card"/>
          <p:cNvSpPr/>
          <p:nvPr/>
        </p:nvSpPr>
        <p:spPr>
          <a:xfrm>
            <a:off x="3415284" y="3657600"/>
            <a:ext cx="2546604" cy="1691640"/>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36" name="Savings Card Accent"/>
          <p:cNvSpPr/>
          <p:nvPr/>
        </p:nvSpPr>
        <p:spPr>
          <a:xfrm>
            <a:off x="3415284" y="3657600"/>
            <a:ext cx="45720" cy="1691640"/>
          </a:xfrm>
          <a:prstGeom prst="rect">
            <a:avLst/>
          </a:prstGeom>
          <a:solidFill>
            <a:srgbClr val="4EA3D8"/>
          </a:solidFill>
          <a:ln w="12700">
            <a:solidFill>
              <a:srgbClr val="4EA3D8"/>
            </a:solidFill>
            <a:prstDash val="solid"/>
          </a:ln>
        </p:spPr>
        <p:txBody>
          <a:bodyPr/>
          <a:lstStyle/>
          <a:p>
            <a:endParaRPr/>
          </a:p>
        </p:txBody>
      </p:sp>
      <p:sp>
        <p:nvSpPr>
          <p:cNvPr id="237" name="Savings Value"/>
          <p:cNvSpPr txBox="1"/>
          <p:nvPr/>
        </p:nvSpPr>
        <p:spPr>
          <a:xfrm>
            <a:off x="3598164" y="3776472"/>
            <a:ext cx="2180844" cy="566928"/>
          </a:xfrm>
          <a:prstGeom prst="rect">
            <a:avLst/>
          </a:prstGeom>
          <a:noFill/>
          <a:ln/>
        </p:spPr>
        <p:txBody>
          <a:bodyPr wrap="square" lIns="0" tIns="0" rIns="0" bIns="0" rtlCol="0" anchor="ctr">
            <a:normAutofit/>
          </a:bodyPr>
          <a:lstStyle/>
          <a:p>
            <a:pPr marL="0" indent="0" algn="l">
              <a:buNone/>
            </a:pPr>
            <a:r>
              <a:rPr lang="en-US" sz="3000" b="1" dirty="0">
                <a:solidFill>
                  <a:srgbClr val="C85D37"/>
                </a:solidFill>
                <a:latin typeface="Aptos" pitchFamily="34" charset="0"/>
                <a:ea typeface="Aptos" pitchFamily="34" charset="-122"/>
                <a:cs typeface="Aptos" pitchFamily="34" charset="-120"/>
              </a:rPr>
              <a:t>$289K</a:t>
            </a:r>
          </a:p>
        </p:txBody>
      </p:sp>
      <p:sp>
        <p:nvSpPr>
          <p:cNvPr id="238" name="Savings Label"/>
          <p:cNvSpPr txBox="1"/>
          <p:nvPr/>
        </p:nvSpPr>
        <p:spPr>
          <a:xfrm>
            <a:off x="3598164" y="4389120"/>
            <a:ext cx="2180844" cy="256032"/>
          </a:xfrm>
          <a:prstGeom prst="rect">
            <a:avLst/>
          </a:prstGeom>
          <a:noFill/>
          <a:ln/>
        </p:spPr>
        <p:txBody>
          <a:bodyPr wrap="square" lIns="0" tIns="0" rIns="0" bIns="0" rtlCol="0" anchor="ctr">
            <a:normAutofit/>
          </a:bodyPr>
          <a:lstStyle/>
          <a:p>
            <a:pPr marL="0" indent="0" algn="l">
              <a:buNone/>
            </a:pPr>
            <a:r>
              <a:rPr lang="en-US" sz="1200" b="1" dirty="0">
                <a:solidFill>
                  <a:srgbClr val="F4F7FA"/>
                </a:solidFill>
                <a:latin typeface="Aptos" pitchFamily="34" charset="0"/>
                <a:ea typeface="Aptos" pitchFamily="34" charset="-122"/>
                <a:cs typeface="Aptos" pitchFamily="34" charset="-120"/>
              </a:rPr>
              <a:t>saved per year</a:t>
            </a:r>
          </a:p>
        </p:txBody>
      </p:sp>
      <p:sp>
        <p:nvSpPr>
          <p:cNvPr id="239" name="Savings Text"/>
          <p:cNvSpPr txBox="1"/>
          <p:nvPr/>
        </p:nvSpPr>
        <p:spPr>
          <a:xfrm>
            <a:off x="3598164" y="4681728"/>
            <a:ext cx="2180844" cy="566928"/>
          </a:xfrm>
          <a:prstGeom prst="rect">
            <a:avLst/>
          </a:prstGeom>
          <a:noFill/>
          <a:ln/>
        </p:spPr>
        <p:txBody>
          <a:bodyPr wrap="square" lIns="0" tIns="0" rIns="0" bIns="0" rtlCol="0" anchor="t">
            <a:normAutofit/>
          </a:bodyPr>
          <a:lstStyle/>
          <a:p>
            <a:pPr marL="0" indent="0" algn="l">
              <a:buNone/>
            </a:pPr>
            <a:r>
              <a:rPr lang="en-US" sz="1050" dirty="0">
                <a:solidFill>
                  <a:srgbClr val="D8E1E8"/>
                </a:solidFill>
                <a:latin typeface="Aptos" pitchFamily="34" charset="0"/>
                <a:ea typeface="Aptos" pitchFamily="34" charset="-122"/>
                <a:cs typeface="Aptos" pitchFamily="34" charset="-120"/>
              </a:rPr>
              <a:t>versus text-to-SQL, a 25× lower cost per question</a:t>
            </a:r>
          </a:p>
        </p:txBody>
      </p:sp>
      <p:sp>
        <p:nvSpPr>
          <p:cNvPr id="240" name="Savings Card"/>
          <p:cNvSpPr/>
          <p:nvPr/>
        </p:nvSpPr>
        <p:spPr>
          <a:xfrm>
            <a:off x="6236208" y="3657600"/>
            <a:ext cx="2546604" cy="1691640"/>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41" name="Savings Card Accent"/>
          <p:cNvSpPr/>
          <p:nvPr/>
        </p:nvSpPr>
        <p:spPr>
          <a:xfrm>
            <a:off x="6236208" y="3657600"/>
            <a:ext cx="45720" cy="1691640"/>
          </a:xfrm>
          <a:prstGeom prst="rect">
            <a:avLst/>
          </a:prstGeom>
          <a:solidFill>
            <a:srgbClr val="4EA3D8"/>
          </a:solidFill>
          <a:ln w="12700">
            <a:solidFill>
              <a:srgbClr val="4EA3D8"/>
            </a:solidFill>
            <a:prstDash val="solid"/>
          </a:ln>
        </p:spPr>
        <p:txBody>
          <a:bodyPr/>
          <a:lstStyle/>
          <a:p>
            <a:endParaRPr/>
          </a:p>
        </p:txBody>
      </p:sp>
      <p:sp>
        <p:nvSpPr>
          <p:cNvPr id="242" name="Savings Value"/>
          <p:cNvSpPr txBox="1"/>
          <p:nvPr/>
        </p:nvSpPr>
        <p:spPr>
          <a:xfrm>
            <a:off x="6419088" y="3776472"/>
            <a:ext cx="2180844" cy="566928"/>
          </a:xfrm>
          <a:prstGeom prst="rect">
            <a:avLst/>
          </a:prstGeom>
          <a:noFill/>
          <a:ln/>
        </p:spPr>
        <p:txBody>
          <a:bodyPr wrap="square" lIns="0" tIns="0" rIns="0" bIns="0" rtlCol="0" anchor="ctr">
            <a:normAutofit/>
          </a:bodyPr>
          <a:lstStyle/>
          <a:p>
            <a:pPr marL="0" indent="0" algn="l">
              <a:buNone/>
            </a:pPr>
            <a:r>
              <a:rPr lang="en-US" sz="3000" b="1" dirty="0">
                <a:solidFill>
                  <a:srgbClr val="C85D37"/>
                </a:solidFill>
                <a:latin typeface="Aptos" pitchFamily="34" charset="0"/>
                <a:ea typeface="Aptos" pitchFamily="34" charset="-122"/>
                <a:cs typeface="Aptos" pitchFamily="34" charset="-120"/>
              </a:rPr>
              <a:t>0.04 s</a:t>
            </a:r>
          </a:p>
        </p:txBody>
      </p:sp>
      <p:sp>
        <p:nvSpPr>
          <p:cNvPr id="243" name="Savings Label"/>
          <p:cNvSpPr txBox="1"/>
          <p:nvPr/>
        </p:nvSpPr>
        <p:spPr>
          <a:xfrm>
            <a:off x="6419088" y="4389120"/>
            <a:ext cx="2180844" cy="256032"/>
          </a:xfrm>
          <a:prstGeom prst="rect">
            <a:avLst/>
          </a:prstGeom>
          <a:noFill/>
          <a:ln/>
        </p:spPr>
        <p:txBody>
          <a:bodyPr wrap="square" lIns="0" tIns="0" rIns="0" bIns="0" rtlCol="0" anchor="ctr">
            <a:normAutofit/>
          </a:bodyPr>
          <a:lstStyle/>
          <a:p>
            <a:pPr marL="0" indent="0" algn="l">
              <a:buNone/>
            </a:pPr>
            <a:r>
              <a:rPr lang="en-US" sz="1200" b="1" dirty="0">
                <a:solidFill>
                  <a:srgbClr val="F4F7FA"/>
                </a:solidFill>
                <a:latin typeface="Aptos" pitchFamily="34" charset="0"/>
                <a:ea typeface="Aptos" pitchFamily="34" charset="-122"/>
                <a:cs typeface="Aptos" pitchFamily="34" charset="-120"/>
              </a:rPr>
              <a:t>data transfer per question</a:t>
            </a:r>
          </a:p>
        </p:txBody>
      </p:sp>
      <p:sp>
        <p:nvSpPr>
          <p:cNvPr id="244" name="Savings Text"/>
          <p:cNvSpPr txBox="1"/>
          <p:nvPr/>
        </p:nvSpPr>
        <p:spPr>
          <a:xfrm>
            <a:off x="6419088" y="4681728"/>
            <a:ext cx="2180844" cy="566928"/>
          </a:xfrm>
          <a:prstGeom prst="rect">
            <a:avLst/>
          </a:prstGeom>
          <a:noFill/>
          <a:ln/>
        </p:spPr>
        <p:txBody>
          <a:bodyPr wrap="square" lIns="0" tIns="0" rIns="0" bIns="0" rtlCol="0" anchor="t">
            <a:normAutofit/>
          </a:bodyPr>
          <a:lstStyle/>
          <a:p>
            <a:pPr marL="0" indent="0" algn="l">
              <a:buNone/>
            </a:pPr>
            <a:r>
              <a:rPr lang="en-US" sz="1050" dirty="0">
                <a:solidFill>
                  <a:srgbClr val="D8E1E8"/>
                </a:solidFill>
                <a:latin typeface="Aptos" pitchFamily="34" charset="0"/>
                <a:ea typeface="Aptos" pitchFamily="34" charset="-122"/>
                <a:cs typeface="Aptos" pitchFamily="34" charset="-120"/>
              </a:rPr>
              <a:t>down from 24.7 s, saving about 2,500 hours of link time a year</a:t>
            </a:r>
          </a:p>
        </p:txBody>
      </p:sp>
      <p:sp>
        <p:nvSpPr>
          <p:cNvPr id="245" name="Savings Card"/>
          <p:cNvSpPr/>
          <p:nvPr/>
        </p:nvSpPr>
        <p:spPr>
          <a:xfrm>
            <a:off x="9057132" y="3657600"/>
            <a:ext cx="2546604" cy="1691640"/>
          </a:xfrm>
          <a:prstGeom prst="roundRect">
            <a:avLst>
              <a:gd name="adj" fmla="val 2778"/>
            </a:avLst>
          </a:prstGeom>
          <a:solidFill>
            <a:srgbClr val="0E1D2C"/>
          </a:solidFill>
          <a:ln w="12700">
            <a:solidFill>
              <a:srgbClr val="274052"/>
            </a:solidFill>
            <a:prstDash val="solid"/>
          </a:ln>
        </p:spPr>
        <p:txBody>
          <a:bodyPr/>
          <a:lstStyle/>
          <a:p>
            <a:endParaRPr/>
          </a:p>
        </p:txBody>
      </p:sp>
      <p:sp>
        <p:nvSpPr>
          <p:cNvPr id="246" name="Savings Card Accent"/>
          <p:cNvSpPr/>
          <p:nvPr/>
        </p:nvSpPr>
        <p:spPr>
          <a:xfrm>
            <a:off x="9057132" y="3657600"/>
            <a:ext cx="45720" cy="1691640"/>
          </a:xfrm>
          <a:prstGeom prst="rect">
            <a:avLst/>
          </a:prstGeom>
          <a:solidFill>
            <a:srgbClr val="4EA3D8"/>
          </a:solidFill>
          <a:ln w="12700">
            <a:solidFill>
              <a:srgbClr val="4EA3D8"/>
            </a:solidFill>
            <a:prstDash val="solid"/>
          </a:ln>
        </p:spPr>
        <p:txBody>
          <a:bodyPr/>
          <a:lstStyle/>
          <a:p>
            <a:endParaRPr/>
          </a:p>
        </p:txBody>
      </p:sp>
      <p:sp>
        <p:nvSpPr>
          <p:cNvPr id="247" name="Savings Value"/>
          <p:cNvSpPr txBox="1"/>
          <p:nvPr/>
        </p:nvSpPr>
        <p:spPr>
          <a:xfrm>
            <a:off x="9240012" y="3776472"/>
            <a:ext cx="2180844" cy="566928"/>
          </a:xfrm>
          <a:prstGeom prst="rect">
            <a:avLst/>
          </a:prstGeom>
          <a:noFill/>
          <a:ln/>
        </p:spPr>
        <p:txBody>
          <a:bodyPr wrap="square" lIns="0" tIns="0" rIns="0" bIns="0" rtlCol="0" anchor="ctr">
            <a:normAutofit/>
          </a:bodyPr>
          <a:lstStyle/>
          <a:p>
            <a:pPr marL="0" indent="0" algn="l">
              <a:buNone/>
            </a:pPr>
            <a:r>
              <a:rPr lang="en-US" sz="3000" b="1" dirty="0">
                <a:solidFill>
                  <a:srgbClr val="C85D37"/>
                </a:solidFill>
                <a:latin typeface="Aptos" pitchFamily="34" charset="0"/>
                <a:ea typeface="Aptos" pitchFamily="34" charset="-122"/>
                <a:cs typeface="Aptos" pitchFamily="34" charset="-120"/>
              </a:rPr>
              <a:t>1 call</a:t>
            </a:r>
          </a:p>
        </p:txBody>
      </p:sp>
      <p:sp>
        <p:nvSpPr>
          <p:cNvPr id="248" name="Savings Label"/>
          <p:cNvSpPr txBox="1"/>
          <p:nvPr/>
        </p:nvSpPr>
        <p:spPr>
          <a:xfrm>
            <a:off x="9240012" y="4389120"/>
            <a:ext cx="2180844" cy="256032"/>
          </a:xfrm>
          <a:prstGeom prst="rect">
            <a:avLst/>
          </a:prstGeom>
          <a:noFill/>
          <a:ln/>
        </p:spPr>
        <p:txBody>
          <a:bodyPr wrap="square" lIns="0" tIns="0" rIns="0" bIns="0" rtlCol="0" anchor="ctr">
            <a:normAutofit/>
          </a:bodyPr>
          <a:lstStyle/>
          <a:p>
            <a:pPr marL="0" indent="0" algn="l">
              <a:buNone/>
            </a:pPr>
            <a:r>
              <a:rPr lang="en-US" sz="1200" b="1" dirty="0">
                <a:solidFill>
                  <a:srgbClr val="F4F7FA"/>
                </a:solidFill>
                <a:latin typeface="Aptos" pitchFamily="34" charset="0"/>
                <a:ea typeface="Aptos" pitchFamily="34" charset="-122"/>
                <a:cs typeface="Aptos" pitchFamily="34" charset="-120"/>
              </a:rPr>
              <a:t>instead of 4</a:t>
            </a:r>
          </a:p>
        </p:txBody>
      </p:sp>
      <p:sp>
        <p:nvSpPr>
          <p:cNvPr id="249" name="Savings Text"/>
          <p:cNvSpPr txBox="1"/>
          <p:nvPr/>
        </p:nvSpPr>
        <p:spPr>
          <a:xfrm>
            <a:off x="9240012" y="4681728"/>
            <a:ext cx="2180844" cy="566928"/>
          </a:xfrm>
          <a:prstGeom prst="rect">
            <a:avLst/>
          </a:prstGeom>
          <a:noFill/>
          <a:ln/>
        </p:spPr>
        <p:txBody>
          <a:bodyPr wrap="square" lIns="0" tIns="0" rIns="0" bIns="0" rtlCol="0" anchor="t">
            <a:normAutofit/>
          </a:bodyPr>
          <a:lstStyle/>
          <a:p>
            <a:pPr marL="0" indent="0" algn="l">
              <a:buNone/>
            </a:pPr>
            <a:r>
              <a:rPr lang="en-US" sz="1050" dirty="0">
                <a:solidFill>
                  <a:srgbClr val="D8E1E8"/>
                </a:solidFill>
                <a:latin typeface="Aptos" pitchFamily="34" charset="0"/>
                <a:ea typeface="Aptos" pitchFamily="34" charset="-122"/>
                <a:cs typeface="Aptos" pitchFamily="34" charset="-120"/>
              </a:rPr>
              <a:t>no context-window split; edge relationship lookup in 38 ms</a:t>
            </a:r>
          </a:p>
        </p:txBody>
      </p:sp>
      <p:sp>
        <p:nvSpPr>
          <p:cNvPr id="250" name="Assumptions"/>
          <p:cNvSpPr txBox="1"/>
          <p:nvPr/>
        </p:nvSpPr>
        <p:spPr>
          <a:xfrm>
            <a:off x="594360" y="5504688"/>
            <a:ext cx="11009376" cy="384048"/>
          </a:xfrm>
          <a:prstGeom prst="rect">
            <a:avLst/>
          </a:prstGeom>
          <a:noFill/>
          <a:ln/>
        </p:spPr>
        <p:txBody>
          <a:bodyPr wrap="square" lIns="0" tIns="0" rIns="0" bIns="0" rtlCol="0" anchor="t">
            <a:normAutofit/>
          </a:bodyPr>
          <a:lstStyle/>
          <a:p>
            <a:pPr marL="0" indent="0" algn="l">
              <a:buNone/>
            </a:pPr>
            <a:r>
              <a:rPr lang="en-US" sz="900" dirty="0">
                <a:solidFill>
                  <a:srgbClr val="8FA2B3"/>
                </a:solidFill>
                <a:latin typeface="Aptos" pitchFamily="34" charset="0"/>
                <a:ea typeface="Aptos" pitchFamily="34" charset="-122"/>
                <a:cs typeface="Aptos" pitchFamily="34" charset="-120"/>
              </a:rPr>
              <a:t>Assumptions: $10 per million input tokens (</a:t>
            </a:r>
            <a:r>
              <a:rPr lang="en-US" sz="900" dirty="0">
                <a:solidFill>
                  <a:srgbClr val="4EA3D8"/>
                </a:solidFill>
                <a:latin typeface="Aptos" pitchFamily="34" charset="0"/>
                <a:ea typeface="Aptos" pitchFamily="34" charset="-122"/>
                <a:cs typeface="Aptos" pitchFamily="34" charset="-120"/>
                <a:hlinkClick r:id="rId4">
                  <a:extLst>
                    <a:ext uri="{A12FA001-AC4F-418D-AE19-62706E023703}">
                      <ahyp:hlinkClr xmlns:ahyp="http://schemas.microsoft.com/office/drawing/2018/hyperlinkcolor" val="tx"/>
                    </a:ext>
                  </a:extLst>
                </a:hlinkClick>
              </a:rPr>
              <a:t>Claude Fable 5.1 list price</a:t>
            </a:r>
            <a:r>
              <a:rPr lang="en-US" sz="900" dirty="0">
                <a:solidFill>
                  <a:srgbClr val="8FA2B3"/>
                </a:solidFill>
                <a:latin typeface="Aptos" pitchFamily="34" charset="0"/>
                <a:ea typeface="Aptos" pitchFamily="34" charset="-122"/>
                <a:cs typeface="Aptos" pitchFamily="34" charset="-120"/>
              </a:rPr>
              <a:t>, Anthropic's highest-priced generally available model); $0.09/GB metered data transfer (</a:t>
            </a:r>
            <a:r>
              <a:rPr lang="en-US" sz="900" dirty="0">
                <a:solidFill>
                  <a:srgbClr val="4EA3D8"/>
                </a:solidFill>
                <a:latin typeface="Aptos" pitchFamily="34" charset="0"/>
                <a:ea typeface="Aptos" pitchFamily="34" charset="-122"/>
                <a:cs typeface="Aptos" pitchFamily="34" charset="-120"/>
                <a:hlinkClick r:id="rId5">
                  <a:extLst>
                    <a:ext uri="{A12FA001-AC4F-418D-AE19-62706E023703}">
                      <ahyp:hlinkClr xmlns:ahyp="http://schemas.microsoft.com/office/drawing/2018/hyperlinkcolor" val="tx"/>
                    </a:ext>
                  </a:extLst>
                </a:hlinkClick>
              </a:rPr>
              <a:t>AWS standard rate</a:t>
            </a:r>
            <a:r>
              <a:rPr lang="en-US" sz="900" dirty="0">
                <a:solidFill>
                  <a:srgbClr val="8FA2B3"/>
                </a:solidFill>
                <a:latin typeface="Aptos" pitchFamily="34" charset="0"/>
                <a:ea typeface="Aptos" pitchFamily="34" charset="-122"/>
                <a:cs typeface="Aptos" pitchFamily="34" charset="-120"/>
              </a:rPr>
              <a:t>); 10 Mbps edge uplink; 1,000 questions/day. Output tokens, caching, and batch discounts excluded. Tokens estimated at four characters per token.</a:t>
            </a:r>
          </a:p>
        </p:txBody>
      </p:sp>
      <p:sp>
        <p:nvSpPr>
          <p:cNvPr id="30"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26</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$2.0M seed: convert architecture into repeatable product proof</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18–24 month objective: technical proof + paid production conversion + multi-plant expansion path.</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594360" y="1280160"/>
            <a:ext cx="3456432" cy="1024128"/>
          </a:xfrm>
          <a:prstGeom prst="roundRect">
            <a:avLst>
              <a:gd name="adj" fmla="val 4464"/>
            </a:avLst>
          </a:prstGeom>
          <a:solidFill>
            <a:srgbClr val="0E1D2C"/>
          </a:solidFill>
          <a:ln w="12700">
            <a:solidFill>
              <a:srgbClr val="274052"/>
            </a:solidFill>
            <a:prstDash val="solid"/>
          </a:ln>
        </p:spPr>
        <p:txBody>
          <a:bodyPr/>
          <a:lstStyle/>
          <a:p>
            <a:endParaRPr/>
          </a:p>
        </p:txBody>
      </p:sp>
      <p:sp>
        <p:nvSpPr>
          <p:cNvPr id="6" name="Text 3"/>
          <p:cNvSpPr/>
          <p:nvPr/>
        </p:nvSpPr>
        <p:spPr>
          <a:xfrm>
            <a:off x="731520" y="1426464"/>
            <a:ext cx="685800" cy="292608"/>
          </a:xfrm>
          <a:prstGeom prst="rect">
            <a:avLst/>
          </a:prstGeom>
          <a:noFill/>
          <a:ln/>
        </p:spPr>
        <p:txBody>
          <a:bodyPr wrap="square" lIns="0" tIns="0" rIns="0" bIns="0" rtlCol="0" anchor="ctr">
            <a:normAutofit/>
          </a:bodyPr>
          <a:lstStyle/>
          <a:p>
            <a:pPr marL="0" indent="0" algn="l">
              <a:buNone/>
            </a:pPr>
            <a:r>
              <a:rPr lang="en-US" sz="1600" b="1" dirty="0">
                <a:solidFill>
                  <a:srgbClr val="E47A4F"/>
                </a:solidFill>
                <a:latin typeface="Aptos" pitchFamily="34" charset="0"/>
                <a:ea typeface="Aptos" pitchFamily="34" charset="-122"/>
                <a:cs typeface="Aptos" pitchFamily="34" charset="-120"/>
              </a:rPr>
              <a:t>40%</a:t>
            </a:r>
            <a:endParaRPr lang="en-US" sz="1600" dirty="0"/>
          </a:p>
        </p:txBody>
      </p:sp>
      <p:sp>
        <p:nvSpPr>
          <p:cNvPr id="7" name="Text 4"/>
          <p:cNvSpPr/>
          <p:nvPr/>
        </p:nvSpPr>
        <p:spPr>
          <a:xfrm>
            <a:off x="1463040" y="1426464"/>
            <a:ext cx="731520" cy="274320"/>
          </a:xfrm>
          <a:prstGeom prst="rect">
            <a:avLst/>
          </a:prstGeom>
          <a:noFill/>
          <a:ln/>
        </p:spPr>
        <p:txBody>
          <a:bodyPr wrap="square" lIns="0" tIns="0" rIns="0" bIns="0" rtlCol="0" anchor="ctr">
            <a:normAutofit/>
          </a:bodyPr>
          <a:lstStyle/>
          <a:p>
            <a:pPr marL="0" indent="0" algn="l">
              <a:buNone/>
            </a:pPr>
            <a:r>
              <a:rPr lang="en-US" sz="1000" b="1" dirty="0">
                <a:solidFill>
                  <a:srgbClr val="F4F7FA"/>
                </a:solidFill>
                <a:latin typeface="Aptos" pitchFamily="34" charset="0"/>
                <a:ea typeface="Aptos" pitchFamily="34" charset="-122"/>
                <a:cs typeface="Aptos" pitchFamily="34" charset="-120"/>
              </a:rPr>
              <a:t>$800K</a:t>
            </a:r>
            <a:endParaRPr lang="en-US" sz="1000" dirty="0"/>
          </a:p>
        </p:txBody>
      </p:sp>
      <p:sp>
        <p:nvSpPr>
          <p:cNvPr id="8" name="Text 5"/>
          <p:cNvSpPr/>
          <p:nvPr/>
        </p:nvSpPr>
        <p:spPr>
          <a:xfrm>
            <a:off x="1463040" y="1737360"/>
            <a:ext cx="2331720" cy="292608"/>
          </a:xfrm>
          <a:prstGeom prst="rect">
            <a:avLst/>
          </a:prstGeom>
          <a:noFill/>
          <a:ln/>
        </p:spPr>
        <p:txBody>
          <a:bodyPr wrap="square" lIns="0" tIns="0" rIns="0" bIns="0" rtlCol="0" anchor="ctr">
            <a:normAutofit/>
          </a:bodyPr>
          <a:lstStyle/>
          <a:p>
            <a:pPr marL="0" indent="0" algn="l">
              <a:buNone/>
            </a:pPr>
            <a:r>
              <a:rPr lang="en-US" sz="850" dirty="0">
                <a:solidFill>
                  <a:srgbClr val="D8E1E8"/>
                </a:solidFill>
                <a:latin typeface="Aptos" pitchFamily="34" charset="0"/>
                <a:ea typeface="Aptos" pitchFamily="34" charset="-122"/>
                <a:cs typeface="Aptos" pitchFamily="34" charset="-120"/>
              </a:rPr>
              <a:t>Product + AI engineering</a:t>
            </a:r>
            <a:endParaRPr lang="en-US" sz="850" dirty="0"/>
          </a:p>
        </p:txBody>
      </p:sp>
      <p:sp>
        <p:nvSpPr>
          <p:cNvPr id="9" name="Shape 6"/>
          <p:cNvSpPr/>
          <p:nvPr/>
        </p:nvSpPr>
        <p:spPr>
          <a:xfrm>
            <a:off x="4361688" y="1280160"/>
            <a:ext cx="3456432" cy="1024128"/>
          </a:xfrm>
          <a:prstGeom prst="roundRect">
            <a:avLst>
              <a:gd name="adj" fmla="val 4464"/>
            </a:avLst>
          </a:prstGeom>
          <a:solidFill>
            <a:srgbClr val="0E1D2C"/>
          </a:solidFill>
          <a:ln w="12700">
            <a:solidFill>
              <a:srgbClr val="274052"/>
            </a:solidFill>
            <a:prstDash val="solid"/>
          </a:ln>
        </p:spPr>
        <p:txBody>
          <a:bodyPr/>
          <a:lstStyle/>
          <a:p>
            <a:endParaRPr/>
          </a:p>
        </p:txBody>
      </p:sp>
      <p:sp>
        <p:nvSpPr>
          <p:cNvPr id="10" name="Text 7"/>
          <p:cNvSpPr/>
          <p:nvPr/>
        </p:nvSpPr>
        <p:spPr>
          <a:xfrm>
            <a:off x="4498848" y="1426464"/>
            <a:ext cx="685800" cy="292608"/>
          </a:xfrm>
          <a:prstGeom prst="rect">
            <a:avLst/>
          </a:prstGeom>
          <a:noFill/>
          <a:ln/>
        </p:spPr>
        <p:txBody>
          <a:bodyPr wrap="square" lIns="0" tIns="0" rIns="0" bIns="0" rtlCol="0" anchor="ctr">
            <a:normAutofit/>
          </a:bodyPr>
          <a:lstStyle/>
          <a:p>
            <a:pPr marL="0" indent="0" algn="l">
              <a:buNone/>
            </a:pPr>
            <a:r>
              <a:rPr lang="en-US" sz="1600" b="1" dirty="0">
                <a:solidFill>
                  <a:srgbClr val="F4F7FA"/>
                </a:solidFill>
                <a:latin typeface="Aptos" pitchFamily="34" charset="0"/>
                <a:ea typeface="Aptos" pitchFamily="34" charset="-122"/>
                <a:cs typeface="Aptos" pitchFamily="34" charset="-120"/>
              </a:rPr>
              <a:t>20%</a:t>
            </a:r>
            <a:endParaRPr lang="en-US" sz="1600" dirty="0"/>
          </a:p>
        </p:txBody>
      </p:sp>
      <p:sp>
        <p:nvSpPr>
          <p:cNvPr id="11" name="Text 8"/>
          <p:cNvSpPr/>
          <p:nvPr/>
        </p:nvSpPr>
        <p:spPr>
          <a:xfrm>
            <a:off x="5230368" y="1426464"/>
            <a:ext cx="731520" cy="274320"/>
          </a:xfrm>
          <a:prstGeom prst="rect">
            <a:avLst/>
          </a:prstGeom>
          <a:noFill/>
          <a:ln/>
        </p:spPr>
        <p:txBody>
          <a:bodyPr wrap="square" lIns="0" tIns="0" rIns="0" bIns="0" rtlCol="0" anchor="ctr">
            <a:normAutofit/>
          </a:bodyPr>
          <a:lstStyle/>
          <a:p>
            <a:pPr marL="0" indent="0" algn="l">
              <a:buNone/>
            </a:pPr>
            <a:r>
              <a:rPr lang="en-US" sz="1000" b="1" dirty="0">
                <a:solidFill>
                  <a:srgbClr val="F4F7FA"/>
                </a:solidFill>
                <a:latin typeface="Aptos" pitchFamily="34" charset="0"/>
                <a:ea typeface="Aptos" pitchFamily="34" charset="-122"/>
                <a:cs typeface="Aptos" pitchFamily="34" charset="-120"/>
              </a:rPr>
              <a:t>$400K</a:t>
            </a:r>
            <a:endParaRPr lang="en-US" sz="1000" dirty="0"/>
          </a:p>
        </p:txBody>
      </p:sp>
      <p:sp>
        <p:nvSpPr>
          <p:cNvPr id="12" name="Text 9"/>
          <p:cNvSpPr/>
          <p:nvPr/>
        </p:nvSpPr>
        <p:spPr>
          <a:xfrm>
            <a:off x="5230368" y="1737360"/>
            <a:ext cx="2331720" cy="292608"/>
          </a:xfrm>
          <a:prstGeom prst="rect">
            <a:avLst/>
          </a:prstGeom>
          <a:noFill/>
          <a:ln/>
        </p:spPr>
        <p:txBody>
          <a:bodyPr wrap="square" lIns="0" tIns="0" rIns="0" bIns="0" rtlCol="0" anchor="ctr">
            <a:normAutofit/>
          </a:bodyPr>
          <a:lstStyle/>
          <a:p>
            <a:pPr marL="0" indent="0" algn="l">
              <a:buNone/>
            </a:pPr>
            <a:r>
              <a:rPr lang="en-US" sz="850" dirty="0">
                <a:solidFill>
                  <a:srgbClr val="D8E1E8"/>
                </a:solidFill>
                <a:latin typeface="Aptos" pitchFamily="34" charset="0"/>
                <a:ea typeface="Aptos" pitchFamily="34" charset="-122"/>
                <a:cs typeface="Aptos" pitchFamily="34" charset="-120"/>
              </a:rPr>
              <a:t>Design partners + pilots</a:t>
            </a:r>
            <a:endParaRPr lang="en-US" sz="850" dirty="0"/>
          </a:p>
        </p:txBody>
      </p:sp>
      <p:sp>
        <p:nvSpPr>
          <p:cNvPr id="13" name="Shape 10"/>
          <p:cNvSpPr/>
          <p:nvPr/>
        </p:nvSpPr>
        <p:spPr>
          <a:xfrm>
            <a:off x="8129016" y="1280160"/>
            <a:ext cx="3456432" cy="1024128"/>
          </a:xfrm>
          <a:prstGeom prst="roundRect">
            <a:avLst>
              <a:gd name="adj" fmla="val 4464"/>
            </a:avLst>
          </a:prstGeom>
          <a:solidFill>
            <a:srgbClr val="0E1D2C"/>
          </a:solidFill>
          <a:ln w="12700">
            <a:solidFill>
              <a:srgbClr val="274052"/>
            </a:solidFill>
            <a:prstDash val="solid"/>
          </a:ln>
        </p:spPr>
        <p:txBody>
          <a:bodyPr/>
          <a:lstStyle/>
          <a:p>
            <a:endParaRPr/>
          </a:p>
        </p:txBody>
      </p:sp>
      <p:sp>
        <p:nvSpPr>
          <p:cNvPr id="14" name="Text 11"/>
          <p:cNvSpPr/>
          <p:nvPr/>
        </p:nvSpPr>
        <p:spPr>
          <a:xfrm>
            <a:off x="8266176" y="1426464"/>
            <a:ext cx="685800" cy="292608"/>
          </a:xfrm>
          <a:prstGeom prst="rect">
            <a:avLst/>
          </a:prstGeom>
          <a:noFill/>
          <a:ln/>
        </p:spPr>
        <p:txBody>
          <a:bodyPr wrap="square" lIns="0" tIns="0" rIns="0" bIns="0" rtlCol="0" anchor="ctr">
            <a:normAutofit/>
          </a:bodyPr>
          <a:lstStyle/>
          <a:p>
            <a:pPr marL="0" indent="0" algn="l">
              <a:buNone/>
            </a:pPr>
            <a:r>
              <a:rPr lang="en-US" sz="1600" b="1" dirty="0">
                <a:solidFill>
                  <a:srgbClr val="F4F7FA"/>
                </a:solidFill>
                <a:latin typeface="Aptos" pitchFamily="34" charset="0"/>
                <a:ea typeface="Aptos" pitchFamily="34" charset="-122"/>
                <a:cs typeface="Aptos" pitchFamily="34" charset="-120"/>
              </a:rPr>
              <a:t>15%</a:t>
            </a:r>
            <a:endParaRPr lang="en-US" sz="1600" dirty="0"/>
          </a:p>
        </p:txBody>
      </p:sp>
      <p:sp>
        <p:nvSpPr>
          <p:cNvPr id="15" name="Text 12"/>
          <p:cNvSpPr/>
          <p:nvPr/>
        </p:nvSpPr>
        <p:spPr>
          <a:xfrm>
            <a:off x="8997696" y="1426464"/>
            <a:ext cx="731520" cy="274320"/>
          </a:xfrm>
          <a:prstGeom prst="rect">
            <a:avLst/>
          </a:prstGeom>
          <a:noFill/>
          <a:ln/>
        </p:spPr>
        <p:txBody>
          <a:bodyPr wrap="square" lIns="0" tIns="0" rIns="0" bIns="0" rtlCol="0" anchor="ctr">
            <a:normAutofit/>
          </a:bodyPr>
          <a:lstStyle/>
          <a:p>
            <a:pPr marL="0" indent="0" algn="l">
              <a:buNone/>
            </a:pPr>
            <a:r>
              <a:rPr lang="en-US" sz="1000" b="1" dirty="0">
                <a:solidFill>
                  <a:srgbClr val="F4F7FA"/>
                </a:solidFill>
                <a:latin typeface="Aptos" pitchFamily="34" charset="0"/>
                <a:ea typeface="Aptos" pitchFamily="34" charset="-122"/>
                <a:cs typeface="Aptos" pitchFamily="34" charset="-120"/>
              </a:rPr>
              <a:t>$300K</a:t>
            </a:r>
            <a:endParaRPr lang="en-US" sz="1000" dirty="0"/>
          </a:p>
        </p:txBody>
      </p:sp>
      <p:sp>
        <p:nvSpPr>
          <p:cNvPr id="16" name="Text 13"/>
          <p:cNvSpPr/>
          <p:nvPr/>
        </p:nvSpPr>
        <p:spPr>
          <a:xfrm>
            <a:off x="8997696" y="1737360"/>
            <a:ext cx="2331720" cy="292608"/>
          </a:xfrm>
          <a:prstGeom prst="rect">
            <a:avLst/>
          </a:prstGeom>
          <a:noFill/>
          <a:ln/>
        </p:spPr>
        <p:txBody>
          <a:bodyPr wrap="square" lIns="0" tIns="0" rIns="0" bIns="0" rtlCol="0" anchor="ctr">
            <a:normAutofit/>
          </a:bodyPr>
          <a:lstStyle/>
          <a:p>
            <a:pPr marL="0" indent="0" algn="l">
              <a:buNone/>
            </a:pPr>
            <a:r>
              <a:rPr lang="en-US" sz="850" dirty="0">
                <a:solidFill>
                  <a:srgbClr val="D8E1E8"/>
                </a:solidFill>
                <a:latin typeface="Aptos" pitchFamily="34" charset="0"/>
                <a:ea typeface="Aptos" pitchFamily="34" charset="-122"/>
                <a:cs typeface="Aptos" pitchFamily="34" charset="-120"/>
              </a:rPr>
              <a:t>AnyLog integration + runtime</a:t>
            </a:r>
            <a:endParaRPr lang="en-US" sz="850" dirty="0"/>
          </a:p>
        </p:txBody>
      </p:sp>
      <p:sp>
        <p:nvSpPr>
          <p:cNvPr id="17" name="Shape 14"/>
          <p:cNvSpPr/>
          <p:nvPr/>
        </p:nvSpPr>
        <p:spPr>
          <a:xfrm>
            <a:off x="594360" y="2606040"/>
            <a:ext cx="3456432" cy="1024128"/>
          </a:xfrm>
          <a:prstGeom prst="roundRect">
            <a:avLst>
              <a:gd name="adj" fmla="val 4464"/>
            </a:avLst>
          </a:prstGeom>
          <a:solidFill>
            <a:srgbClr val="0E1D2C"/>
          </a:solidFill>
          <a:ln w="12700">
            <a:solidFill>
              <a:srgbClr val="274052"/>
            </a:solidFill>
            <a:prstDash val="solid"/>
          </a:ln>
        </p:spPr>
        <p:txBody>
          <a:bodyPr/>
          <a:lstStyle/>
          <a:p>
            <a:endParaRPr/>
          </a:p>
        </p:txBody>
      </p:sp>
      <p:sp>
        <p:nvSpPr>
          <p:cNvPr id="18" name="Text 15"/>
          <p:cNvSpPr/>
          <p:nvPr/>
        </p:nvSpPr>
        <p:spPr>
          <a:xfrm>
            <a:off x="731520" y="2752344"/>
            <a:ext cx="685800" cy="292608"/>
          </a:xfrm>
          <a:prstGeom prst="rect">
            <a:avLst/>
          </a:prstGeom>
          <a:noFill/>
          <a:ln/>
        </p:spPr>
        <p:txBody>
          <a:bodyPr wrap="square" lIns="0" tIns="0" rIns="0" bIns="0" rtlCol="0" anchor="ctr">
            <a:normAutofit/>
          </a:bodyPr>
          <a:lstStyle/>
          <a:p>
            <a:pPr marL="0" indent="0" algn="l">
              <a:buNone/>
            </a:pPr>
            <a:r>
              <a:rPr lang="en-US" sz="1600" b="1" dirty="0">
                <a:solidFill>
                  <a:srgbClr val="F4F7FA"/>
                </a:solidFill>
                <a:latin typeface="Aptos" pitchFamily="34" charset="0"/>
                <a:ea typeface="Aptos" pitchFamily="34" charset="-122"/>
                <a:cs typeface="Aptos" pitchFamily="34" charset="-120"/>
              </a:rPr>
              <a:t>10%</a:t>
            </a:r>
            <a:endParaRPr lang="en-US" sz="1600" dirty="0"/>
          </a:p>
        </p:txBody>
      </p:sp>
      <p:sp>
        <p:nvSpPr>
          <p:cNvPr id="19" name="Text 16"/>
          <p:cNvSpPr/>
          <p:nvPr/>
        </p:nvSpPr>
        <p:spPr>
          <a:xfrm>
            <a:off x="1463040" y="2752344"/>
            <a:ext cx="731520" cy="274320"/>
          </a:xfrm>
          <a:prstGeom prst="rect">
            <a:avLst/>
          </a:prstGeom>
          <a:noFill/>
          <a:ln/>
        </p:spPr>
        <p:txBody>
          <a:bodyPr wrap="square" lIns="0" tIns="0" rIns="0" bIns="0" rtlCol="0" anchor="ctr">
            <a:normAutofit/>
          </a:bodyPr>
          <a:lstStyle/>
          <a:p>
            <a:pPr marL="0" indent="0" algn="l">
              <a:buNone/>
            </a:pPr>
            <a:r>
              <a:rPr lang="en-US" sz="1000" b="1" dirty="0">
                <a:solidFill>
                  <a:srgbClr val="F4F7FA"/>
                </a:solidFill>
                <a:latin typeface="Aptos" pitchFamily="34" charset="0"/>
                <a:ea typeface="Aptos" pitchFamily="34" charset="-122"/>
                <a:cs typeface="Aptos" pitchFamily="34" charset="-120"/>
              </a:rPr>
              <a:t>$200K</a:t>
            </a:r>
            <a:endParaRPr lang="en-US" sz="1000" dirty="0"/>
          </a:p>
        </p:txBody>
      </p:sp>
      <p:sp>
        <p:nvSpPr>
          <p:cNvPr id="20" name="Text 17"/>
          <p:cNvSpPr/>
          <p:nvPr/>
        </p:nvSpPr>
        <p:spPr>
          <a:xfrm>
            <a:off x="1463040" y="3063240"/>
            <a:ext cx="2331720" cy="292608"/>
          </a:xfrm>
          <a:prstGeom prst="rect">
            <a:avLst/>
          </a:prstGeom>
          <a:noFill/>
          <a:ln/>
        </p:spPr>
        <p:txBody>
          <a:bodyPr wrap="square" lIns="0" tIns="0" rIns="0" bIns="0" rtlCol="0" anchor="ctr">
            <a:normAutofit/>
          </a:bodyPr>
          <a:lstStyle/>
          <a:p>
            <a:pPr marL="0" indent="0" algn="l">
              <a:buNone/>
            </a:pPr>
            <a:r>
              <a:rPr lang="en-US" sz="850" dirty="0">
                <a:solidFill>
                  <a:srgbClr val="D8E1E8"/>
                </a:solidFill>
                <a:latin typeface="Aptos" pitchFamily="34" charset="0"/>
                <a:ea typeface="Aptos" pitchFamily="34" charset="-122"/>
                <a:cs typeface="Aptos" pitchFamily="34" charset="-120"/>
              </a:rPr>
              <a:t>Connectors + validation</a:t>
            </a:r>
            <a:endParaRPr lang="en-US" sz="850" dirty="0"/>
          </a:p>
        </p:txBody>
      </p:sp>
      <p:sp>
        <p:nvSpPr>
          <p:cNvPr id="21" name="Shape 18"/>
          <p:cNvSpPr/>
          <p:nvPr/>
        </p:nvSpPr>
        <p:spPr>
          <a:xfrm>
            <a:off x="4361688" y="2606040"/>
            <a:ext cx="3456432" cy="1024128"/>
          </a:xfrm>
          <a:prstGeom prst="roundRect">
            <a:avLst>
              <a:gd name="adj" fmla="val 4464"/>
            </a:avLst>
          </a:prstGeom>
          <a:solidFill>
            <a:srgbClr val="0E1D2C"/>
          </a:solidFill>
          <a:ln w="12700">
            <a:solidFill>
              <a:srgbClr val="274052"/>
            </a:solidFill>
            <a:prstDash val="solid"/>
          </a:ln>
        </p:spPr>
        <p:txBody>
          <a:bodyPr/>
          <a:lstStyle/>
          <a:p>
            <a:endParaRPr/>
          </a:p>
        </p:txBody>
      </p:sp>
      <p:sp>
        <p:nvSpPr>
          <p:cNvPr id="22" name="Text 19"/>
          <p:cNvSpPr/>
          <p:nvPr/>
        </p:nvSpPr>
        <p:spPr>
          <a:xfrm>
            <a:off x="4498848" y="2752344"/>
            <a:ext cx="685800" cy="292608"/>
          </a:xfrm>
          <a:prstGeom prst="rect">
            <a:avLst/>
          </a:prstGeom>
          <a:noFill/>
          <a:ln/>
        </p:spPr>
        <p:txBody>
          <a:bodyPr wrap="square" lIns="0" tIns="0" rIns="0" bIns="0" rtlCol="0" anchor="ctr">
            <a:normAutofit/>
          </a:bodyPr>
          <a:lstStyle/>
          <a:p>
            <a:pPr marL="0" indent="0" algn="l">
              <a:buNone/>
            </a:pPr>
            <a:r>
              <a:rPr lang="en-US" sz="1600" b="1" dirty="0">
                <a:solidFill>
                  <a:srgbClr val="F4F7FA"/>
                </a:solidFill>
                <a:latin typeface="Aptos" pitchFamily="34" charset="0"/>
                <a:ea typeface="Aptos" pitchFamily="34" charset="-122"/>
                <a:cs typeface="Aptos" pitchFamily="34" charset="-120"/>
              </a:rPr>
              <a:t>7.5%</a:t>
            </a:r>
            <a:endParaRPr lang="en-US" sz="1600" dirty="0"/>
          </a:p>
        </p:txBody>
      </p:sp>
      <p:sp>
        <p:nvSpPr>
          <p:cNvPr id="23" name="Text 20"/>
          <p:cNvSpPr/>
          <p:nvPr/>
        </p:nvSpPr>
        <p:spPr>
          <a:xfrm>
            <a:off x="5230368" y="2752344"/>
            <a:ext cx="731520" cy="274320"/>
          </a:xfrm>
          <a:prstGeom prst="rect">
            <a:avLst/>
          </a:prstGeom>
          <a:noFill/>
          <a:ln/>
        </p:spPr>
        <p:txBody>
          <a:bodyPr wrap="square" lIns="0" tIns="0" rIns="0" bIns="0" rtlCol="0" anchor="ctr">
            <a:normAutofit/>
          </a:bodyPr>
          <a:lstStyle/>
          <a:p>
            <a:pPr marL="0" indent="0" algn="l">
              <a:buNone/>
            </a:pPr>
            <a:r>
              <a:rPr lang="en-US" sz="1000" b="1" dirty="0">
                <a:solidFill>
                  <a:srgbClr val="F4F7FA"/>
                </a:solidFill>
                <a:latin typeface="Aptos" pitchFamily="34" charset="0"/>
                <a:ea typeface="Aptos" pitchFamily="34" charset="-122"/>
                <a:cs typeface="Aptos" pitchFamily="34" charset="-120"/>
              </a:rPr>
              <a:t>$150K</a:t>
            </a:r>
            <a:endParaRPr lang="en-US" sz="1000" dirty="0"/>
          </a:p>
        </p:txBody>
      </p:sp>
      <p:sp>
        <p:nvSpPr>
          <p:cNvPr id="24" name="Text 21"/>
          <p:cNvSpPr/>
          <p:nvPr/>
        </p:nvSpPr>
        <p:spPr>
          <a:xfrm>
            <a:off x="5230368" y="3063240"/>
            <a:ext cx="2331720" cy="292608"/>
          </a:xfrm>
          <a:prstGeom prst="rect">
            <a:avLst/>
          </a:prstGeom>
          <a:noFill/>
          <a:ln/>
        </p:spPr>
        <p:txBody>
          <a:bodyPr wrap="square" lIns="0" tIns="0" rIns="0" bIns="0" rtlCol="0" anchor="ctr">
            <a:normAutofit/>
          </a:bodyPr>
          <a:lstStyle/>
          <a:p>
            <a:pPr marL="0" indent="0" algn="l">
              <a:buNone/>
            </a:pPr>
            <a:r>
              <a:rPr lang="en-US" sz="850" dirty="0">
                <a:solidFill>
                  <a:srgbClr val="D8E1E8"/>
                </a:solidFill>
                <a:latin typeface="Aptos" pitchFamily="34" charset="0"/>
                <a:ea typeface="Aptos" pitchFamily="34" charset="-122"/>
                <a:cs typeface="Aptos" pitchFamily="34" charset="-120"/>
              </a:rPr>
              <a:t>GTM + partnerships</a:t>
            </a:r>
            <a:endParaRPr lang="en-US" sz="850" dirty="0"/>
          </a:p>
        </p:txBody>
      </p:sp>
      <p:sp>
        <p:nvSpPr>
          <p:cNvPr id="25" name="Shape 22"/>
          <p:cNvSpPr/>
          <p:nvPr/>
        </p:nvSpPr>
        <p:spPr>
          <a:xfrm>
            <a:off x="8129016" y="2606040"/>
            <a:ext cx="3456432" cy="1024128"/>
          </a:xfrm>
          <a:prstGeom prst="roundRect">
            <a:avLst>
              <a:gd name="adj" fmla="val 4464"/>
            </a:avLst>
          </a:prstGeom>
          <a:solidFill>
            <a:srgbClr val="0E1D2C"/>
          </a:solidFill>
          <a:ln w="12700">
            <a:solidFill>
              <a:srgbClr val="274052"/>
            </a:solidFill>
            <a:prstDash val="solid"/>
          </a:ln>
        </p:spPr>
        <p:txBody>
          <a:bodyPr/>
          <a:lstStyle/>
          <a:p>
            <a:endParaRPr/>
          </a:p>
        </p:txBody>
      </p:sp>
      <p:sp>
        <p:nvSpPr>
          <p:cNvPr id="26" name="Text 23"/>
          <p:cNvSpPr/>
          <p:nvPr/>
        </p:nvSpPr>
        <p:spPr>
          <a:xfrm>
            <a:off x="8266176" y="2752344"/>
            <a:ext cx="685800" cy="292608"/>
          </a:xfrm>
          <a:prstGeom prst="rect">
            <a:avLst/>
          </a:prstGeom>
          <a:noFill/>
          <a:ln/>
        </p:spPr>
        <p:txBody>
          <a:bodyPr wrap="square" lIns="0" tIns="0" rIns="0" bIns="0" rtlCol="0" anchor="ctr">
            <a:normAutofit/>
          </a:bodyPr>
          <a:lstStyle/>
          <a:p>
            <a:pPr marL="0" indent="0" algn="l">
              <a:buNone/>
            </a:pPr>
            <a:r>
              <a:rPr lang="en-US" sz="1600" b="1" dirty="0">
                <a:solidFill>
                  <a:srgbClr val="F4F7FA"/>
                </a:solidFill>
                <a:latin typeface="Aptos" pitchFamily="34" charset="0"/>
                <a:ea typeface="Aptos" pitchFamily="34" charset="-122"/>
                <a:cs typeface="Aptos" pitchFamily="34" charset="-120"/>
              </a:rPr>
              <a:t>7.5%</a:t>
            </a:r>
            <a:endParaRPr lang="en-US" sz="1600" dirty="0"/>
          </a:p>
        </p:txBody>
      </p:sp>
      <p:sp>
        <p:nvSpPr>
          <p:cNvPr id="27" name="Text 24"/>
          <p:cNvSpPr/>
          <p:nvPr/>
        </p:nvSpPr>
        <p:spPr>
          <a:xfrm>
            <a:off x="8997696" y="2752344"/>
            <a:ext cx="731520" cy="274320"/>
          </a:xfrm>
          <a:prstGeom prst="rect">
            <a:avLst/>
          </a:prstGeom>
          <a:noFill/>
          <a:ln/>
        </p:spPr>
        <p:txBody>
          <a:bodyPr wrap="square" lIns="0" tIns="0" rIns="0" bIns="0" rtlCol="0" anchor="ctr">
            <a:normAutofit/>
          </a:bodyPr>
          <a:lstStyle/>
          <a:p>
            <a:pPr marL="0" indent="0" algn="l">
              <a:buNone/>
            </a:pPr>
            <a:r>
              <a:rPr lang="en-US" sz="1000" b="1" dirty="0">
                <a:solidFill>
                  <a:srgbClr val="F4F7FA"/>
                </a:solidFill>
                <a:latin typeface="Aptos" pitchFamily="34" charset="0"/>
                <a:ea typeface="Aptos" pitchFamily="34" charset="-122"/>
                <a:cs typeface="Aptos" pitchFamily="34" charset="-120"/>
              </a:rPr>
              <a:t>$150K</a:t>
            </a:r>
            <a:endParaRPr lang="en-US" sz="1000" dirty="0"/>
          </a:p>
        </p:txBody>
      </p:sp>
      <p:sp>
        <p:nvSpPr>
          <p:cNvPr id="28" name="Text 25"/>
          <p:cNvSpPr/>
          <p:nvPr/>
        </p:nvSpPr>
        <p:spPr>
          <a:xfrm>
            <a:off x="8997696" y="3063240"/>
            <a:ext cx="2331720" cy="292608"/>
          </a:xfrm>
          <a:prstGeom prst="rect">
            <a:avLst/>
          </a:prstGeom>
          <a:noFill/>
          <a:ln/>
        </p:spPr>
        <p:txBody>
          <a:bodyPr wrap="square" lIns="0" tIns="0" rIns="0" bIns="0" rtlCol="0" anchor="ctr">
            <a:normAutofit/>
          </a:bodyPr>
          <a:lstStyle/>
          <a:p>
            <a:pPr marL="0" indent="0" algn="l">
              <a:buNone/>
            </a:pPr>
            <a:r>
              <a:rPr lang="en-US" sz="850" dirty="0">
                <a:solidFill>
                  <a:srgbClr val="D8E1E8"/>
                </a:solidFill>
                <a:latin typeface="Aptos" pitchFamily="34" charset="0"/>
                <a:ea typeface="Aptos" pitchFamily="34" charset="-122"/>
                <a:cs typeface="Aptos" pitchFamily="34" charset="-120"/>
              </a:rPr>
              <a:t>Ops, legal, security + contingency</a:t>
            </a:r>
            <a:endParaRPr lang="en-US" sz="850" dirty="0"/>
          </a:p>
        </p:txBody>
      </p:sp>
      <p:sp>
        <p:nvSpPr>
          <p:cNvPr id="29" name="Shape 26"/>
          <p:cNvSpPr/>
          <p:nvPr/>
        </p:nvSpPr>
        <p:spPr>
          <a:xfrm>
            <a:off x="822960" y="4617720"/>
            <a:ext cx="2377440" cy="0"/>
          </a:xfrm>
          <a:prstGeom prst="line">
            <a:avLst/>
          </a:prstGeom>
          <a:noFill/>
          <a:ln w="50800">
            <a:solidFill>
              <a:srgbClr val="4EA3D8"/>
            </a:solidFill>
            <a:prstDash val="solid"/>
          </a:ln>
        </p:spPr>
        <p:txBody>
          <a:bodyPr/>
          <a:lstStyle/>
          <a:p>
            <a:endParaRPr/>
          </a:p>
        </p:txBody>
      </p:sp>
      <p:sp>
        <p:nvSpPr>
          <p:cNvPr id="30" name="Text 27"/>
          <p:cNvSpPr/>
          <p:nvPr/>
        </p:nvSpPr>
        <p:spPr>
          <a:xfrm>
            <a:off x="640080" y="4160520"/>
            <a:ext cx="2560320" cy="256032"/>
          </a:xfrm>
          <a:prstGeom prst="rect">
            <a:avLst/>
          </a:prstGeom>
          <a:noFill/>
          <a:ln/>
        </p:spPr>
        <p:txBody>
          <a:bodyPr wrap="square" lIns="0" tIns="0" rIns="0" bIns="0" rtlCol="0" anchor="ctr">
            <a:normAutofit/>
          </a:bodyPr>
          <a:lstStyle/>
          <a:p>
            <a:pPr marL="0" indent="0" algn="l">
              <a:buNone/>
            </a:pPr>
            <a:r>
              <a:rPr lang="en-US" sz="1000" b="1" dirty="0">
                <a:solidFill>
                  <a:srgbClr val="F4F7FA"/>
                </a:solidFill>
                <a:latin typeface="Aptos" pitchFamily="34" charset="0"/>
                <a:ea typeface="Aptos" pitchFamily="34" charset="-122"/>
                <a:cs typeface="Aptos" pitchFamily="34" charset="-120"/>
              </a:rPr>
              <a:t>0–3 mo</a:t>
            </a:r>
            <a:endParaRPr lang="en-US" sz="1000" dirty="0"/>
          </a:p>
        </p:txBody>
      </p:sp>
      <p:sp>
        <p:nvSpPr>
          <p:cNvPr id="31" name="Text 28"/>
          <p:cNvSpPr/>
          <p:nvPr/>
        </p:nvSpPr>
        <p:spPr>
          <a:xfrm>
            <a:off x="640080" y="4800600"/>
            <a:ext cx="2560320" cy="384048"/>
          </a:xfrm>
          <a:prstGeom prst="rect">
            <a:avLst/>
          </a:prstGeom>
          <a:noFill/>
          <a:ln/>
        </p:spPr>
        <p:txBody>
          <a:bodyPr wrap="square" lIns="0" tIns="0" rIns="0" bIns="0" rtlCol="0" anchor="ctr">
            <a:normAutofit/>
          </a:bodyPr>
          <a:lstStyle/>
          <a:p>
            <a:pPr marL="0" indent="0" algn="l">
              <a:buNone/>
            </a:pPr>
            <a:r>
              <a:rPr lang="en-US" sz="830" b="1" dirty="0">
                <a:solidFill>
                  <a:srgbClr val="D8E1E8"/>
                </a:solidFill>
                <a:latin typeface="Aptos" pitchFamily="34" charset="0"/>
                <a:ea typeface="Aptos" pitchFamily="34" charset="-122"/>
                <a:cs typeface="Aptos" pitchFamily="34" charset="-120"/>
              </a:rPr>
              <a:t>Node contract + evidence schema</a:t>
            </a:r>
            <a:endParaRPr lang="en-US" sz="830" dirty="0"/>
          </a:p>
        </p:txBody>
      </p:sp>
      <p:sp>
        <p:nvSpPr>
          <p:cNvPr id="32" name="Text 29"/>
          <p:cNvSpPr/>
          <p:nvPr/>
        </p:nvSpPr>
        <p:spPr>
          <a:xfrm>
            <a:off x="640080" y="5285232"/>
            <a:ext cx="2560320" cy="292608"/>
          </a:xfrm>
          <a:prstGeom prst="rect">
            <a:avLst/>
          </a:prstGeom>
          <a:noFill/>
          <a:ln/>
        </p:spPr>
        <p:txBody>
          <a:bodyPr wrap="square" lIns="0" tIns="0" rIns="0" bIns="0" rtlCol="0" anchor="ctr">
            <a:normAutofit/>
          </a:bodyPr>
          <a:lstStyle/>
          <a:p>
            <a:pPr marL="0" indent="0" algn="l">
              <a:buNone/>
            </a:pPr>
            <a:r>
              <a:rPr lang="en-US" sz="780" dirty="0">
                <a:solidFill>
                  <a:srgbClr val="8FA2B3"/>
                </a:solidFill>
                <a:latin typeface="Aptos" pitchFamily="34" charset="0"/>
                <a:ea typeface="Aptos" pitchFamily="34" charset="-122"/>
                <a:cs typeface="Aptos" pitchFamily="34" charset="-120"/>
              </a:rPr>
              <a:t>2 design partners</a:t>
            </a:r>
            <a:endParaRPr lang="en-US" sz="780" dirty="0"/>
          </a:p>
        </p:txBody>
      </p:sp>
      <p:sp>
        <p:nvSpPr>
          <p:cNvPr id="33" name="Shape 30"/>
          <p:cNvSpPr/>
          <p:nvPr/>
        </p:nvSpPr>
        <p:spPr>
          <a:xfrm>
            <a:off x="3611880" y="4617720"/>
            <a:ext cx="2377440" cy="0"/>
          </a:xfrm>
          <a:prstGeom prst="line">
            <a:avLst/>
          </a:prstGeom>
          <a:noFill/>
          <a:ln w="50800">
            <a:solidFill>
              <a:srgbClr val="4EA3D8"/>
            </a:solidFill>
            <a:prstDash val="solid"/>
          </a:ln>
        </p:spPr>
        <p:txBody>
          <a:bodyPr/>
          <a:lstStyle/>
          <a:p>
            <a:endParaRPr/>
          </a:p>
        </p:txBody>
      </p:sp>
      <p:sp>
        <p:nvSpPr>
          <p:cNvPr id="34" name="Text 31"/>
          <p:cNvSpPr/>
          <p:nvPr/>
        </p:nvSpPr>
        <p:spPr>
          <a:xfrm>
            <a:off x="3429000" y="4160520"/>
            <a:ext cx="2560320" cy="256032"/>
          </a:xfrm>
          <a:prstGeom prst="rect">
            <a:avLst/>
          </a:prstGeom>
          <a:noFill/>
          <a:ln/>
        </p:spPr>
        <p:txBody>
          <a:bodyPr wrap="square" lIns="0" tIns="0" rIns="0" bIns="0" rtlCol="0" anchor="ctr">
            <a:normAutofit/>
          </a:bodyPr>
          <a:lstStyle/>
          <a:p>
            <a:pPr marL="0" indent="0" algn="l">
              <a:buNone/>
            </a:pPr>
            <a:r>
              <a:rPr lang="en-US" sz="1000" b="1" dirty="0">
                <a:solidFill>
                  <a:srgbClr val="F4F7FA"/>
                </a:solidFill>
                <a:latin typeface="Aptos" pitchFamily="34" charset="0"/>
                <a:ea typeface="Aptos" pitchFamily="34" charset="-122"/>
                <a:cs typeface="Aptos" pitchFamily="34" charset="-120"/>
              </a:rPr>
              <a:t>4–9 mo</a:t>
            </a:r>
            <a:endParaRPr lang="en-US" sz="1000" dirty="0"/>
          </a:p>
        </p:txBody>
      </p:sp>
      <p:sp>
        <p:nvSpPr>
          <p:cNvPr id="35" name="Text 32"/>
          <p:cNvSpPr/>
          <p:nvPr/>
        </p:nvSpPr>
        <p:spPr>
          <a:xfrm>
            <a:off x="3429000" y="4800600"/>
            <a:ext cx="2560320" cy="384048"/>
          </a:xfrm>
          <a:prstGeom prst="rect">
            <a:avLst/>
          </a:prstGeom>
          <a:noFill/>
          <a:ln/>
        </p:spPr>
        <p:txBody>
          <a:bodyPr wrap="square" lIns="0" tIns="0" rIns="0" bIns="0" rtlCol="0" anchor="ctr">
            <a:normAutofit/>
          </a:bodyPr>
          <a:lstStyle/>
          <a:p>
            <a:pPr marL="0" indent="0" algn="l">
              <a:buNone/>
            </a:pPr>
            <a:r>
              <a:rPr lang="en-US" sz="830" b="1" dirty="0">
                <a:solidFill>
                  <a:srgbClr val="D8E1E8"/>
                </a:solidFill>
                <a:latin typeface="Aptos" pitchFamily="34" charset="0"/>
                <a:ea typeface="Aptos" pitchFamily="34" charset="-122"/>
                <a:cs typeface="Aptos" pitchFamily="34" charset="-120"/>
              </a:rPr>
              <a:t>Plant-local appliance + investigation workflow</a:t>
            </a:r>
            <a:endParaRPr lang="en-US" sz="830" dirty="0"/>
          </a:p>
        </p:txBody>
      </p:sp>
      <p:sp>
        <p:nvSpPr>
          <p:cNvPr id="36" name="Text 33"/>
          <p:cNvSpPr/>
          <p:nvPr/>
        </p:nvSpPr>
        <p:spPr>
          <a:xfrm>
            <a:off x="3429000" y="5285232"/>
            <a:ext cx="2560320" cy="292608"/>
          </a:xfrm>
          <a:prstGeom prst="rect">
            <a:avLst/>
          </a:prstGeom>
          <a:noFill/>
          <a:ln/>
        </p:spPr>
        <p:txBody>
          <a:bodyPr wrap="square" lIns="0" tIns="0" rIns="0" bIns="0" rtlCol="0" anchor="ctr">
            <a:normAutofit/>
          </a:bodyPr>
          <a:lstStyle/>
          <a:p>
            <a:pPr marL="0" indent="0" algn="l">
              <a:buNone/>
            </a:pPr>
            <a:r>
              <a:rPr lang="en-US" sz="780" dirty="0">
                <a:solidFill>
                  <a:srgbClr val="8FA2B3"/>
                </a:solidFill>
                <a:latin typeface="Aptos" pitchFamily="34" charset="0"/>
                <a:ea typeface="Aptos" pitchFamily="34" charset="-122"/>
                <a:cs typeface="Aptos" pitchFamily="34" charset="-120"/>
              </a:rPr>
              <a:t>First brownfield pilot</a:t>
            </a:r>
            <a:endParaRPr lang="en-US" sz="780" dirty="0"/>
          </a:p>
        </p:txBody>
      </p:sp>
      <p:sp>
        <p:nvSpPr>
          <p:cNvPr id="37" name="Shape 34"/>
          <p:cNvSpPr/>
          <p:nvPr/>
        </p:nvSpPr>
        <p:spPr>
          <a:xfrm>
            <a:off x="6400800" y="4617720"/>
            <a:ext cx="2377440" cy="0"/>
          </a:xfrm>
          <a:prstGeom prst="line">
            <a:avLst/>
          </a:prstGeom>
          <a:noFill/>
          <a:ln w="50800">
            <a:solidFill>
              <a:srgbClr val="4EA3D8"/>
            </a:solidFill>
            <a:prstDash val="solid"/>
          </a:ln>
        </p:spPr>
        <p:txBody>
          <a:bodyPr/>
          <a:lstStyle/>
          <a:p>
            <a:endParaRPr/>
          </a:p>
        </p:txBody>
      </p:sp>
      <p:sp>
        <p:nvSpPr>
          <p:cNvPr id="38" name="Text 35"/>
          <p:cNvSpPr/>
          <p:nvPr/>
        </p:nvSpPr>
        <p:spPr>
          <a:xfrm>
            <a:off x="6217920" y="4160520"/>
            <a:ext cx="2560320" cy="256032"/>
          </a:xfrm>
          <a:prstGeom prst="rect">
            <a:avLst/>
          </a:prstGeom>
          <a:noFill/>
          <a:ln/>
        </p:spPr>
        <p:txBody>
          <a:bodyPr wrap="square" lIns="0" tIns="0" rIns="0" bIns="0" rtlCol="0" anchor="ctr">
            <a:normAutofit/>
          </a:bodyPr>
          <a:lstStyle/>
          <a:p>
            <a:pPr marL="0" indent="0" algn="l">
              <a:buNone/>
            </a:pPr>
            <a:r>
              <a:rPr lang="en-US" sz="1000" b="1" dirty="0">
                <a:solidFill>
                  <a:srgbClr val="F4F7FA"/>
                </a:solidFill>
                <a:latin typeface="Aptos" pitchFamily="34" charset="0"/>
                <a:ea typeface="Aptos" pitchFamily="34" charset="-122"/>
                <a:cs typeface="Aptos" pitchFamily="34" charset="-120"/>
              </a:rPr>
              <a:t>10–14 mo</a:t>
            </a:r>
            <a:endParaRPr lang="en-US" sz="1000" dirty="0"/>
          </a:p>
        </p:txBody>
      </p:sp>
      <p:sp>
        <p:nvSpPr>
          <p:cNvPr id="39" name="Text 36"/>
          <p:cNvSpPr/>
          <p:nvPr/>
        </p:nvSpPr>
        <p:spPr>
          <a:xfrm>
            <a:off x="6217920" y="4800600"/>
            <a:ext cx="2560320" cy="384048"/>
          </a:xfrm>
          <a:prstGeom prst="rect">
            <a:avLst/>
          </a:prstGeom>
          <a:noFill/>
          <a:ln/>
        </p:spPr>
        <p:txBody>
          <a:bodyPr wrap="square" lIns="0" tIns="0" rIns="0" bIns="0" rtlCol="0" anchor="ctr">
            <a:normAutofit/>
          </a:bodyPr>
          <a:lstStyle/>
          <a:p>
            <a:pPr marL="0" indent="0" algn="l">
              <a:buNone/>
            </a:pPr>
            <a:r>
              <a:rPr lang="en-US" sz="830" b="1" dirty="0">
                <a:solidFill>
                  <a:srgbClr val="D8E1E8"/>
                </a:solidFill>
                <a:latin typeface="Aptos" pitchFamily="34" charset="0"/>
                <a:ea typeface="Aptos" pitchFamily="34" charset="-122"/>
                <a:cs typeface="Aptos" pitchFamily="34" charset="-120"/>
              </a:rPr>
              <a:t>Fan-out + graph reasoning + lineage</a:t>
            </a:r>
            <a:endParaRPr lang="en-US" sz="830" dirty="0"/>
          </a:p>
        </p:txBody>
      </p:sp>
      <p:sp>
        <p:nvSpPr>
          <p:cNvPr id="40" name="Text 37"/>
          <p:cNvSpPr/>
          <p:nvPr/>
        </p:nvSpPr>
        <p:spPr>
          <a:xfrm>
            <a:off x="6217920" y="5285232"/>
            <a:ext cx="2560320" cy="292608"/>
          </a:xfrm>
          <a:prstGeom prst="rect">
            <a:avLst/>
          </a:prstGeom>
          <a:noFill/>
          <a:ln/>
        </p:spPr>
        <p:txBody>
          <a:bodyPr wrap="square" lIns="0" tIns="0" rIns="0" bIns="0" rtlCol="0" anchor="ctr">
            <a:normAutofit/>
          </a:bodyPr>
          <a:lstStyle/>
          <a:p>
            <a:pPr marL="0" indent="0" algn="l">
              <a:buNone/>
            </a:pPr>
            <a:r>
              <a:rPr lang="en-US" sz="780" dirty="0">
                <a:solidFill>
                  <a:srgbClr val="8FA2B3"/>
                </a:solidFill>
                <a:latin typeface="Aptos" pitchFamily="34" charset="0"/>
                <a:ea typeface="Aptos" pitchFamily="34" charset="-122"/>
                <a:cs typeface="Aptos" pitchFamily="34" charset="-120"/>
              </a:rPr>
              <a:t>First annual conversion</a:t>
            </a:r>
            <a:endParaRPr lang="en-US" sz="780" dirty="0"/>
          </a:p>
        </p:txBody>
      </p:sp>
      <p:sp>
        <p:nvSpPr>
          <p:cNvPr id="41" name="Shape 38"/>
          <p:cNvSpPr/>
          <p:nvPr/>
        </p:nvSpPr>
        <p:spPr>
          <a:xfrm>
            <a:off x="9189720" y="4617720"/>
            <a:ext cx="2377440" cy="0"/>
          </a:xfrm>
          <a:prstGeom prst="line">
            <a:avLst/>
          </a:prstGeom>
          <a:noFill/>
          <a:ln w="50800">
            <a:solidFill>
              <a:srgbClr val="C85D37"/>
            </a:solidFill>
            <a:prstDash val="solid"/>
          </a:ln>
        </p:spPr>
        <p:txBody>
          <a:bodyPr/>
          <a:lstStyle/>
          <a:p>
            <a:endParaRPr/>
          </a:p>
        </p:txBody>
      </p:sp>
      <p:sp>
        <p:nvSpPr>
          <p:cNvPr id="42" name="Text 39"/>
          <p:cNvSpPr/>
          <p:nvPr/>
        </p:nvSpPr>
        <p:spPr>
          <a:xfrm>
            <a:off x="9006840" y="4160520"/>
            <a:ext cx="2560320" cy="256032"/>
          </a:xfrm>
          <a:prstGeom prst="rect">
            <a:avLst/>
          </a:prstGeom>
          <a:noFill/>
          <a:ln/>
        </p:spPr>
        <p:txBody>
          <a:bodyPr wrap="square" lIns="0" tIns="0" rIns="0" bIns="0" rtlCol="0" anchor="ctr">
            <a:normAutofit/>
          </a:bodyPr>
          <a:lstStyle/>
          <a:p>
            <a:pPr marL="0" indent="0" algn="l">
              <a:buNone/>
            </a:pPr>
            <a:r>
              <a:rPr lang="en-US" sz="1000" b="1" dirty="0">
                <a:solidFill>
                  <a:srgbClr val="F4F7FA"/>
                </a:solidFill>
                <a:latin typeface="Aptos" pitchFamily="34" charset="0"/>
                <a:ea typeface="Aptos" pitchFamily="34" charset="-122"/>
                <a:cs typeface="Aptos" pitchFamily="34" charset="-120"/>
              </a:rPr>
              <a:t>15–18 mo</a:t>
            </a:r>
            <a:endParaRPr lang="en-US" sz="1000" dirty="0"/>
          </a:p>
        </p:txBody>
      </p:sp>
      <p:sp>
        <p:nvSpPr>
          <p:cNvPr id="43" name="Text 40"/>
          <p:cNvSpPr/>
          <p:nvPr/>
        </p:nvSpPr>
        <p:spPr>
          <a:xfrm>
            <a:off x="9006840" y="4800600"/>
            <a:ext cx="2560320" cy="384048"/>
          </a:xfrm>
          <a:prstGeom prst="rect">
            <a:avLst/>
          </a:prstGeom>
          <a:noFill/>
          <a:ln/>
        </p:spPr>
        <p:txBody>
          <a:bodyPr wrap="square" lIns="0" tIns="0" rIns="0" bIns="0" rtlCol="0" anchor="ctr">
            <a:normAutofit/>
          </a:bodyPr>
          <a:lstStyle/>
          <a:p>
            <a:pPr marL="0" indent="0" algn="l">
              <a:buNone/>
            </a:pPr>
            <a:r>
              <a:rPr lang="en-US" sz="830" b="1" dirty="0">
                <a:solidFill>
                  <a:srgbClr val="D8E1E8"/>
                </a:solidFill>
                <a:latin typeface="Aptos" pitchFamily="34" charset="0"/>
                <a:ea typeface="Aptos" pitchFamily="34" charset="-122"/>
                <a:cs typeface="Aptos" pitchFamily="34" charset="-120"/>
              </a:rPr>
              <a:t>10–100 node benchmark + replication kit</a:t>
            </a:r>
            <a:endParaRPr lang="en-US" sz="830" dirty="0"/>
          </a:p>
        </p:txBody>
      </p:sp>
      <p:sp>
        <p:nvSpPr>
          <p:cNvPr id="44" name="Text 41"/>
          <p:cNvSpPr/>
          <p:nvPr/>
        </p:nvSpPr>
        <p:spPr>
          <a:xfrm>
            <a:off x="9006840" y="5285232"/>
            <a:ext cx="2560320" cy="292608"/>
          </a:xfrm>
          <a:prstGeom prst="rect">
            <a:avLst/>
          </a:prstGeom>
          <a:noFill/>
          <a:ln/>
        </p:spPr>
        <p:txBody>
          <a:bodyPr wrap="square" lIns="0" tIns="0" rIns="0" bIns="0" rtlCol="0" anchor="ctr">
            <a:normAutofit/>
          </a:bodyPr>
          <a:lstStyle/>
          <a:p>
            <a:pPr marL="0" indent="0" algn="l">
              <a:buNone/>
            </a:pPr>
            <a:r>
              <a:rPr lang="en-US" sz="780" dirty="0">
                <a:solidFill>
                  <a:srgbClr val="8FA2B3"/>
                </a:solidFill>
                <a:latin typeface="Aptos" pitchFamily="34" charset="0"/>
                <a:ea typeface="Aptos" pitchFamily="34" charset="-122"/>
                <a:cs typeface="Aptos" pitchFamily="34" charset="-120"/>
              </a:rPr>
              <a:t>Second paid site / multi-plant path</a:t>
            </a:r>
            <a:endParaRPr lang="en-US" sz="780" dirty="0"/>
          </a:p>
        </p:txBody>
      </p:sp>
      <p:sp>
        <p:nvSpPr>
          <p:cNvPr id="4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27</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Intellectual property: U.S. provisional patent application</a:t>
            </a:r>
            <a:endParaRPr lang="en-US" sz="2400" dirty="0"/>
          </a:p>
        </p:txBody>
      </p:sp>
      <p:sp>
        <p:nvSpPr>
          <p:cNvPr id="3" name="Text 1"/>
          <p:cNvSpPr/>
          <p:nvPr/>
        </p:nvSpPr>
        <p:spPr>
          <a:xfrm>
            <a:off x="521208" y="786384"/>
            <a:ext cx="10789920" cy="457200"/>
          </a:xfrm>
          <a:prstGeom prst="rect">
            <a:avLst/>
          </a:prstGeom>
          <a:noFill/>
          <a:ln/>
        </p:spPr>
        <p:txBody>
          <a:bodyPr wrap="square" lIns="0" tIns="0" rIns="0" bIns="0" rtlCol="0" anchor="t"/>
          <a:lstStyle/>
          <a:p>
            <a:pPr marL="0" indent="0">
              <a:buNone/>
            </a:pPr>
            <a:r>
              <a:rPr lang="en-US" sz="1050" dirty="0">
                <a:solidFill>
                  <a:srgbClr val="8FA2B3"/>
                </a:solidFill>
              </a:rPr>
              <a:t>Protects the method behind the measured results: relationships computed once and reused, and prompts that travel to plant data while only results return.</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01" name="Filing Status Card"/>
          <p:cNvSpPr/>
          <p:nvPr/>
        </p:nvSpPr>
        <p:spPr>
          <a:xfrm>
            <a:off x="594360" y="1463040"/>
            <a:ext cx="5120640" cy="3886200"/>
          </a:xfrm>
          <a:prstGeom prst="roundRect">
            <a:avLst>
              <a:gd name="adj" fmla="val 2778"/>
            </a:avLst>
          </a:prstGeom>
          <a:solidFill>
            <a:srgbClr val="0E1D2C"/>
          </a:solidFill>
          <a:ln w="12700">
            <a:solidFill>
              <a:srgbClr val="274052"/>
            </a:solidFill>
          </a:ln>
        </p:spPr>
        <p:txBody>
          <a:bodyPr/>
          <a:lstStyle/>
          <a:p>
            <a:endParaRPr/>
          </a:p>
        </p:txBody>
      </p:sp>
      <p:sp>
        <p:nvSpPr>
          <p:cNvPr id="502" name="Filing Status Card Accent"/>
          <p:cNvSpPr/>
          <p:nvPr/>
        </p:nvSpPr>
        <p:spPr>
          <a:xfrm>
            <a:off x="594360" y="1463040"/>
            <a:ext cx="45720" cy="3886200"/>
          </a:xfrm>
          <a:prstGeom prst="rect">
            <a:avLst/>
          </a:prstGeom>
          <a:solidFill>
            <a:srgbClr val="C85D37"/>
          </a:solidFill>
          <a:ln w="12700">
            <a:solidFill>
              <a:srgbClr val="C85D37"/>
            </a:solidFill>
          </a:ln>
        </p:spPr>
        <p:txBody>
          <a:bodyPr/>
          <a:lstStyle/>
          <a:p>
            <a:endParaRPr/>
          </a:p>
        </p:txBody>
      </p:sp>
      <p:sp>
        <p:nvSpPr>
          <p:cNvPr id="503" name="Filing Status Card Heading"/>
          <p:cNvSpPr txBox="1"/>
          <p:nvPr/>
        </p:nvSpPr>
        <p:spPr>
          <a:xfrm>
            <a:off x="777240" y="1591056"/>
            <a:ext cx="4754880"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FILING STATUS</a:t>
            </a:r>
          </a:p>
        </p:txBody>
      </p:sp>
      <p:sp>
        <p:nvSpPr>
          <p:cNvPr id="504" name="Placeholder Tag"/>
          <p:cNvSpPr/>
          <p:nvPr/>
        </p:nvSpPr>
        <p:spPr>
          <a:xfrm>
            <a:off x="3566160" y="1572768"/>
            <a:ext cx="1965960" cy="256032"/>
          </a:xfrm>
          <a:prstGeom prst="roundRect">
            <a:avLst>
              <a:gd name="adj" fmla="val 50000"/>
            </a:avLst>
          </a:prstGeom>
          <a:noFill/>
          <a:ln w="12700">
            <a:solidFill>
              <a:srgbClr val="C85D37"/>
            </a:solidFill>
          </a:ln>
        </p:spPr>
        <p:txBody>
          <a:bodyPr wrap="square" lIns="45720" tIns="0" rIns="45720" bIns="0" anchor="ctr"/>
          <a:lstStyle/>
          <a:p>
            <a:pPr marL="0" indent="0" algn="ctr">
              <a:buNone/>
            </a:pPr>
            <a:r>
              <a:rPr lang="en-US" sz="800" b="1" dirty="0">
                <a:solidFill>
                  <a:srgbClr val="C85D37"/>
                </a:solidFill>
                <a:latin typeface="Aptos" pitchFamily="34" charset="0"/>
                <a:ea typeface="Aptos" pitchFamily="34" charset="-122"/>
                <a:cs typeface="Aptos" pitchFamily="34" charset="-120"/>
              </a:rPr>
              <a:t>PLACEHOLDER: UPDATE AFTER FILING</a:t>
            </a:r>
          </a:p>
        </p:txBody>
      </p:sp>
      <p:sp>
        <p:nvSpPr>
          <p:cNvPr id="505" name="Field Application"/>
          <p:cNvSpPr txBox="1"/>
          <p:nvPr/>
        </p:nvSpPr>
        <p:spPr>
          <a:xfrm>
            <a:off x="777240" y="2011680"/>
            <a:ext cx="1325880" cy="365760"/>
          </a:xfrm>
          <a:prstGeom prst="rect">
            <a:avLst/>
          </a:prstGeom>
          <a:noFill/>
          <a:ln/>
        </p:spPr>
        <p:txBody>
          <a:bodyPr wrap="square" lIns="0" tIns="0" rIns="0" bIns="0" rtlCol="0" anchor="t">
            <a:normAutofit/>
          </a:bodyPr>
          <a:lstStyle/>
          <a:p>
            <a:pPr marL="0" indent="0" algn="l">
              <a:buNone/>
            </a:pPr>
            <a:r>
              <a:rPr lang="en-US" sz="1000" b="1" dirty="0">
                <a:solidFill>
                  <a:srgbClr val="8FA2B3"/>
                </a:solidFill>
                <a:latin typeface="Aptos" pitchFamily="34" charset="0"/>
                <a:ea typeface="Aptos" pitchFamily="34" charset="-122"/>
                <a:cs typeface="Aptos" pitchFamily="34" charset="-120"/>
              </a:rPr>
              <a:t>Application</a:t>
            </a:r>
          </a:p>
        </p:txBody>
      </p:sp>
      <p:sp>
        <p:nvSpPr>
          <p:cNvPr id="506" name="Value Application"/>
          <p:cNvSpPr txBox="1"/>
          <p:nvPr/>
        </p:nvSpPr>
        <p:spPr>
          <a:xfrm>
            <a:off x="2148840" y="2011680"/>
            <a:ext cx="3383280" cy="365760"/>
          </a:xfrm>
          <a:prstGeom prst="rect">
            <a:avLst/>
          </a:prstGeom>
          <a:noFill/>
          <a:ln/>
        </p:spPr>
        <p:txBody>
          <a:bodyPr wrap="square" lIns="0" tIns="0" rIns="0" bIns="0" rtlCol="0" anchor="t">
            <a:normAutofit/>
          </a:bodyPr>
          <a:lstStyle/>
          <a:p>
            <a:pPr marL="0" indent="0" algn="l">
              <a:buNone/>
            </a:pPr>
            <a:r>
              <a:rPr lang="en-US" sz="1000" dirty="0">
                <a:solidFill>
                  <a:srgbClr val="D8E1E8"/>
                </a:solidFill>
                <a:latin typeface="Aptos" pitchFamily="34" charset="0"/>
                <a:ea typeface="Aptos" pitchFamily="34" charset="-122"/>
                <a:cs typeface="Aptos" pitchFamily="34" charset="-120"/>
              </a:rPr>
              <a:t>U.S. provisional patent application (35 U.S.C. § 111(b))</a:t>
            </a:r>
          </a:p>
        </p:txBody>
      </p:sp>
      <p:sp>
        <p:nvSpPr>
          <p:cNvPr id="507" name="Field Title"/>
          <p:cNvSpPr txBox="1"/>
          <p:nvPr/>
        </p:nvSpPr>
        <p:spPr>
          <a:xfrm>
            <a:off x="777240" y="2414016"/>
            <a:ext cx="1325880" cy="566928"/>
          </a:xfrm>
          <a:prstGeom prst="rect">
            <a:avLst/>
          </a:prstGeom>
          <a:noFill/>
          <a:ln/>
        </p:spPr>
        <p:txBody>
          <a:bodyPr wrap="square" lIns="0" tIns="0" rIns="0" bIns="0" rtlCol="0" anchor="t">
            <a:normAutofit/>
          </a:bodyPr>
          <a:lstStyle/>
          <a:p>
            <a:pPr marL="0" indent="0" algn="l">
              <a:buNone/>
            </a:pPr>
            <a:r>
              <a:rPr lang="en-US" sz="1000" b="1" dirty="0">
                <a:solidFill>
                  <a:srgbClr val="8FA2B3"/>
                </a:solidFill>
                <a:latin typeface="Aptos" pitchFamily="34" charset="0"/>
                <a:ea typeface="Aptos" pitchFamily="34" charset="-122"/>
                <a:cs typeface="Aptos" pitchFamily="34" charset="-120"/>
              </a:rPr>
              <a:t>Title</a:t>
            </a:r>
          </a:p>
        </p:txBody>
      </p:sp>
      <p:sp>
        <p:nvSpPr>
          <p:cNvPr id="508" name="Value Title"/>
          <p:cNvSpPr txBox="1"/>
          <p:nvPr/>
        </p:nvSpPr>
        <p:spPr>
          <a:xfrm>
            <a:off x="2148840" y="2414016"/>
            <a:ext cx="3383280" cy="566928"/>
          </a:xfrm>
          <a:prstGeom prst="rect">
            <a:avLst/>
          </a:prstGeom>
          <a:noFill/>
          <a:ln/>
        </p:spPr>
        <p:txBody>
          <a:bodyPr wrap="square" lIns="0" tIns="0" rIns="0" bIns="0" rtlCol="0" anchor="t">
            <a:normAutofit/>
          </a:bodyPr>
          <a:lstStyle/>
          <a:p>
            <a:pPr marL="0" indent="0" algn="l">
              <a:buNone/>
            </a:pPr>
            <a:r>
              <a:rPr lang="en-US" sz="1000" dirty="0">
                <a:solidFill>
                  <a:srgbClr val="D8E1E8"/>
                </a:solidFill>
                <a:latin typeface="Aptos" pitchFamily="34" charset="0"/>
                <a:ea typeface="Aptos" pitchFamily="34" charset="-122"/>
                <a:cs typeface="Aptos" pitchFamily="34" charset="-120"/>
              </a:rPr>
              <a:t>Distributed AI prompt orchestration using a persistent vector relationship store, including decentralised industrial edge networks</a:t>
            </a:r>
          </a:p>
        </p:txBody>
      </p:sp>
      <p:sp>
        <p:nvSpPr>
          <p:cNvPr id="509" name="Field Applicant"/>
          <p:cNvSpPr txBox="1"/>
          <p:nvPr/>
        </p:nvSpPr>
        <p:spPr>
          <a:xfrm>
            <a:off x="777240" y="3017520"/>
            <a:ext cx="1325880" cy="365760"/>
          </a:xfrm>
          <a:prstGeom prst="rect">
            <a:avLst/>
          </a:prstGeom>
          <a:noFill/>
          <a:ln/>
        </p:spPr>
        <p:txBody>
          <a:bodyPr wrap="square" lIns="0" tIns="0" rIns="0" bIns="0" rtlCol="0" anchor="t">
            <a:normAutofit/>
          </a:bodyPr>
          <a:lstStyle/>
          <a:p>
            <a:pPr marL="0" indent="0" algn="l">
              <a:buNone/>
            </a:pPr>
            <a:r>
              <a:rPr lang="en-US" sz="1000" b="1" dirty="0">
                <a:solidFill>
                  <a:srgbClr val="8FA2B3"/>
                </a:solidFill>
                <a:latin typeface="Aptos" pitchFamily="34" charset="0"/>
                <a:ea typeface="Aptos" pitchFamily="34" charset="-122"/>
                <a:cs typeface="Aptos" pitchFamily="34" charset="-120"/>
              </a:rPr>
              <a:t>Applicant</a:t>
            </a:r>
          </a:p>
        </p:txBody>
      </p:sp>
      <p:sp>
        <p:nvSpPr>
          <p:cNvPr id="510" name="Value Applicant"/>
          <p:cNvSpPr txBox="1"/>
          <p:nvPr/>
        </p:nvSpPr>
        <p:spPr>
          <a:xfrm>
            <a:off x="2148840" y="3017520"/>
            <a:ext cx="3383280" cy="365760"/>
          </a:xfrm>
          <a:prstGeom prst="rect">
            <a:avLst/>
          </a:prstGeom>
          <a:noFill/>
          <a:ln/>
        </p:spPr>
        <p:txBody>
          <a:bodyPr wrap="square" lIns="0" tIns="0" rIns="0" bIns="0" rtlCol="0" anchor="t">
            <a:normAutofit/>
          </a:bodyPr>
          <a:lstStyle/>
          <a:p>
            <a:pPr marL="0" indent="0" algn="l">
              <a:buNone/>
            </a:pPr>
            <a:r>
              <a:rPr lang="en-US" sz="1000" dirty="0">
                <a:solidFill>
                  <a:srgbClr val="D8E1E8"/>
                </a:solidFill>
                <a:latin typeface="Aptos" pitchFamily="34" charset="0"/>
                <a:ea typeface="Aptos" pitchFamily="34" charset="-122"/>
                <a:cs typeface="Aptos" pitchFamily="34" charset="-120"/>
              </a:rPr>
              <a:t>CogniWerks, Inc.</a:t>
            </a:r>
          </a:p>
        </p:txBody>
      </p:sp>
      <p:sp>
        <p:nvSpPr>
          <p:cNvPr id="511" name="Field Inventor"/>
          <p:cNvSpPr txBox="1"/>
          <p:nvPr/>
        </p:nvSpPr>
        <p:spPr>
          <a:xfrm>
            <a:off x="777240" y="3419856"/>
            <a:ext cx="1325880" cy="365760"/>
          </a:xfrm>
          <a:prstGeom prst="rect">
            <a:avLst/>
          </a:prstGeom>
          <a:noFill/>
          <a:ln/>
        </p:spPr>
        <p:txBody>
          <a:bodyPr wrap="square" lIns="0" tIns="0" rIns="0" bIns="0" rtlCol="0" anchor="t">
            <a:normAutofit/>
          </a:bodyPr>
          <a:lstStyle/>
          <a:p>
            <a:pPr marL="0" indent="0" algn="l">
              <a:buNone/>
            </a:pPr>
            <a:r>
              <a:rPr lang="en-US" sz="1000" b="1" dirty="0">
                <a:solidFill>
                  <a:srgbClr val="8FA2B3"/>
                </a:solidFill>
                <a:latin typeface="Aptos" pitchFamily="34" charset="0"/>
                <a:ea typeface="Aptos" pitchFamily="34" charset="-122"/>
                <a:cs typeface="Aptos" pitchFamily="34" charset="-120"/>
              </a:rPr>
              <a:t>Inventor</a:t>
            </a:r>
          </a:p>
        </p:txBody>
      </p:sp>
      <p:sp>
        <p:nvSpPr>
          <p:cNvPr id="512" name="Value Inventor"/>
          <p:cNvSpPr txBox="1"/>
          <p:nvPr/>
        </p:nvSpPr>
        <p:spPr>
          <a:xfrm>
            <a:off x="2148840" y="3419856"/>
            <a:ext cx="3383280" cy="365760"/>
          </a:xfrm>
          <a:prstGeom prst="rect">
            <a:avLst/>
          </a:prstGeom>
          <a:noFill/>
          <a:ln/>
        </p:spPr>
        <p:txBody>
          <a:bodyPr wrap="square" lIns="0" tIns="0" rIns="0" bIns="0" rtlCol="0" anchor="t">
            <a:normAutofit/>
          </a:bodyPr>
          <a:lstStyle/>
          <a:p>
            <a:pPr marL="0" indent="0" algn="l">
              <a:buNone/>
            </a:pPr>
            <a:r>
              <a:rPr lang="en-US" sz="1000" dirty="0">
                <a:solidFill>
                  <a:srgbClr val="D8E1E8"/>
                </a:solidFill>
                <a:latin typeface="Aptos" pitchFamily="34" charset="0"/>
                <a:ea typeface="Aptos" pitchFamily="34" charset="-122"/>
                <a:cs typeface="Aptos" pitchFamily="34" charset="-120"/>
              </a:rPr>
              <a:t>Mark Davidson</a:t>
            </a:r>
          </a:p>
        </p:txBody>
      </p:sp>
      <p:sp>
        <p:nvSpPr>
          <p:cNvPr id="513" name="Field Application no."/>
          <p:cNvSpPr txBox="1"/>
          <p:nvPr/>
        </p:nvSpPr>
        <p:spPr>
          <a:xfrm>
            <a:off x="777240" y="3822192"/>
            <a:ext cx="1325880" cy="365760"/>
          </a:xfrm>
          <a:prstGeom prst="rect">
            <a:avLst/>
          </a:prstGeom>
          <a:noFill/>
          <a:ln/>
        </p:spPr>
        <p:txBody>
          <a:bodyPr wrap="square" lIns="0" tIns="0" rIns="0" bIns="0" rtlCol="0" anchor="t">
            <a:normAutofit/>
          </a:bodyPr>
          <a:lstStyle/>
          <a:p>
            <a:pPr marL="0" indent="0" algn="l">
              <a:buNone/>
            </a:pPr>
            <a:r>
              <a:rPr lang="en-US" sz="1000" b="1" dirty="0">
                <a:solidFill>
                  <a:srgbClr val="8FA2B3"/>
                </a:solidFill>
                <a:latin typeface="Aptos" pitchFamily="34" charset="0"/>
                <a:ea typeface="Aptos" pitchFamily="34" charset="-122"/>
                <a:cs typeface="Aptos" pitchFamily="34" charset="-120"/>
              </a:rPr>
              <a:t>Application no.</a:t>
            </a:r>
          </a:p>
        </p:txBody>
      </p:sp>
      <p:sp>
        <p:nvSpPr>
          <p:cNvPr id="514" name="Value Application no."/>
          <p:cNvSpPr txBox="1"/>
          <p:nvPr/>
        </p:nvSpPr>
        <p:spPr>
          <a:xfrm>
            <a:off x="2148840" y="3822192"/>
            <a:ext cx="3383280" cy="365760"/>
          </a:xfrm>
          <a:prstGeom prst="rect">
            <a:avLst/>
          </a:prstGeom>
          <a:noFill/>
          <a:ln/>
        </p:spPr>
        <p:txBody>
          <a:bodyPr wrap="square" lIns="0" tIns="0" rIns="0" bIns="0" rtlCol="0" anchor="t">
            <a:normAutofit/>
          </a:bodyPr>
          <a:lstStyle/>
          <a:p>
            <a:pPr marL="0" indent="0" algn="l">
              <a:buNone/>
            </a:pPr>
            <a:r>
              <a:rPr lang="en-US" sz="1000" b="1" i="1" dirty="0">
                <a:solidFill>
                  <a:srgbClr val="C85D37"/>
                </a:solidFill>
                <a:latin typeface="Aptos" pitchFamily="34" charset="0"/>
                <a:ea typeface="Aptos" pitchFamily="34" charset="-122"/>
                <a:cs typeface="Aptos" pitchFamily="34" charset="-120"/>
              </a:rPr>
              <a:t>[to be assigned by the USPTO]</a:t>
            </a:r>
          </a:p>
        </p:txBody>
      </p:sp>
      <p:sp>
        <p:nvSpPr>
          <p:cNvPr id="515" name="Field Filing date"/>
          <p:cNvSpPr txBox="1"/>
          <p:nvPr/>
        </p:nvSpPr>
        <p:spPr>
          <a:xfrm>
            <a:off x="777240" y="4224528"/>
            <a:ext cx="1325880" cy="365760"/>
          </a:xfrm>
          <a:prstGeom prst="rect">
            <a:avLst/>
          </a:prstGeom>
          <a:noFill/>
          <a:ln/>
        </p:spPr>
        <p:txBody>
          <a:bodyPr wrap="square" lIns="0" tIns="0" rIns="0" bIns="0" rtlCol="0" anchor="t">
            <a:normAutofit/>
          </a:bodyPr>
          <a:lstStyle/>
          <a:p>
            <a:pPr marL="0" indent="0" algn="l">
              <a:buNone/>
            </a:pPr>
            <a:r>
              <a:rPr lang="en-US" sz="1000" b="1" dirty="0">
                <a:solidFill>
                  <a:srgbClr val="8FA2B3"/>
                </a:solidFill>
                <a:latin typeface="Aptos" pitchFamily="34" charset="0"/>
                <a:ea typeface="Aptos" pitchFamily="34" charset="-122"/>
                <a:cs typeface="Aptos" pitchFamily="34" charset="-120"/>
              </a:rPr>
              <a:t>Filing date</a:t>
            </a:r>
          </a:p>
        </p:txBody>
      </p:sp>
      <p:sp>
        <p:nvSpPr>
          <p:cNvPr id="516" name="Value Filing date"/>
          <p:cNvSpPr txBox="1"/>
          <p:nvPr/>
        </p:nvSpPr>
        <p:spPr>
          <a:xfrm>
            <a:off x="2148840" y="4224528"/>
            <a:ext cx="3383280" cy="365760"/>
          </a:xfrm>
          <a:prstGeom prst="rect">
            <a:avLst/>
          </a:prstGeom>
          <a:noFill/>
          <a:ln/>
        </p:spPr>
        <p:txBody>
          <a:bodyPr wrap="square" lIns="0" tIns="0" rIns="0" bIns="0" rtlCol="0" anchor="t">
            <a:normAutofit/>
          </a:bodyPr>
          <a:lstStyle/>
          <a:p>
            <a:pPr marL="0" indent="0" algn="l">
              <a:buNone/>
            </a:pPr>
            <a:r>
              <a:rPr lang="en-US" sz="1000" b="1" i="1" dirty="0">
                <a:solidFill>
                  <a:srgbClr val="C85D37"/>
                </a:solidFill>
                <a:latin typeface="Aptos" pitchFamily="34" charset="0"/>
                <a:ea typeface="Aptos" pitchFamily="34" charset="-122"/>
                <a:cs typeface="Aptos" pitchFamily="34" charset="-120"/>
              </a:rPr>
              <a:t>[MM / DD / YYYY]</a:t>
            </a:r>
          </a:p>
        </p:txBody>
      </p:sp>
      <p:sp>
        <p:nvSpPr>
          <p:cNvPr id="517" name="Field Status"/>
          <p:cNvSpPr txBox="1"/>
          <p:nvPr/>
        </p:nvSpPr>
        <p:spPr>
          <a:xfrm>
            <a:off x="777240" y="4626864"/>
            <a:ext cx="1325880" cy="365760"/>
          </a:xfrm>
          <a:prstGeom prst="rect">
            <a:avLst/>
          </a:prstGeom>
          <a:noFill/>
          <a:ln/>
        </p:spPr>
        <p:txBody>
          <a:bodyPr wrap="square" lIns="0" tIns="0" rIns="0" bIns="0" rtlCol="0" anchor="t">
            <a:normAutofit/>
          </a:bodyPr>
          <a:lstStyle/>
          <a:p>
            <a:pPr marL="0" indent="0" algn="l">
              <a:buNone/>
            </a:pPr>
            <a:r>
              <a:rPr lang="en-US" sz="1000" b="1" dirty="0">
                <a:solidFill>
                  <a:srgbClr val="8FA2B3"/>
                </a:solidFill>
                <a:latin typeface="Aptos" pitchFamily="34" charset="0"/>
                <a:ea typeface="Aptos" pitchFamily="34" charset="-122"/>
                <a:cs typeface="Aptos" pitchFamily="34" charset="-120"/>
              </a:rPr>
              <a:t>Status</a:t>
            </a:r>
          </a:p>
        </p:txBody>
      </p:sp>
      <p:sp>
        <p:nvSpPr>
          <p:cNvPr id="518" name="Value Status"/>
          <p:cNvSpPr txBox="1"/>
          <p:nvPr/>
        </p:nvSpPr>
        <p:spPr>
          <a:xfrm>
            <a:off x="2148840" y="4626864"/>
            <a:ext cx="3383280" cy="365760"/>
          </a:xfrm>
          <a:prstGeom prst="rect">
            <a:avLst/>
          </a:prstGeom>
          <a:noFill/>
          <a:ln/>
        </p:spPr>
        <p:txBody>
          <a:bodyPr wrap="square" lIns="0" tIns="0" rIns="0" bIns="0" rtlCol="0" anchor="t">
            <a:normAutofit/>
          </a:bodyPr>
          <a:lstStyle/>
          <a:p>
            <a:pPr marL="0" indent="0" algn="l">
              <a:buNone/>
            </a:pPr>
            <a:r>
              <a:rPr lang="en-US" sz="1000" b="1" i="1" dirty="0">
                <a:solidFill>
                  <a:srgbClr val="C85D37"/>
                </a:solidFill>
                <a:latin typeface="Aptos" pitchFamily="34" charset="0"/>
                <a:ea typeface="Aptos" pitchFamily="34" charset="-122"/>
                <a:cs typeface="Aptos" pitchFamily="34" charset="-120"/>
              </a:rPr>
              <a:t>[Patent pending, once filed]</a:t>
            </a:r>
          </a:p>
        </p:txBody>
      </p:sp>
      <p:sp>
        <p:nvSpPr>
          <p:cNvPr id="519" name="Field Next deadline"/>
          <p:cNvSpPr txBox="1"/>
          <p:nvPr/>
        </p:nvSpPr>
        <p:spPr>
          <a:xfrm>
            <a:off x="777240" y="5029200"/>
            <a:ext cx="1325880" cy="365760"/>
          </a:xfrm>
          <a:prstGeom prst="rect">
            <a:avLst/>
          </a:prstGeom>
          <a:noFill/>
          <a:ln/>
        </p:spPr>
        <p:txBody>
          <a:bodyPr wrap="square" lIns="0" tIns="0" rIns="0" bIns="0" rtlCol="0" anchor="t">
            <a:normAutofit/>
          </a:bodyPr>
          <a:lstStyle/>
          <a:p>
            <a:pPr marL="0" indent="0" algn="l">
              <a:buNone/>
            </a:pPr>
            <a:r>
              <a:rPr lang="en-US" sz="1000" b="1" dirty="0">
                <a:solidFill>
                  <a:srgbClr val="8FA2B3"/>
                </a:solidFill>
                <a:latin typeface="Aptos" pitchFamily="34" charset="0"/>
                <a:ea typeface="Aptos" pitchFamily="34" charset="-122"/>
                <a:cs typeface="Aptos" pitchFamily="34" charset="-120"/>
              </a:rPr>
              <a:t>Next deadline</a:t>
            </a:r>
          </a:p>
        </p:txBody>
      </p:sp>
      <p:sp>
        <p:nvSpPr>
          <p:cNvPr id="520" name="Value Next deadline"/>
          <p:cNvSpPr txBox="1"/>
          <p:nvPr/>
        </p:nvSpPr>
        <p:spPr>
          <a:xfrm>
            <a:off x="2148840" y="5029200"/>
            <a:ext cx="3383280" cy="365760"/>
          </a:xfrm>
          <a:prstGeom prst="rect">
            <a:avLst/>
          </a:prstGeom>
          <a:noFill/>
          <a:ln/>
        </p:spPr>
        <p:txBody>
          <a:bodyPr wrap="square" lIns="0" tIns="0" rIns="0" bIns="0" rtlCol="0" anchor="t">
            <a:normAutofit/>
          </a:bodyPr>
          <a:lstStyle/>
          <a:p>
            <a:pPr marL="0" indent="0" algn="l">
              <a:buNone/>
            </a:pPr>
            <a:r>
              <a:rPr lang="en-US" sz="1000" b="1" i="1" dirty="0">
                <a:solidFill>
                  <a:srgbClr val="C85D37"/>
                </a:solidFill>
                <a:latin typeface="Aptos" pitchFamily="34" charset="0"/>
                <a:ea typeface="Aptos" pitchFamily="34" charset="-122"/>
                <a:cs typeface="Aptos" pitchFamily="34" charset="-120"/>
              </a:rPr>
              <a:t>[Non-provisional and PCT filing: filing date + 12 months]</a:t>
            </a:r>
          </a:p>
        </p:txBody>
      </p:sp>
      <p:sp>
        <p:nvSpPr>
          <p:cNvPr id="521" name="Coverage Card"/>
          <p:cNvSpPr/>
          <p:nvPr/>
        </p:nvSpPr>
        <p:spPr>
          <a:xfrm>
            <a:off x="5989320" y="1463040"/>
            <a:ext cx="5614416" cy="2514600"/>
          </a:xfrm>
          <a:prstGeom prst="roundRect">
            <a:avLst>
              <a:gd name="adj" fmla="val 2778"/>
            </a:avLst>
          </a:prstGeom>
          <a:solidFill>
            <a:srgbClr val="0E1D2C"/>
          </a:solidFill>
          <a:ln w="12700">
            <a:solidFill>
              <a:srgbClr val="274052"/>
            </a:solidFill>
          </a:ln>
        </p:spPr>
        <p:txBody>
          <a:bodyPr/>
          <a:lstStyle/>
          <a:p>
            <a:endParaRPr/>
          </a:p>
        </p:txBody>
      </p:sp>
      <p:sp>
        <p:nvSpPr>
          <p:cNvPr id="522" name="Coverage Card Accent"/>
          <p:cNvSpPr/>
          <p:nvPr/>
        </p:nvSpPr>
        <p:spPr>
          <a:xfrm>
            <a:off x="5989320" y="1463040"/>
            <a:ext cx="45720" cy="2514600"/>
          </a:xfrm>
          <a:prstGeom prst="rect">
            <a:avLst/>
          </a:prstGeom>
          <a:solidFill>
            <a:srgbClr val="4EA3D8"/>
          </a:solidFill>
          <a:ln w="12700">
            <a:solidFill>
              <a:srgbClr val="4EA3D8"/>
            </a:solidFill>
          </a:ln>
        </p:spPr>
        <p:txBody>
          <a:bodyPr/>
          <a:lstStyle/>
          <a:p>
            <a:endParaRPr/>
          </a:p>
        </p:txBody>
      </p:sp>
      <p:sp>
        <p:nvSpPr>
          <p:cNvPr id="523" name="Coverage Card Heading"/>
          <p:cNvSpPr txBox="1"/>
          <p:nvPr/>
        </p:nvSpPr>
        <p:spPr>
          <a:xfrm>
            <a:off x="6172200" y="1591056"/>
            <a:ext cx="5248656"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WHAT THE APPLICATION COVERS</a:t>
            </a:r>
          </a:p>
        </p:txBody>
      </p:sp>
      <p:sp>
        <p:nvSpPr>
          <p:cNvPr id="524" name="Coverage Text"/>
          <p:cNvSpPr txBox="1"/>
          <p:nvPr/>
        </p:nvSpPr>
        <p:spPr>
          <a:xfrm>
            <a:off x="6172200" y="1920240"/>
            <a:ext cx="5248656" cy="1965960"/>
          </a:xfrm>
          <a:prstGeom prst="rect">
            <a:avLst/>
          </a:prstGeom>
          <a:noFill/>
          <a:ln/>
        </p:spPr>
        <p:txBody>
          <a:bodyPr wrap="square" lIns="0" tIns="0" rIns="0" bIns="0" rtlCol="0" anchor="t">
            <a:normAutofit/>
          </a:bodyPr>
          <a:lstStyle/>
          <a:p>
            <a:pPr marL="228600" indent="-228600" algn="l">
              <a:spcAft>
                <a:spcPts val="300"/>
              </a:spcAft>
              <a:buClr>
                <a:srgbClr val="8FA2B3"/>
              </a:buClr>
              <a:buFont typeface="Arial"/>
              <a:buChar char="•"/>
            </a:pPr>
            <a:r>
              <a:rPr lang="en-US" sz="1050" dirty="0">
                <a:solidFill>
                  <a:srgbClr val="D8E1E8"/>
                </a:solidFill>
                <a:latin typeface="Aptos" pitchFamily="34" charset="0"/>
                <a:ea typeface="Aptos" pitchFamily="34" charset="-122"/>
                <a:cs typeface="Aptos" pitchFamily="34" charset="-120"/>
              </a:rPr>
              <a:t>Relationships between plant assets are computed once and stored as versioned vector records, instead of being re-derived from prompt tokens on every request.</a:t>
            </a:r>
          </a:p>
          <a:p>
            <a:pPr marL="228600" indent="-228600" algn="l">
              <a:spcAft>
                <a:spcPts val="300"/>
              </a:spcAft>
              <a:buClr>
                <a:srgbClr val="8FA2B3"/>
              </a:buClr>
              <a:buFont typeface="Arial"/>
              <a:buChar char="•"/>
            </a:pPr>
            <a:r>
              <a:rPr lang="en-US" sz="1050" dirty="0">
                <a:solidFill>
                  <a:srgbClr val="D8E1E8"/>
                </a:solidFill>
                <a:latin typeface="Aptos" pitchFamily="34" charset="0"/>
                <a:ea typeface="Aptos" pitchFamily="34" charset="-122"/>
                <a:cs typeface="Aptos" pitchFamily="34" charset="-120"/>
              </a:rPr>
              <a:t>Confidence-gated fallback: the model infers only the relationships the store cannot resolve, then writes them back for reuse.</a:t>
            </a:r>
          </a:p>
          <a:p>
            <a:pPr marL="228600" indent="-228600" algn="l">
              <a:spcAft>
                <a:spcPts val="300"/>
              </a:spcAft>
              <a:buClr>
                <a:srgbClr val="8FA2B3"/>
              </a:buClr>
              <a:buFont typeface="Arial"/>
              <a:buChar char="•"/>
            </a:pPr>
            <a:r>
              <a:rPr lang="en-US" sz="1050" dirty="0">
                <a:solidFill>
                  <a:srgbClr val="D8E1E8"/>
                </a:solidFill>
                <a:latin typeface="Aptos" pitchFamily="34" charset="0"/>
                <a:ea typeface="Aptos" pitchFamily="34" charset="-122"/>
                <a:cs typeface="Aptos" pitchFamily="34" charset="-120"/>
              </a:rPr>
              <a:t>Edge embodiment: prompts travel to the nodes that hold plant data and only results return, with no central AI engine.</a:t>
            </a:r>
          </a:p>
          <a:p>
            <a:pPr marL="228600" indent="-228600" algn="l">
              <a:spcAft>
                <a:spcPts val="300"/>
              </a:spcAft>
              <a:buClr>
                <a:srgbClr val="8FA2B3"/>
              </a:buClr>
              <a:buFont typeface="Arial"/>
              <a:buChar char="•"/>
            </a:pPr>
            <a:r>
              <a:rPr lang="en-US" sz="1050" dirty="0">
                <a:solidFill>
                  <a:srgbClr val="D8E1E8"/>
                </a:solidFill>
                <a:latin typeface="Aptos" pitchFamily="34" charset="0"/>
                <a:ea typeface="Aptos" pitchFamily="34" charset="-122"/>
                <a:cs typeface="Aptos" pitchFamily="34" charset="-120"/>
              </a:rPr>
              <a:t>Unified-namespace metadata shared across edge nodes seeds the relationship store.</a:t>
            </a:r>
          </a:p>
        </p:txBody>
      </p:sp>
      <p:sp>
        <p:nvSpPr>
          <p:cNvPr id="525" name="Why Card"/>
          <p:cNvSpPr/>
          <p:nvPr/>
        </p:nvSpPr>
        <p:spPr>
          <a:xfrm>
            <a:off x="5989320" y="4114800"/>
            <a:ext cx="5614416" cy="1234440"/>
          </a:xfrm>
          <a:prstGeom prst="roundRect">
            <a:avLst>
              <a:gd name="adj" fmla="val 2778"/>
            </a:avLst>
          </a:prstGeom>
          <a:solidFill>
            <a:srgbClr val="0E1D2C"/>
          </a:solidFill>
          <a:ln w="12700">
            <a:solidFill>
              <a:srgbClr val="274052"/>
            </a:solidFill>
          </a:ln>
        </p:spPr>
        <p:txBody>
          <a:bodyPr/>
          <a:lstStyle/>
          <a:p>
            <a:endParaRPr/>
          </a:p>
        </p:txBody>
      </p:sp>
      <p:sp>
        <p:nvSpPr>
          <p:cNvPr id="526" name="Why Card Accent"/>
          <p:cNvSpPr/>
          <p:nvPr/>
        </p:nvSpPr>
        <p:spPr>
          <a:xfrm>
            <a:off x="5989320" y="4114800"/>
            <a:ext cx="45720" cy="1234440"/>
          </a:xfrm>
          <a:prstGeom prst="rect">
            <a:avLst/>
          </a:prstGeom>
          <a:solidFill>
            <a:srgbClr val="4EA3D8"/>
          </a:solidFill>
          <a:ln w="12700">
            <a:solidFill>
              <a:srgbClr val="4EA3D8"/>
            </a:solidFill>
          </a:ln>
        </p:spPr>
        <p:txBody>
          <a:bodyPr/>
          <a:lstStyle/>
          <a:p>
            <a:endParaRPr/>
          </a:p>
        </p:txBody>
      </p:sp>
      <p:sp>
        <p:nvSpPr>
          <p:cNvPr id="527" name="Why Card Heading"/>
          <p:cNvSpPr txBox="1"/>
          <p:nvPr/>
        </p:nvSpPr>
        <p:spPr>
          <a:xfrm>
            <a:off x="6172200" y="4242816"/>
            <a:ext cx="5248656" cy="237744"/>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WHY IT MATTERS</a:t>
            </a:r>
          </a:p>
        </p:txBody>
      </p:sp>
      <p:sp>
        <p:nvSpPr>
          <p:cNvPr id="528" name="Why Text"/>
          <p:cNvSpPr txBox="1"/>
          <p:nvPr/>
        </p:nvSpPr>
        <p:spPr>
          <a:xfrm>
            <a:off x="6172200" y="4553712"/>
            <a:ext cx="5248656" cy="731520"/>
          </a:xfrm>
          <a:prstGeom prst="rect">
            <a:avLst/>
          </a:prstGeom>
          <a:noFill/>
          <a:ln/>
        </p:spPr>
        <p:txBody>
          <a:bodyPr wrap="square" lIns="0" tIns="0" rIns="0" bIns="0" rtlCol="0" anchor="t">
            <a:normAutofit/>
          </a:bodyPr>
          <a:lstStyle/>
          <a:p>
            <a:pPr marL="0" indent="0" algn="l">
              <a:buNone/>
            </a:pPr>
            <a:r>
              <a:rPr lang="en-US" sz="1050" dirty="0">
                <a:solidFill>
                  <a:srgbClr val="D8E1E8"/>
                </a:solidFill>
                <a:latin typeface="Aptos" pitchFamily="34" charset="0"/>
                <a:ea typeface="Aptos" pitchFamily="34" charset="-122"/>
                <a:cs typeface="Aptos" pitchFamily="34" charset="-120"/>
              </a:rPr>
              <a:t>Ties DMI's measured advantage, </a:t>
            </a:r>
            <a:r>
              <a:rPr lang="en-US" sz="1050" b="1" dirty="0">
                <a:solidFill>
                  <a:srgbClr val="F4F7FA"/>
                </a:solidFill>
                <a:latin typeface="Aptos" pitchFamily="34" charset="0"/>
                <a:ea typeface="Aptos" pitchFamily="34" charset="-122"/>
                <a:cs typeface="Aptos" pitchFamily="34" charset="-120"/>
              </a:rPr>
              <a:t>225× fewer tokens and 606× less data per question</a:t>
            </a:r>
            <a:r>
              <a:rPr lang="en-US" sz="1050" dirty="0">
                <a:solidFill>
                  <a:srgbClr val="D8E1E8"/>
                </a:solidFill>
                <a:latin typeface="Aptos" pitchFamily="34" charset="0"/>
                <a:ea typeface="Aptos" pitchFamily="34" charset="-122"/>
                <a:cs typeface="Aptos" pitchFamily="34" charset="-120"/>
              </a:rPr>
              <a:t>, to protectable intellectual property owned by CogniWerks, Inc. Supports the moat on the next slide.</a:t>
            </a:r>
          </a:p>
        </p:txBody>
      </p:sp>
      <p:sp>
        <p:nvSpPr>
          <p:cNvPr id="529" name="Footnote"/>
          <p:cNvSpPr txBox="1"/>
          <p:nvPr/>
        </p:nvSpPr>
        <p:spPr>
          <a:xfrm>
            <a:off x="594360" y="5532120"/>
            <a:ext cx="11009376" cy="411480"/>
          </a:xfrm>
          <a:prstGeom prst="rect">
            <a:avLst/>
          </a:prstGeom>
          <a:noFill/>
          <a:ln/>
        </p:spPr>
        <p:txBody>
          <a:bodyPr wrap="square" lIns="0" tIns="0" rIns="0" bIns="0" rtlCol="0" anchor="ctr">
            <a:normAutofit/>
          </a:bodyPr>
          <a:lstStyle/>
          <a:p>
            <a:pPr marL="0" indent="0" algn="l">
              <a:buNone/>
            </a:pPr>
            <a:r>
              <a:rPr lang="en-US" sz="900" dirty="0">
                <a:solidFill>
                  <a:srgbClr val="8FA2B3"/>
                </a:solidFill>
                <a:latin typeface="Aptos" pitchFamily="34" charset="0"/>
                <a:ea typeface="Aptos" pitchFamily="34" charset="-122"/>
                <a:cs typeface="Aptos" pitchFamily="34" charset="-120"/>
              </a:rPr>
              <a:t>Placeholder: replace the bracketed fields when the application is filed. Until then, share technical detail only under NDA. Patent claims are not yet examined; a provisional application establishes a priority date and expires unless followed by a non-provisional filing within 12 months.</a:t>
            </a:r>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28</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Moat and risk are two sides of the same execution problem</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Individual features are reproducible. System-level manufacturing evidence can compound.</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594360" y="1280160"/>
            <a:ext cx="5257800" cy="4434840"/>
          </a:xfrm>
          <a:prstGeom prst="roundRect">
            <a:avLst>
              <a:gd name="adj" fmla="val 1031"/>
            </a:avLst>
          </a:prstGeom>
          <a:solidFill>
            <a:srgbClr val="0E1D2C"/>
          </a:solidFill>
          <a:ln w="12700">
            <a:solidFill>
              <a:srgbClr val="274052"/>
            </a:solidFill>
            <a:prstDash val="solid"/>
          </a:ln>
        </p:spPr>
        <p:txBody>
          <a:bodyPr/>
          <a:lstStyle/>
          <a:p>
            <a:endParaRPr/>
          </a:p>
        </p:txBody>
      </p:sp>
      <p:sp>
        <p:nvSpPr>
          <p:cNvPr id="6" name="Shape 3"/>
          <p:cNvSpPr/>
          <p:nvPr/>
        </p:nvSpPr>
        <p:spPr>
          <a:xfrm>
            <a:off x="594360" y="1280160"/>
            <a:ext cx="45720" cy="4434840"/>
          </a:xfrm>
          <a:prstGeom prst="rect">
            <a:avLst/>
          </a:prstGeom>
          <a:solidFill>
            <a:srgbClr val="50B89B"/>
          </a:solidFill>
          <a:ln w="12700">
            <a:solidFill>
              <a:srgbClr val="50B89B"/>
            </a:solidFill>
            <a:prstDash val="solid"/>
          </a:ln>
        </p:spPr>
        <p:txBody>
          <a:bodyPr/>
          <a:lstStyle/>
          <a:p>
            <a:endParaRPr/>
          </a:p>
        </p:txBody>
      </p:sp>
      <p:sp>
        <p:nvSpPr>
          <p:cNvPr id="7" name="Text 4"/>
          <p:cNvSpPr/>
          <p:nvPr/>
        </p:nvSpPr>
        <p:spPr>
          <a:xfrm>
            <a:off x="758952" y="1399032"/>
            <a:ext cx="498348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POTENTIAL DEFENSIBILITY</a:t>
            </a:r>
            <a:endParaRPr lang="en-US" sz="1100" dirty="0"/>
          </a:p>
        </p:txBody>
      </p:sp>
      <p:sp>
        <p:nvSpPr>
          <p:cNvPr id="8" name="Text 5"/>
          <p:cNvSpPr/>
          <p:nvPr/>
        </p:nvSpPr>
        <p:spPr>
          <a:xfrm>
            <a:off x="758952" y="1719072"/>
            <a:ext cx="4983480" cy="39044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TRUE TECH: distributed evidence protocol; process-directed orchestration; time alignment; confidence; cross-node joins.</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EXECUTION: process templates; vertical skills; connectors; deployment know-how; customer references.</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DATA / TRUST: evidence lineage; validated industrial patterns; regulated workflow history.</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POSITIONING ONLY: edge AI; local SLM; sovereign AI; knowledge graph; copilot.</a:t>
            </a:r>
            <a:endParaRPr lang="en-US" sz="950" dirty="0"/>
          </a:p>
        </p:txBody>
      </p:sp>
      <p:sp>
        <p:nvSpPr>
          <p:cNvPr id="9" name="Shape 6"/>
          <p:cNvSpPr/>
          <p:nvPr/>
        </p:nvSpPr>
        <p:spPr>
          <a:xfrm>
            <a:off x="6309360" y="1280160"/>
            <a:ext cx="5257800" cy="4434840"/>
          </a:xfrm>
          <a:prstGeom prst="roundRect">
            <a:avLst>
              <a:gd name="adj" fmla="val 1031"/>
            </a:avLst>
          </a:prstGeom>
          <a:solidFill>
            <a:srgbClr val="0E1D2C"/>
          </a:solidFill>
          <a:ln w="12700">
            <a:solidFill>
              <a:srgbClr val="274052"/>
            </a:solidFill>
            <a:prstDash val="solid"/>
          </a:ln>
        </p:spPr>
        <p:txBody>
          <a:bodyPr/>
          <a:lstStyle/>
          <a:p>
            <a:endParaRPr/>
          </a:p>
        </p:txBody>
      </p:sp>
      <p:sp>
        <p:nvSpPr>
          <p:cNvPr id="10" name="Shape 7"/>
          <p:cNvSpPr/>
          <p:nvPr/>
        </p:nvSpPr>
        <p:spPr>
          <a:xfrm>
            <a:off x="6309360" y="1280160"/>
            <a:ext cx="45720" cy="4434840"/>
          </a:xfrm>
          <a:prstGeom prst="rect">
            <a:avLst/>
          </a:prstGeom>
          <a:solidFill>
            <a:srgbClr val="E66B6B"/>
          </a:solidFill>
          <a:ln w="12700">
            <a:solidFill>
              <a:srgbClr val="E66B6B"/>
            </a:solidFill>
            <a:prstDash val="solid"/>
          </a:ln>
        </p:spPr>
        <p:txBody>
          <a:bodyPr/>
          <a:lstStyle/>
          <a:p>
            <a:endParaRPr/>
          </a:p>
        </p:txBody>
      </p:sp>
      <p:sp>
        <p:nvSpPr>
          <p:cNvPr id="11" name="Text 8"/>
          <p:cNvSpPr/>
          <p:nvPr/>
        </p:nvSpPr>
        <p:spPr>
          <a:xfrm>
            <a:off x="6473952" y="1399032"/>
            <a:ext cx="498348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PRIMARY RISKS</a:t>
            </a:r>
            <a:endParaRPr lang="en-US" sz="1100" dirty="0"/>
          </a:p>
        </p:txBody>
      </p:sp>
      <p:sp>
        <p:nvSpPr>
          <p:cNvPr id="12" name="Text 9"/>
          <p:cNvSpPr/>
          <p:nvPr/>
        </p:nvSpPr>
        <p:spPr>
          <a:xfrm>
            <a:off x="6473952" y="1719072"/>
            <a:ext cx="4983480" cy="390448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Pilot purgatory and long plant integration cycles.</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Sovereignty appreciated but not monetized.</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Incumbents add local SLM / distributed features.</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AnyLog dependency / small-team execution risk.</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Model and hardware commoditization.</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Regulated validation and cybersecurity requirements.</a:t>
            </a:r>
            <a:endParaRPr lang="en-US" sz="950" dirty="0"/>
          </a:p>
          <a:p>
            <a:pPr marL="0" indent="0" algn="l">
              <a:buNone/>
            </a:pPr>
            <a:endParaRPr lang="en-US" sz="950" dirty="0"/>
          </a:p>
          <a:p>
            <a:pPr marL="0" indent="0" algn="l">
              <a:buNone/>
            </a:pPr>
            <a:r>
              <a:rPr lang="en-US" sz="950" dirty="0">
                <a:solidFill>
                  <a:srgbClr val="D8E1E8"/>
                </a:solidFill>
                <a:latin typeface="Aptos" pitchFamily="34" charset="0"/>
                <a:ea typeface="Aptos" pitchFamily="34" charset="-122"/>
                <a:cs typeface="Aptos" pitchFamily="34" charset="-120"/>
              </a:rPr>
              <a:t>Manufacturing domain expertise becomes the bottleneck.</a:t>
            </a:r>
            <a:endParaRPr lang="en-US" sz="950" dirty="0"/>
          </a:p>
        </p:txBody>
      </p:sp>
      <p:sp>
        <p:nvSpPr>
          <p:cNvPr id="13" name="Text 10"/>
          <p:cNvSpPr/>
          <p:nvPr/>
        </p:nvSpPr>
        <p:spPr>
          <a:xfrm>
            <a:off x="530352" y="6153912"/>
            <a:ext cx="11064240" cy="228600"/>
          </a:xfrm>
          <a:prstGeom prst="rect">
            <a:avLst/>
          </a:prstGeom>
          <a:noFill/>
          <a:ln/>
        </p:spPr>
        <p:txBody>
          <a:bodyPr wrap="square" lIns="0" tIns="0" rIns="0" bIns="0" rtlCol="0" anchor="t">
            <a:normAutofit/>
          </a:bodyPr>
          <a:lstStyle/>
          <a:p>
            <a:pPr marL="0" indent="0" algn="l">
              <a:buNone/>
            </a:pPr>
            <a:r>
              <a:rPr lang="en-US" sz="730" dirty="0">
                <a:solidFill>
                  <a:srgbClr val="8FA2B3"/>
                </a:solidFill>
                <a:latin typeface="Aptos" pitchFamily="34" charset="0"/>
                <a:ea typeface="Aptos" pitchFamily="34" charset="-122"/>
                <a:cs typeface="Aptos" pitchFamily="34" charset="-120"/>
              </a:rPr>
              <a:t>Investor diligence should focus on repeatability: how quickly a second and third unrelated plant can be deployed with less engineering than the first.</a:t>
            </a:r>
            <a:endParaRPr lang="en-US" sz="730" dirty="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29</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Investor narrative</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A focused seed thesis: prove the distributed manufacturing intelligence category with evidence, not claims.</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Text 2"/>
          <p:cNvSpPr/>
          <p:nvPr/>
        </p:nvSpPr>
        <p:spPr>
          <a:xfrm>
            <a:off x="594360" y="1234440"/>
            <a:ext cx="457200" cy="548640"/>
          </a:xfrm>
          <a:prstGeom prst="rect">
            <a:avLst/>
          </a:prstGeom>
          <a:noFill/>
          <a:ln/>
        </p:spPr>
        <p:txBody>
          <a:bodyPr wrap="square" lIns="0" tIns="0" rIns="0" bIns="0" rtlCol="0" anchor="ctr">
            <a:normAutofit/>
          </a:bodyPr>
          <a:lstStyle/>
          <a:p>
            <a:pPr marL="0" indent="0" algn="l">
              <a:buNone/>
            </a:pPr>
            <a:r>
              <a:rPr lang="en-US" sz="3800" b="1" dirty="0">
                <a:solidFill>
                  <a:srgbClr val="E47A4F"/>
                </a:solidFill>
                <a:latin typeface="Aptos" pitchFamily="34" charset="0"/>
                <a:ea typeface="Aptos" pitchFamily="34" charset="-122"/>
                <a:cs typeface="Aptos" pitchFamily="34" charset="-120"/>
              </a:rPr>
              <a:t>“</a:t>
            </a:r>
            <a:endParaRPr lang="en-US" sz="3800" dirty="0"/>
          </a:p>
        </p:txBody>
      </p:sp>
      <p:sp>
        <p:nvSpPr>
          <p:cNvPr id="6" name="Text 3"/>
          <p:cNvSpPr/>
          <p:nvPr/>
        </p:nvSpPr>
        <p:spPr>
          <a:xfrm>
            <a:off x="960120" y="1325880"/>
            <a:ext cx="10149840" cy="1005840"/>
          </a:xfrm>
          <a:prstGeom prst="rect">
            <a:avLst/>
          </a:prstGeom>
          <a:noFill/>
          <a:ln/>
        </p:spPr>
        <p:txBody>
          <a:bodyPr wrap="square" lIns="0" tIns="0" rIns="0" bIns="0" rtlCol="0" anchor="ctr">
            <a:normAutofit/>
          </a:bodyPr>
          <a:lstStyle/>
          <a:p>
            <a:pPr marL="0" indent="0" algn="l">
              <a:buNone/>
            </a:pPr>
            <a:r>
              <a:rPr lang="en-US" sz="2100" b="1" dirty="0">
                <a:solidFill>
                  <a:srgbClr val="F4F7FA"/>
                </a:solidFill>
                <a:latin typeface="Aptos" pitchFamily="34" charset="0"/>
                <a:ea typeface="Aptos" pitchFamily="34" charset="-122"/>
                <a:cs typeface="Aptos" pitchFamily="34" charset="-120"/>
              </a:rPr>
              <a:t>Manufacturing AI is moving into the plant. DMI is building the coordination layer that lets many local AI analysts work as one manufacturing intelligence system - while raw data stays local.</a:t>
            </a:r>
            <a:endParaRPr lang="en-US" sz="2100" dirty="0"/>
          </a:p>
        </p:txBody>
      </p:sp>
      <p:sp>
        <p:nvSpPr>
          <p:cNvPr id="7" name="Shape 4"/>
          <p:cNvSpPr/>
          <p:nvPr/>
        </p:nvSpPr>
        <p:spPr>
          <a:xfrm>
            <a:off x="685800" y="2743200"/>
            <a:ext cx="3246120" cy="1874520"/>
          </a:xfrm>
          <a:prstGeom prst="roundRect">
            <a:avLst>
              <a:gd name="adj" fmla="val 2439"/>
            </a:avLst>
          </a:prstGeom>
          <a:solidFill>
            <a:srgbClr val="0E1D2C"/>
          </a:solidFill>
          <a:ln w="12700">
            <a:solidFill>
              <a:srgbClr val="274052"/>
            </a:solidFill>
            <a:prstDash val="solid"/>
          </a:ln>
        </p:spPr>
        <p:txBody>
          <a:bodyPr/>
          <a:lstStyle/>
          <a:p>
            <a:endParaRPr/>
          </a:p>
        </p:txBody>
      </p:sp>
      <p:sp>
        <p:nvSpPr>
          <p:cNvPr id="8" name="Shape 5"/>
          <p:cNvSpPr/>
          <p:nvPr/>
        </p:nvSpPr>
        <p:spPr>
          <a:xfrm>
            <a:off x="685800" y="2743200"/>
            <a:ext cx="45720" cy="1874520"/>
          </a:xfrm>
          <a:prstGeom prst="rect">
            <a:avLst/>
          </a:prstGeom>
          <a:solidFill>
            <a:srgbClr val="4EA3D8"/>
          </a:solidFill>
          <a:ln w="12700">
            <a:solidFill>
              <a:srgbClr val="4EA3D8"/>
            </a:solidFill>
            <a:prstDash val="solid"/>
          </a:ln>
        </p:spPr>
        <p:txBody>
          <a:bodyPr/>
          <a:lstStyle/>
          <a:p>
            <a:endParaRPr/>
          </a:p>
        </p:txBody>
      </p:sp>
      <p:sp>
        <p:nvSpPr>
          <p:cNvPr id="9" name="Text 6"/>
          <p:cNvSpPr/>
          <p:nvPr/>
        </p:nvSpPr>
        <p:spPr>
          <a:xfrm>
            <a:off x="850392" y="2862072"/>
            <a:ext cx="297180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WHY NOW</a:t>
            </a:r>
            <a:endParaRPr lang="en-US" sz="1100" dirty="0"/>
          </a:p>
        </p:txBody>
      </p:sp>
      <p:sp>
        <p:nvSpPr>
          <p:cNvPr id="10" name="Text 7"/>
          <p:cNvSpPr/>
          <p:nvPr/>
        </p:nvSpPr>
        <p:spPr>
          <a:xfrm>
            <a:off x="850392" y="3182112"/>
            <a:ext cx="2971800" cy="13441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Edge compute is capable. Industrial AI spending is growing. Manufacturers are adopting AI while data, security and operational continuity remain plant-specific constraints.</a:t>
            </a:r>
            <a:endParaRPr lang="en-US" sz="950" dirty="0"/>
          </a:p>
        </p:txBody>
      </p:sp>
      <p:sp>
        <p:nvSpPr>
          <p:cNvPr id="11" name="Shape 8"/>
          <p:cNvSpPr/>
          <p:nvPr/>
        </p:nvSpPr>
        <p:spPr>
          <a:xfrm>
            <a:off x="4462272" y="2743200"/>
            <a:ext cx="3246120" cy="1874520"/>
          </a:xfrm>
          <a:prstGeom prst="roundRect">
            <a:avLst>
              <a:gd name="adj" fmla="val 2439"/>
            </a:avLst>
          </a:prstGeom>
          <a:solidFill>
            <a:srgbClr val="0E1D2C"/>
          </a:solidFill>
          <a:ln w="12700">
            <a:solidFill>
              <a:srgbClr val="274052"/>
            </a:solidFill>
            <a:prstDash val="solid"/>
          </a:ln>
        </p:spPr>
        <p:txBody>
          <a:bodyPr/>
          <a:lstStyle/>
          <a:p>
            <a:endParaRPr/>
          </a:p>
        </p:txBody>
      </p:sp>
      <p:sp>
        <p:nvSpPr>
          <p:cNvPr id="12" name="Shape 9"/>
          <p:cNvSpPr/>
          <p:nvPr/>
        </p:nvSpPr>
        <p:spPr>
          <a:xfrm>
            <a:off x="4462272" y="2743200"/>
            <a:ext cx="45720" cy="1874520"/>
          </a:xfrm>
          <a:prstGeom prst="rect">
            <a:avLst/>
          </a:prstGeom>
          <a:solidFill>
            <a:srgbClr val="C85D37"/>
          </a:solidFill>
          <a:ln w="12700">
            <a:solidFill>
              <a:srgbClr val="C85D37"/>
            </a:solidFill>
            <a:prstDash val="solid"/>
          </a:ln>
        </p:spPr>
        <p:txBody>
          <a:bodyPr/>
          <a:lstStyle/>
          <a:p>
            <a:endParaRPr/>
          </a:p>
        </p:txBody>
      </p:sp>
      <p:sp>
        <p:nvSpPr>
          <p:cNvPr id="13" name="Text 10"/>
          <p:cNvSpPr/>
          <p:nvPr/>
        </p:nvSpPr>
        <p:spPr>
          <a:xfrm>
            <a:off x="4626864" y="2862072"/>
            <a:ext cx="297180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WHY DMI</a:t>
            </a:r>
            <a:endParaRPr lang="en-US" sz="1100" dirty="0"/>
          </a:p>
        </p:txBody>
      </p:sp>
      <p:sp>
        <p:nvSpPr>
          <p:cNvPr id="14" name="Text 11"/>
          <p:cNvSpPr/>
          <p:nvPr/>
        </p:nvSpPr>
        <p:spPr>
          <a:xfrm>
            <a:off x="4626864" y="3182112"/>
            <a:ext cx="2971800" cy="13441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AnyLog provides distributed data access; DMI adds local analytical/SLM nodes, process-aware fan-out, evidence joins, investigation workflows and lineage.</a:t>
            </a:r>
            <a:endParaRPr lang="en-US" sz="950" dirty="0"/>
          </a:p>
        </p:txBody>
      </p:sp>
      <p:sp>
        <p:nvSpPr>
          <p:cNvPr id="15" name="Shape 12"/>
          <p:cNvSpPr/>
          <p:nvPr/>
        </p:nvSpPr>
        <p:spPr>
          <a:xfrm>
            <a:off x="8229600" y="2743200"/>
            <a:ext cx="3246120" cy="1874520"/>
          </a:xfrm>
          <a:prstGeom prst="roundRect">
            <a:avLst>
              <a:gd name="adj" fmla="val 2439"/>
            </a:avLst>
          </a:prstGeom>
          <a:solidFill>
            <a:srgbClr val="0E1D2C"/>
          </a:solidFill>
          <a:ln w="12700">
            <a:solidFill>
              <a:srgbClr val="274052"/>
            </a:solidFill>
            <a:prstDash val="solid"/>
          </a:ln>
        </p:spPr>
        <p:txBody>
          <a:bodyPr/>
          <a:lstStyle/>
          <a:p>
            <a:endParaRPr/>
          </a:p>
        </p:txBody>
      </p:sp>
      <p:sp>
        <p:nvSpPr>
          <p:cNvPr id="16" name="Shape 13"/>
          <p:cNvSpPr/>
          <p:nvPr/>
        </p:nvSpPr>
        <p:spPr>
          <a:xfrm>
            <a:off x="8229600" y="2743200"/>
            <a:ext cx="45720" cy="1874520"/>
          </a:xfrm>
          <a:prstGeom prst="rect">
            <a:avLst/>
          </a:prstGeom>
          <a:solidFill>
            <a:srgbClr val="50B89B"/>
          </a:solidFill>
          <a:ln w="12700">
            <a:solidFill>
              <a:srgbClr val="50B89B"/>
            </a:solidFill>
            <a:prstDash val="solid"/>
          </a:ln>
        </p:spPr>
        <p:txBody>
          <a:bodyPr/>
          <a:lstStyle/>
          <a:p>
            <a:endParaRPr/>
          </a:p>
        </p:txBody>
      </p:sp>
      <p:sp>
        <p:nvSpPr>
          <p:cNvPr id="17" name="Text 14"/>
          <p:cNvSpPr/>
          <p:nvPr/>
        </p:nvSpPr>
        <p:spPr>
          <a:xfrm>
            <a:off x="8394192" y="2862072"/>
            <a:ext cx="297180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WHAT SEED PROVES</a:t>
            </a:r>
            <a:endParaRPr lang="en-US" sz="1100" dirty="0"/>
          </a:p>
        </p:txBody>
      </p:sp>
      <p:sp>
        <p:nvSpPr>
          <p:cNvPr id="18" name="Text 15"/>
          <p:cNvSpPr/>
          <p:nvPr/>
        </p:nvSpPr>
        <p:spPr>
          <a:xfrm>
            <a:off x="8394192" y="3182112"/>
            <a:ext cx="2971800" cy="13441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Paid design partners, 10–100 node benchmark, offline operation, measurable investigation improvement, repeatable deployment and production conversion.</a:t>
            </a:r>
            <a:endParaRPr lang="en-US" sz="950" dirty="0"/>
          </a:p>
        </p:txBody>
      </p:sp>
      <p:sp>
        <p:nvSpPr>
          <p:cNvPr id="19" name="Text 16"/>
          <p:cNvSpPr/>
          <p:nvPr/>
        </p:nvSpPr>
        <p:spPr>
          <a:xfrm>
            <a:off x="713232" y="5166360"/>
            <a:ext cx="10607040" cy="475488"/>
          </a:xfrm>
          <a:prstGeom prst="rect">
            <a:avLst/>
          </a:prstGeom>
          <a:noFill/>
          <a:ln/>
        </p:spPr>
        <p:txBody>
          <a:bodyPr wrap="square" lIns="0" tIns="0" rIns="0" bIns="0" rtlCol="0" anchor="ctr">
            <a:normAutofit/>
          </a:bodyPr>
          <a:lstStyle/>
          <a:p>
            <a:pPr marL="0" indent="0" algn="ctr">
              <a:buNone/>
            </a:pPr>
            <a:r>
              <a:rPr lang="en-US" sz="2200" b="1" dirty="0">
                <a:solidFill>
                  <a:srgbClr val="E47A4F"/>
                </a:solidFill>
                <a:latin typeface="Aptos" pitchFamily="34" charset="0"/>
                <a:ea typeface="Aptos" pitchFamily="34" charset="-122"/>
                <a:cs typeface="Aptos" pitchFamily="34" charset="-120"/>
              </a:rPr>
              <a:t>DMI turns the plant into its own AI computer.</a:t>
            </a:r>
            <a:endParaRPr lang="en-US" sz="2200" dirty="0"/>
          </a:p>
        </p:txBody>
      </p:sp>
      <p:sp>
        <p:nvSpPr>
          <p:cNvPr id="20" name="Text 17"/>
          <p:cNvSpPr/>
          <p:nvPr/>
        </p:nvSpPr>
        <p:spPr>
          <a:xfrm>
            <a:off x="713232" y="5669280"/>
            <a:ext cx="10607040" cy="310896"/>
          </a:xfrm>
          <a:prstGeom prst="rect">
            <a:avLst/>
          </a:prstGeom>
          <a:noFill/>
          <a:ln/>
        </p:spPr>
        <p:txBody>
          <a:bodyPr wrap="square" lIns="0" tIns="0" rIns="0" bIns="0" rtlCol="0" anchor="ctr">
            <a:normAutofit/>
          </a:bodyPr>
          <a:lstStyle/>
          <a:p>
            <a:pPr marL="0" indent="0" algn="ctr">
              <a:buNone/>
            </a:pPr>
            <a:r>
              <a:rPr lang="en-US" sz="1200" dirty="0">
                <a:solidFill>
                  <a:srgbClr val="D8E1E8"/>
                </a:solidFill>
                <a:latin typeface="Aptos" pitchFamily="34" charset="0"/>
                <a:ea typeface="Aptos" pitchFamily="34" charset="-122"/>
                <a:cs typeface="Aptos" pitchFamily="34" charset="-120"/>
              </a:rPr>
              <a:t>Compute locally. Analyze locally. Communicate intelligence, not raw data.</a:t>
            </a:r>
            <a:endParaRPr lang="en-US" sz="1200" dirty="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30</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The ask</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Fund the proof points that determine whether DMI becomes a category or remains an architecture.</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Text 2"/>
          <p:cNvSpPr/>
          <p:nvPr/>
        </p:nvSpPr>
        <p:spPr>
          <a:xfrm>
            <a:off x="685800" y="1234440"/>
            <a:ext cx="3108960" cy="685800"/>
          </a:xfrm>
          <a:prstGeom prst="rect">
            <a:avLst/>
          </a:prstGeom>
          <a:noFill/>
          <a:ln/>
        </p:spPr>
        <p:txBody>
          <a:bodyPr wrap="square" lIns="0" tIns="0" rIns="0" bIns="0" rtlCol="0" anchor="ctr">
            <a:normAutofit/>
          </a:bodyPr>
          <a:lstStyle/>
          <a:p>
            <a:pPr marL="0" indent="0" algn="l">
              <a:buNone/>
            </a:pPr>
            <a:r>
              <a:rPr lang="en-US" sz="4000" b="1" dirty="0">
                <a:solidFill>
                  <a:srgbClr val="E47A4F"/>
                </a:solidFill>
                <a:latin typeface="Aptos" pitchFamily="34" charset="0"/>
                <a:ea typeface="Aptos" pitchFamily="34" charset="-122"/>
                <a:cs typeface="Aptos" pitchFamily="34" charset="-120"/>
              </a:rPr>
              <a:t>$2.0M</a:t>
            </a:r>
            <a:endParaRPr lang="en-US" sz="4000" dirty="0"/>
          </a:p>
        </p:txBody>
      </p:sp>
      <p:sp>
        <p:nvSpPr>
          <p:cNvPr id="6" name="Text 3"/>
          <p:cNvSpPr/>
          <p:nvPr/>
        </p:nvSpPr>
        <p:spPr>
          <a:xfrm>
            <a:off x="713232" y="1901952"/>
            <a:ext cx="2926080" cy="320040"/>
          </a:xfrm>
          <a:prstGeom prst="rect">
            <a:avLst/>
          </a:prstGeom>
          <a:noFill/>
          <a:ln/>
        </p:spPr>
        <p:txBody>
          <a:bodyPr wrap="square" lIns="0" tIns="0" rIns="0" bIns="0" rtlCol="0" anchor="ctr">
            <a:normAutofit/>
          </a:bodyPr>
          <a:lstStyle/>
          <a:p>
            <a:pPr marL="0" indent="0" algn="l">
              <a:buNone/>
            </a:pPr>
            <a:r>
              <a:rPr lang="en-US" sz="1200" b="1" dirty="0">
                <a:solidFill>
                  <a:srgbClr val="F4F7FA"/>
                </a:solidFill>
                <a:latin typeface="Aptos" pitchFamily="34" charset="0"/>
                <a:ea typeface="Aptos" pitchFamily="34" charset="-122"/>
                <a:cs typeface="Aptos" pitchFamily="34" charset="-120"/>
              </a:rPr>
              <a:t>SEED ROUND</a:t>
            </a:r>
            <a:endParaRPr lang="en-US" sz="1200" dirty="0"/>
          </a:p>
        </p:txBody>
      </p:sp>
      <p:sp>
        <p:nvSpPr>
          <p:cNvPr id="7" name="Shape 4"/>
          <p:cNvSpPr/>
          <p:nvPr/>
        </p:nvSpPr>
        <p:spPr>
          <a:xfrm>
            <a:off x="3886200" y="1188720"/>
            <a:ext cx="3474720" cy="1417320"/>
          </a:xfrm>
          <a:prstGeom prst="roundRect">
            <a:avLst>
              <a:gd name="adj" fmla="val 3226"/>
            </a:avLst>
          </a:prstGeom>
          <a:solidFill>
            <a:srgbClr val="0E1D2C"/>
          </a:solidFill>
          <a:ln w="12700">
            <a:solidFill>
              <a:srgbClr val="274052"/>
            </a:solidFill>
            <a:prstDash val="solid"/>
          </a:ln>
        </p:spPr>
        <p:txBody>
          <a:bodyPr/>
          <a:lstStyle/>
          <a:p>
            <a:endParaRPr/>
          </a:p>
        </p:txBody>
      </p:sp>
      <p:sp>
        <p:nvSpPr>
          <p:cNvPr id="8" name="Shape 5"/>
          <p:cNvSpPr/>
          <p:nvPr/>
        </p:nvSpPr>
        <p:spPr>
          <a:xfrm>
            <a:off x="3886200" y="1188720"/>
            <a:ext cx="45720" cy="1417320"/>
          </a:xfrm>
          <a:prstGeom prst="rect">
            <a:avLst/>
          </a:prstGeom>
          <a:solidFill>
            <a:srgbClr val="4EA3D8"/>
          </a:solidFill>
          <a:ln w="12700">
            <a:solidFill>
              <a:srgbClr val="4EA3D8"/>
            </a:solidFill>
            <a:prstDash val="solid"/>
          </a:ln>
        </p:spPr>
        <p:txBody>
          <a:bodyPr/>
          <a:lstStyle/>
          <a:p>
            <a:endParaRPr/>
          </a:p>
        </p:txBody>
      </p:sp>
      <p:sp>
        <p:nvSpPr>
          <p:cNvPr id="9" name="Text 6"/>
          <p:cNvSpPr/>
          <p:nvPr/>
        </p:nvSpPr>
        <p:spPr>
          <a:xfrm>
            <a:off x="4050792" y="1307592"/>
            <a:ext cx="320040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DESIGN PARTNERS</a:t>
            </a:r>
            <a:endParaRPr lang="en-US" sz="1100" dirty="0"/>
          </a:p>
        </p:txBody>
      </p:sp>
      <p:sp>
        <p:nvSpPr>
          <p:cNvPr id="10" name="Text 7"/>
          <p:cNvSpPr/>
          <p:nvPr/>
        </p:nvSpPr>
        <p:spPr>
          <a:xfrm>
            <a:off x="4050792" y="1627632"/>
            <a:ext cx="3200400" cy="8869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Two high-value brownfield deployments with baseline economics and production-conversion criteria.</a:t>
            </a:r>
            <a:endParaRPr lang="en-US" sz="950" dirty="0"/>
          </a:p>
        </p:txBody>
      </p:sp>
      <p:sp>
        <p:nvSpPr>
          <p:cNvPr id="11" name="Shape 8"/>
          <p:cNvSpPr/>
          <p:nvPr/>
        </p:nvSpPr>
        <p:spPr>
          <a:xfrm>
            <a:off x="7726680" y="1188720"/>
            <a:ext cx="3474720" cy="1417320"/>
          </a:xfrm>
          <a:prstGeom prst="roundRect">
            <a:avLst>
              <a:gd name="adj" fmla="val 3226"/>
            </a:avLst>
          </a:prstGeom>
          <a:solidFill>
            <a:srgbClr val="0E1D2C"/>
          </a:solidFill>
          <a:ln w="12700">
            <a:solidFill>
              <a:srgbClr val="274052"/>
            </a:solidFill>
            <a:prstDash val="solid"/>
          </a:ln>
        </p:spPr>
        <p:txBody>
          <a:bodyPr/>
          <a:lstStyle/>
          <a:p>
            <a:endParaRPr/>
          </a:p>
        </p:txBody>
      </p:sp>
      <p:sp>
        <p:nvSpPr>
          <p:cNvPr id="12" name="Shape 9"/>
          <p:cNvSpPr/>
          <p:nvPr/>
        </p:nvSpPr>
        <p:spPr>
          <a:xfrm>
            <a:off x="7726680" y="1188720"/>
            <a:ext cx="45720" cy="1417320"/>
          </a:xfrm>
          <a:prstGeom prst="rect">
            <a:avLst/>
          </a:prstGeom>
          <a:solidFill>
            <a:srgbClr val="C85D37"/>
          </a:solidFill>
          <a:ln w="12700">
            <a:solidFill>
              <a:srgbClr val="C85D37"/>
            </a:solidFill>
            <a:prstDash val="solid"/>
          </a:ln>
        </p:spPr>
        <p:txBody>
          <a:bodyPr/>
          <a:lstStyle/>
          <a:p>
            <a:endParaRPr/>
          </a:p>
        </p:txBody>
      </p:sp>
      <p:sp>
        <p:nvSpPr>
          <p:cNvPr id="13" name="Text 10"/>
          <p:cNvSpPr/>
          <p:nvPr/>
        </p:nvSpPr>
        <p:spPr>
          <a:xfrm>
            <a:off x="7891272" y="1307592"/>
            <a:ext cx="320040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TECHNICAL PROOF</a:t>
            </a:r>
            <a:endParaRPr lang="en-US" sz="1100" dirty="0"/>
          </a:p>
        </p:txBody>
      </p:sp>
      <p:sp>
        <p:nvSpPr>
          <p:cNvPr id="14" name="Text 11"/>
          <p:cNvSpPr/>
          <p:nvPr/>
        </p:nvSpPr>
        <p:spPr>
          <a:xfrm>
            <a:off x="7891272" y="1627632"/>
            <a:ext cx="3200400" cy="8869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Node contract, evidence trail, offline workflow and controlled 10–100 node benchmark.</a:t>
            </a:r>
            <a:endParaRPr lang="en-US" sz="950" dirty="0"/>
          </a:p>
        </p:txBody>
      </p:sp>
      <p:sp>
        <p:nvSpPr>
          <p:cNvPr id="15" name="Shape 12"/>
          <p:cNvSpPr/>
          <p:nvPr/>
        </p:nvSpPr>
        <p:spPr>
          <a:xfrm>
            <a:off x="3886200" y="2971800"/>
            <a:ext cx="3474720" cy="1417320"/>
          </a:xfrm>
          <a:prstGeom prst="roundRect">
            <a:avLst>
              <a:gd name="adj" fmla="val 3226"/>
            </a:avLst>
          </a:prstGeom>
          <a:solidFill>
            <a:srgbClr val="0E1D2C"/>
          </a:solidFill>
          <a:ln w="12700">
            <a:solidFill>
              <a:srgbClr val="274052"/>
            </a:solidFill>
            <a:prstDash val="solid"/>
          </a:ln>
        </p:spPr>
        <p:txBody>
          <a:bodyPr/>
          <a:lstStyle/>
          <a:p>
            <a:endParaRPr/>
          </a:p>
        </p:txBody>
      </p:sp>
      <p:sp>
        <p:nvSpPr>
          <p:cNvPr id="16" name="Shape 13"/>
          <p:cNvSpPr/>
          <p:nvPr/>
        </p:nvSpPr>
        <p:spPr>
          <a:xfrm>
            <a:off x="3886200" y="2971800"/>
            <a:ext cx="45720" cy="1417320"/>
          </a:xfrm>
          <a:prstGeom prst="rect">
            <a:avLst/>
          </a:prstGeom>
          <a:solidFill>
            <a:srgbClr val="50B89B"/>
          </a:solidFill>
          <a:ln w="12700">
            <a:solidFill>
              <a:srgbClr val="50B89B"/>
            </a:solidFill>
            <a:prstDash val="solid"/>
          </a:ln>
        </p:spPr>
        <p:txBody>
          <a:bodyPr/>
          <a:lstStyle/>
          <a:p>
            <a:endParaRPr/>
          </a:p>
        </p:txBody>
      </p:sp>
      <p:sp>
        <p:nvSpPr>
          <p:cNvPr id="17" name="Text 14"/>
          <p:cNvSpPr/>
          <p:nvPr/>
        </p:nvSpPr>
        <p:spPr>
          <a:xfrm>
            <a:off x="4050792" y="3090672"/>
            <a:ext cx="320040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COMMERCIAL PROOF</a:t>
            </a:r>
            <a:endParaRPr lang="en-US" sz="1100" dirty="0"/>
          </a:p>
        </p:txBody>
      </p:sp>
      <p:sp>
        <p:nvSpPr>
          <p:cNvPr id="18" name="Text 15"/>
          <p:cNvSpPr/>
          <p:nvPr/>
        </p:nvSpPr>
        <p:spPr>
          <a:xfrm>
            <a:off x="4050792" y="3410712"/>
            <a:ext cx="3200400" cy="8869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Paid pilot → annual plant license → sister-plant or multi-site expansion path.</a:t>
            </a:r>
            <a:endParaRPr lang="en-US" sz="950" dirty="0"/>
          </a:p>
        </p:txBody>
      </p:sp>
      <p:sp>
        <p:nvSpPr>
          <p:cNvPr id="19" name="Shape 16"/>
          <p:cNvSpPr/>
          <p:nvPr/>
        </p:nvSpPr>
        <p:spPr>
          <a:xfrm>
            <a:off x="7726680" y="2971800"/>
            <a:ext cx="3474720" cy="1417320"/>
          </a:xfrm>
          <a:prstGeom prst="roundRect">
            <a:avLst>
              <a:gd name="adj" fmla="val 3226"/>
            </a:avLst>
          </a:prstGeom>
          <a:solidFill>
            <a:srgbClr val="0E1D2C"/>
          </a:solidFill>
          <a:ln w="12700">
            <a:solidFill>
              <a:srgbClr val="274052"/>
            </a:solidFill>
            <a:prstDash val="solid"/>
          </a:ln>
        </p:spPr>
        <p:txBody>
          <a:bodyPr/>
          <a:lstStyle/>
          <a:p>
            <a:endParaRPr/>
          </a:p>
        </p:txBody>
      </p:sp>
      <p:sp>
        <p:nvSpPr>
          <p:cNvPr id="20" name="Shape 17"/>
          <p:cNvSpPr/>
          <p:nvPr/>
        </p:nvSpPr>
        <p:spPr>
          <a:xfrm>
            <a:off x="7726680" y="2971800"/>
            <a:ext cx="45720" cy="1417320"/>
          </a:xfrm>
          <a:prstGeom prst="rect">
            <a:avLst/>
          </a:prstGeom>
          <a:solidFill>
            <a:srgbClr val="C85D37"/>
          </a:solidFill>
          <a:ln w="12700">
            <a:solidFill>
              <a:srgbClr val="C85D37"/>
            </a:solidFill>
            <a:prstDash val="solid"/>
          </a:ln>
        </p:spPr>
        <p:txBody>
          <a:bodyPr/>
          <a:lstStyle/>
          <a:p>
            <a:endParaRPr/>
          </a:p>
        </p:txBody>
      </p:sp>
      <p:sp>
        <p:nvSpPr>
          <p:cNvPr id="21" name="Text 18"/>
          <p:cNvSpPr/>
          <p:nvPr/>
        </p:nvSpPr>
        <p:spPr>
          <a:xfrm>
            <a:off x="7891272" y="3090672"/>
            <a:ext cx="320040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SERIES A CASE</a:t>
            </a:r>
            <a:endParaRPr lang="en-US" sz="1100" dirty="0"/>
          </a:p>
        </p:txBody>
      </p:sp>
      <p:sp>
        <p:nvSpPr>
          <p:cNvPr id="22" name="Text 19"/>
          <p:cNvSpPr/>
          <p:nvPr/>
        </p:nvSpPr>
        <p:spPr>
          <a:xfrm>
            <a:off x="7891272" y="3410712"/>
            <a:ext cx="3200400" cy="88696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Repeatable product + measurable customer outcome + defensible evidence/orchestration layer.</a:t>
            </a:r>
            <a:endParaRPr lang="en-US" sz="950" dirty="0"/>
          </a:p>
        </p:txBody>
      </p:sp>
      <p:sp>
        <p:nvSpPr>
          <p:cNvPr id="23" name="Text 20"/>
          <p:cNvSpPr/>
          <p:nvPr/>
        </p:nvSpPr>
        <p:spPr>
          <a:xfrm>
            <a:off x="713232" y="4937760"/>
            <a:ext cx="10515600" cy="292608"/>
          </a:xfrm>
          <a:prstGeom prst="rect">
            <a:avLst/>
          </a:prstGeom>
          <a:noFill/>
          <a:ln/>
        </p:spPr>
        <p:txBody>
          <a:bodyPr wrap="square" lIns="0" tIns="0" rIns="0" bIns="0" rtlCol="0" anchor="ctr">
            <a:normAutofit/>
          </a:bodyPr>
          <a:lstStyle/>
          <a:p>
            <a:pPr marL="0" indent="0" algn="l">
              <a:buNone/>
            </a:pPr>
            <a:r>
              <a:rPr lang="en-US" sz="1200" dirty="0">
                <a:solidFill>
                  <a:srgbClr val="8FA2B3"/>
                </a:solidFill>
                <a:latin typeface="Aptos" pitchFamily="34" charset="0"/>
                <a:ea typeface="Aptos" pitchFamily="34" charset="-122"/>
                <a:cs typeface="Aptos" pitchFamily="34" charset="-120"/>
              </a:rPr>
              <a:t>The investment question is simple:</a:t>
            </a:r>
            <a:endParaRPr lang="en-US" sz="1200" dirty="0"/>
          </a:p>
        </p:txBody>
      </p:sp>
      <p:sp>
        <p:nvSpPr>
          <p:cNvPr id="24" name="Text 21"/>
          <p:cNvSpPr/>
          <p:nvPr/>
        </p:nvSpPr>
        <p:spPr>
          <a:xfrm>
            <a:off x="713232" y="5321808"/>
            <a:ext cx="10561320" cy="621792"/>
          </a:xfrm>
          <a:prstGeom prst="rect">
            <a:avLst/>
          </a:prstGeom>
          <a:noFill/>
          <a:ln/>
        </p:spPr>
        <p:txBody>
          <a:bodyPr wrap="square" lIns="0" tIns="0" rIns="0" bIns="0" rtlCol="0" anchor="ctr">
            <a:normAutofit/>
          </a:bodyPr>
          <a:lstStyle/>
          <a:p>
            <a:pPr marL="0" indent="0" algn="l">
              <a:buNone/>
            </a:pPr>
            <a:r>
              <a:rPr lang="en-US" sz="1800" b="1" dirty="0">
                <a:solidFill>
                  <a:srgbClr val="F4F7FA"/>
                </a:solidFill>
                <a:latin typeface="Aptos" pitchFamily="34" charset="0"/>
                <a:ea typeface="Aptos" pitchFamily="34" charset="-122"/>
                <a:cs typeface="Aptos" pitchFamily="34" charset="-120"/>
              </a:rPr>
              <a:t>Can DMI economically deploy many industrial AI analysts across a plant and turn their local evidence into better manufacturing decisions?</a:t>
            </a:r>
            <a:endParaRPr lang="en-US" sz="1800" dirty="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31</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329184"/>
            <a:ext cx="10881360" cy="411480"/>
          </a:xfrm>
          <a:prstGeom prst="rect">
            <a:avLst/>
          </a:prstGeom>
          <a:noFill/>
          <a:ln/>
        </p:spPr>
        <p:txBody>
          <a:bodyPr wrap="square" lIns="0" tIns="0" rIns="0" bIns="0" rtlCol="0" anchor="ctr"/>
          <a:lstStyle/>
          <a:p>
            <a:pPr marL="0" indent="0">
              <a:buNone/>
            </a:pPr>
            <a:r>
              <a:rPr lang="en-US" sz="2400" b="1" dirty="0">
                <a:solidFill>
                  <a:srgbClr val="F4F7FA"/>
                </a:solidFill>
                <a:latin typeface="Aptos Display" pitchFamily="34" charset="0"/>
                <a:ea typeface="Aptos Display" pitchFamily="34" charset="-122"/>
                <a:cs typeface="Aptos Display" pitchFamily="34" charset="-120"/>
              </a:rPr>
              <a:t>Appendix: source / assumption discipline</a:t>
            </a:r>
            <a:endParaRPr lang="en-US" sz="2400" dirty="0"/>
          </a:p>
        </p:txBody>
      </p:sp>
      <p:sp>
        <p:nvSpPr>
          <p:cNvPr id="3" name="Text 1"/>
          <p:cNvSpPr/>
          <p:nvPr/>
        </p:nvSpPr>
        <p:spPr>
          <a:xfrm>
            <a:off x="521208" y="786384"/>
            <a:ext cx="10789920" cy="274320"/>
          </a:xfrm>
          <a:prstGeom prst="rect">
            <a:avLst/>
          </a:prstGeom>
          <a:noFill/>
          <a:ln/>
        </p:spPr>
        <p:txBody>
          <a:bodyPr wrap="square" lIns="0" tIns="0" rIns="0" bIns="0" rtlCol="0" anchor="ctr"/>
          <a:lstStyle/>
          <a:p>
            <a:pPr marL="0" indent="0">
              <a:buNone/>
            </a:pPr>
            <a:r>
              <a:rPr lang="en-US" sz="1050" dirty="0">
                <a:solidFill>
                  <a:srgbClr val="8FA2B3"/>
                </a:solidFill>
              </a:rPr>
              <a:t>Investor materials should clearly separate external facts from internal hypotheses.</a:t>
            </a:r>
            <a:endParaRPr lang="en-US" sz="1050" dirty="0"/>
          </a:p>
        </p:txBody>
      </p:sp>
      <p:pic>
        <p:nvPicPr>
          <p:cNvPr id="4" name="Image 0" descr="/mnt/data/light_logo.png"/>
          <p:cNvPicPr>
            <a:picLocks noChangeAspect="1"/>
          </p:cNvPicPr>
          <p:nvPr/>
        </p:nvPicPr>
        <p:blipFill>
          <a:blip r:embed="rId3"/>
          <a:stretch>
            <a:fillRect/>
          </a:stretch>
        </p:blipFill>
        <p:spPr>
          <a:xfrm>
            <a:off x="10744200" y="237744"/>
            <a:ext cx="960120" cy="585216"/>
          </a:xfrm>
          <a:prstGeom prst="rect">
            <a:avLst/>
          </a:prstGeom>
        </p:spPr>
      </p:pic>
      <p:sp>
        <p:nvSpPr>
          <p:cNvPr id="5" name="Shape 2"/>
          <p:cNvSpPr/>
          <p:nvPr/>
        </p:nvSpPr>
        <p:spPr>
          <a:xfrm>
            <a:off x="685800" y="1234440"/>
            <a:ext cx="10744200" cy="914400"/>
          </a:xfrm>
          <a:prstGeom prst="roundRect">
            <a:avLst>
              <a:gd name="adj" fmla="val 5000"/>
            </a:avLst>
          </a:prstGeom>
          <a:solidFill>
            <a:srgbClr val="0E1D2C"/>
          </a:solidFill>
          <a:ln w="12700">
            <a:solidFill>
              <a:srgbClr val="274052"/>
            </a:solidFill>
            <a:prstDash val="solid"/>
          </a:ln>
        </p:spPr>
        <p:txBody>
          <a:bodyPr/>
          <a:lstStyle/>
          <a:p>
            <a:endParaRPr/>
          </a:p>
        </p:txBody>
      </p:sp>
      <p:sp>
        <p:nvSpPr>
          <p:cNvPr id="6" name="Shape 3"/>
          <p:cNvSpPr/>
          <p:nvPr/>
        </p:nvSpPr>
        <p:spPr>
          <a:xfrm>
            <a:off x="685800" y="1234440"/>
            <a:ext cx="45720" cy="914400"/>
          </a:xfrm>
          <a:prstGeom prst="rect">
            <a:avLst/>
          </a:prstGeom>
          <a:solidFill>
            <a:srgbClr val="4EA3D8"/>
          </a:solidFill>
          <a:ln w="12700">
            <a:solidFill>
              <a:srgbClr val="4EA3D8"/>
            </a:solidFill>
            <a:prstDash val="solid"/>
          </a:ln>
        </p:spPr>
        <p:txBody>
          <a:bodyPr/>
          <a:lstStyle/>
          <a:p>
            <a:endParaRPr/>
          </a:p>
        </p:txBody>
      </p:sp>
      <p:sp>
        <p:nvSpPr>
          <p:cNvPr id="7" name="Text 4"/>
          <p:cNvSpPr/>
          <p:nvPr/>
        </p:nvSpPr>
        <p:spPr>
          <a:xfrm>
            <a:off x="850392" y="1353312"/>
            <a:ext cx="1046988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SOURCE-DERIVED FACT</a:t>
            </a:r>
            <a:endParaRPr lang="en-US" sz="1100" dirty="0"/>
          </a:p>
        </p:txBody>
      </p:sp>
      <p:sp>
        <p:nvSpPr>
          <p:cNvPr id="8" name="Text 5"/>
          <p:cNvSpPr/>
          <p:nvPr/>
        </p:nvSpPr>
        <p:spPr>
          <a:xfrm>
            <a:off x="850392" y="1673352"/>
            <a:ext cx="10469880" cy="38404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Published market sizes and current vendor capabilities. Revalidate before external distribution.</a:t>
            </a:r>
            <a:endParaRPr lang="en-US" sz="950" dirty="0"/>
          </a:p>
        </p:txBody>
      </p:sp>
      <p:sp>
        <p:nvSpPr>
          <p:cNvPr id="9" name="Shape 6"/>
          <p:cNvSpPr/>
          <p:nvPr/>
        </p:nvSpPr>
        <p:spPr>
          <a:xfrm>
            <a:off x="685800" y="2377440"/>
            <a:ext cx="10744200" cy="914400"/>
          </a:xfrm>
          <a:prstGeom prst="roundRect">
            <a:avLst>
              <a:gd name="adj" fmla="val 5000"/>
            </a:avLst>
          </a:prstGeom>
          <a:solidFill>
            <a:srgbClr val="0E1D2C"/>
          </a:solidFill>
          <a:ln w="12700">
            <a:solidFill>
              <a:srgbClr val="274052"/>
            </a:solidFill>
            <a:prstDash val="solid"/>
          </a:ln>
        </p:spPr>
        <p:txBody>
          <a:bodyPr/>
          <a:lstStyle/>
          <a:p>
            <a:endParaRPr/>
          </a:p>
        </p:txBody>
      </p:sp>
      <p:sp>
        <p:nvSpPr>
          <p:cNvPr id="10" name="Shape 7"/>
          <p:cNvSpPr/>
          <p:nvPr/>
        </p:nvSpPr>
        <p:spPr>
          <a:xfrm>
            <a:off x="685800" y="2377440"/>
            <a:ext cx="45720" cy="914400"/>
          </a:xfrm>
          <a:prstGeom prst="rect">
            <a:avLst/>
          </a:prstGeom>
          <a:solidFill>
            <a:srgbClr val="E8B45A"/>
          </a:solidFill>
          <a:ln w="12700">
            <a:solidFill>
              <a:srgbClr val="E8B45A"/>
            </a:solidFill>
            <a:prstDash val="solid"/>
          </a:ln>
        </p:spPr>
        <p:txBody>
          <a:bodyPr/>
          <a:lstStyle/>
          <a:p>
            <a:endParaRPr/>
          </a:p>
        </p:txBody>
      </p:sp>
      <p:sp>
        <p:nvSpPr>
          <p:cNvPr id="11" name="Text 8"/>
          <p:cNvSpPr/>
          <p:nvPr/>
        </p:nvSpPr>
        <p:spPr>
          <a:xfrm>
            <a:off x="850392" y="2496312"/>
            <a:ext cx="1046988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INTERNAL PLANNING ASSUMPTION</a:t>
            </a:r>
            <a:endParaRPr lang="en-US" sz="1100" dirty="0"/>
          </a:p>
        </p:txBody>
      </p:sp>
      <p:sp>
        <p:nvSpPr>
          <p:cNvPr id="12" name="Text 9"/>
          <p:cNvSpPr/>
          <p:nvPr/>
        </p:nvSpPr>
        <p:spPr>
          <a:xfrm>
            <a:off x="850392" y="2816352"/>
            <a:ext cx="10469880" cy="38404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10–25% sovereignty subset; $75K–$150K pilots; $150K–$250K plant ARR; selected sub-$10K appliance configurations.</a:t>
            </a:r>
            <a:endParaRPr lang="en-US" sz="950" dirty="0"/>
          </a:p>
        </p:txBody>
      </p:sp>
      <p:sp>
        <p:nvSpPr>
          <p:cNvPr id="13" name="Shape 10"/>
          <p:cNvSpPr/>
          <p:nvPr/>
        </p:nvSpPr>
        <p:spPr>
          <a:xfrm>
            <a:off x="685800" y="3520440"/>
            <a:ext cx="10744200" cy="914400"/>
          </a:xfrm>
          <a:prstGeom prst="roundRect">
            <a:avLst>
              <a:gd name="adj" fmla="val 5000"/>
            </a:avLst>
          </a:prstGeom>
          <a:solidFill>
            <a:srgbClr val="0E1D2C"/>
          </a:solidFill>
          <a:ln w="12700">
            <a:solidFill>
              <a:srgbClr val="274052"/>
            </a:solidFill>
            <a:prstDash val="solid"/>
          </a:ln>
        </p:spPr>
        <p:txBody>
          <a:bodyPr/>
          <a:lstStyle/>
          <a:p>
            <a:endParaRPr/>
          </a:p>
        </p:txBody>
      </p:sp>
      <p:sp>
        <p:nvSpPr>
          <p:cNvPr id="14" name="Shape 11"/>
          <p:cNvSpPr/>
          <p:nvPr/>
        </p:nvSpPr>
        <p:spPr>
          <a:xfrm>
            <a:off x="685800" y="3520440"/>
            <a:ext cx="45720" cy="914400"/>
          </a:xfrm>
          <a:prstGeom prst="rect">
            <a:avLst/>
          </a:prstGeom>
          <a:solidFill>
            <a:srgbClr val="C85D37"/>
          </a:solidFill>
          <a:ln w="12700">
            <a:solidFill>
              <a:srgbClr val="C85D37"/>
            </a:solidFill>
            <a:prstDash val="solid"/>
          </a:ln>
        </p:spPr>
        <p:txBody>
          <a:bodyPr/>
          <a:lstStyle/>
          <a:p>
            <a:endParaRPr/>
          </a:p>
        </p:txBody>
      </p:sp>
      <p:sp>
        <p:nvSpPr>
          <p:cNvPr id="15" name="Text 12"/>
          <p:cNvSpPr/>
          <p:nvPr/>
        </p:nvSpPr>
        <p:spPr>
          <a:xfrm>
            <a:off x="850392" y="3639312"/>
            <a:ext cx="1046988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DMI HYPOTHESIS</a:t>
            </a:r>
            <a:endParaRPr lang="en-US" sz="1100" dirty="0"/>
          </a:p>
        </p:txBody>
      </p:sp>
      <p:sp>
        <p:nvSpPr>
          <p:cNvPr id="16" name="Text 13"/>
          <p:cNvSpPr/>
          <p:nvPr/>
        </p:nvSpPr>
        <p:spPr>
          <a:xfrm>
            <a:off x="850392" y="3959352"/>
            <a:ext cx="10469880" cy="38404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Distributed SLM fan-out improves workload economics/performance; process-directed evidence joins improve investigations.</a:t>
            </a:r>
            <a:endParaRPr lang="en-US" sz="950" dirty="0"/>
          </a:p>
        </p:txBody>
      </p:sp>
      <p:sp>
        <p:nvSpPr>
          <p:cNvPr id="17" name="Shape 14"/>
          <p:cNvSpPr/>
          <p:nvPr/>
        </p:nvSpPr>
        <p:spPr>
          <a:xfrm>
            <a:off x="685800" y="4663440"/>
            <a:ext cx="10744200" cy="914400"/>
          </a:xfrm>
          <a:prstGeom prst="roundRect">
            <a:avLst>
              <a:gd name="adj" fmla="val 5000"/>
            </a:avLst>
          </a:prstGeom>
          <a:solidFill>
            <a:srgbClr val="0E1D2C"/>
          </a:solidFill>
          <a:ln w="12700">
            <a:solidFill>
              <a:srgbClr val="274052"/>
            </a:solidFill>
            <a:prstDash val="solid"/>
          </a:ln>
        </p:spPr>
        <p:txBody>
          <a:bodyPr/>
          <a:lstStyle/>
          <a:p>
            <a:endParaRPr/>
          </a:p>
        </p:txBody>
      </p:sp>
      <p:sp>
        <p:nvSpPr>
          <p:cNvPr id="18" name="Shape 15"/>
          <p:cNvSpPr/>
          <p:nvPr/>
        </p:nvSpPr>
        <p:spPr>
          <a:xfrm>
            <a:off x="685800" y="4663440"/>
            <a:ext cx="45720" cy="914400"/>
          </a:xfrm>
          <a:prstGeom prst="rect">
            <a:avLst/>
          </a:prstGeom>
          <a:solidFill>
            <a:srgbClr val="50B89B"/>
          </a:solidFill>
          <a:ln w="12700">
            <a:solidFill>
              <a:srgbClr val="50B89B"/>
            </a:solidFill>
            <a:prstDash val="solid"/>
          </a:ln>
        </p:spPr>
        <p:txBody>
          <a:bodyPr/>
          <a:lstStyle/>
          <a:p>
            <a:endParaRPr/>
          </a:p>
        </p:txBody>
      </p:sp>
      <p:sp>
        <p:nvSpPr>
          <p:cNvPr id="19" name="Text 16"/>
          <p:cNvSpPr/>
          <p:nvPr/>
        </p:nvSpPr>
        <p:spPr>
          <a:xfrm>
            <a:off x="850392" y="4782312"/>
            <a:ext cx="10469880" cy="228600"/>
          </a:xfrm>
          <a:prstGeom prst="rect">
            <a:avLst/>
          </a:prstGeom>
          <a:noFill/>
          <a:ln/>
        </p:spPr>
        <p:txBody>
          <a:bodyPr wrap="square" lIns="0" tIns="0" rIns="0" bIns="0" rtlCol="0" anchor="ctr">
            <a:normAutofit/>
          </a:bodyPr>
          <a:lstStyle/>
          <a:p>
            <a:pPr marL="0" indent="0" algn="l">
              <a:buNone/>
            </a:pPr>
            <a:r>
              <a:rPr lang="en-US" sz="1100" b="1" dirty="0">
                <a:solidFill>
                  <a:srgbClr val="F4F7FA"/>
                </a:solidFill>
                <a:latin typeface="Aptos" pitchFamily="34" charset="0"/>
                <a:ea typeface="Aptos" pitchFamily="34" charset="-122"/>
                <a:cs typeface="Aptos" pitchFamily="34" charset="-120"/>
              </a:rPr>
              <a:t>VALIDATION REQUIRED</a:t>
            </a:r>
            <a:endParaRPr lang="en-US" sz="1100" dirty="0"/>
          </a:p>
        </p:txBody>
      </p:sp>
      <p:sp>
        <p:nvSpPr>
          <p:cNvPr id="20" name="Text 17"/>
          <p:cNvSpPr/>
          <p:nvPr/>
        </p:nvSpPr>
        <p:spPr>
          <a:xfrm>
            <a:off x="850392" y="5102352"/>
            <a:ext cx="10469880" cy="384048"/>
          </a:xfrm>
          <a:prstGeom prst="rect">
            <a:avLst/>
          </a:prstGeom>
          <a:noFill/>
          <a:ln/>
        </p:spPr>
        <p:txBody>
          <a:bodyPr wrap="square" lIns="0" tIns="0" rIns="0" bIns="0" rtlCol="0" anchor="t">
            <a:normAutofit/>
          </a:bodyPr>
          <a:lstStyle/>
          <a:p>
            <a:pPr marL="0" indent="0" algn="l">
              <a:buNone/>
            </a:pPr>
            <a:r>
              <a:rPr lang="en-US" sz="950" dirty="0">
                <a:solidFill>
                  <a:srgbClr val="D8E1E8"/>
                </a:solidFill>
                <a:latin typeface="Aptos" pitchFamily="34" charset="0"/>
                <a:ea typeface="Aptos" pitchFamily="34" charset="-122"/>
                <a:cs typeface="Aptos" pitchFamily="34" charset="-120"/>
              </a:rPr>
              <a:t>Paid willingness-to-pay, investigation-time reduction, accuracy, TCO, data movement, outage behavior and deployment repeatability.</a:t>
            </a:r>
            <a:endParaRPr lang="en-US" sz="950" dirty="0"/>
          </a:p>
        </p:txBody>
      </p:sp>
      <p:sp>
        <p:nvSpPr>
          <p:cNvPr id="21" name="Text 18"/>
          <p:cNvSpPr/>
          <p:nvPr/>
        </p:nvSpPr>
        <p:spPr>
          <a:xfrm>
            <a:off x="713232" y="5897880"/>
            <a:ext cx="10607040" cy="256032"/>
          </a:xfrm>
          <a:prstGeom prst="rect">
            <a:avLst/>
          </a:prstGeom>
          <a:noFill/>
          <a:ln/>
        </p:spPr>
        <p:txBody>
          <a:bodyPr wrap="square" lIns="0" tIns="0" rIns="0" bIns="0" rtlCol="0" anchor="ctr">
            <a:normAutofit/>
          </a:bodyPr>
          <a:lstStyle/>
          <a:p>
            <a:pPr marL="0" indent="0" algn="l">
              <a:buNone/>
            </a:pPr>
            <a:r>
              <a:rPr lang="en-US" sz="800" dirty="0">
                <a:solidFill>
                  <a:srgbClr val="8FA2B3"/>
                </a:solidFill>
                <a:latin typeface="Aptos" pitchFamily="34" charset="0"/>
                <a:ea typeface="Aptos" pitchFamily="34" charset="-122"/>
                <a:cs typeface="Aptos" pitchFamily="34" charset="-120"/>
              </a:rPr>
              <a:t>Key public market sources: Grand View Research, Manufacturing Analytics Market (Aug 2026); Fortune Business Insights, AI in Manufacturing Market (Aug 2026).</a:t>
            </a:r>
            <a:endParaRPr lang="en-US" sz="800" dirty="0"/>
          </a:p>
        </p:txBody>
      </p:sp>
      <p:sp>
        <p:nvSpPr>
          <p:cNvPr id="25" name="Slide Number Placeholder 0"/>
          <p:cNvSpPr>
            <a:spLocks noGrp="1"/>
          </p:cNvSpPr>
          <p:nvPr>
            <p:ph type="sldNum" sz="quarter" idx="4294967295"/>
          </p:nvPr>
        </p:nvSpPr>
        <p:spPr>
          <a:xfrm>
            <a:off x="11814048" y="651052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6E8194"/>
                </a:solidFill>
              </a:defRPr>
            </a:lvl1pPr>
          </a:lstStyle>
          <a:p>
            <a:pPr algn="l"/>
            <a:fld id="{F7021451-1387-4CA6-816F-3879F97B5CBC}" type="slidenum">
              <a:rPr lang="en-US" b="0"/>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7810</Words>
  <Application>Microsoft Macintosh PowerPoint</Application>
  <PresentationFormat>Widescreen</PresentationFormat>
  <Paragraphs>804</Paragraphs>
  <Slides>32</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Manufacturing Intelligence - Investor Deck</dc:title>
  <dc:subject>DMI Investor Deck</dc:subject>
  <dc:creator>OpenAI</dc:creator>
  <cp:lastModifiedBy>Mark Davidson</cp:lastModifiedBy>
  <cp:revision>7</cp:revision>
  <dcterms:created xsi:type="dcterms:W3CDTF">2026-09-22T21:53:29Z</dcterms:created>
  <dcterms:modified xsi:type="dcterms:W3CDTF">2026-10-14T19:10:37Z</dcterms:modified>
</cp:coreProperties>
</file>